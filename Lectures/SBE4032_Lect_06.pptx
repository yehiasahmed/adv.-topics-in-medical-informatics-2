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mp" ContentType="image/p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20" r:id="rId2"/>
  </p:sldMasterIdLst>
  <p:notesMasterIdLst>
    <p:notesMasterId r:id="rId40"/>
  </p:notesMasterIdLst>
  <p:sldIdLst>
    <p:sldId id="287" r:id="rId3"/>
    <p:sldId id="841" r:id="rId4"/>
    <p:sldId id="842" r:id="rId5"/>
    <p:sldId id="843" r:id="rId6"/>
    <p:sldId id="336" r:id="rId7"/>
    <p:sldId id="337" r:id="rId8"/>
    <p:sldId id="338" r:id="rId9"/>
    <p:sldId id="339" r:id="rId10"/>
    <p:sldId id="340" r:id="rId11"/>
    <p:sldId id="364" r:id="rId12"/>
    <p:sldId id="365" r:id="rId13"/>
    <p:sldId id="372" r:id="rId14"/>
    <p:sldId id="373" r:id="rId15"/>
    <p:sldId id="366" r:id="rId16"/>
    <p:sldId id="376" r:id="rId17"/>
    <p:sldId id="377" r:id="rId18"/>
    <p:sldId id="367" r:id="rId19"/>
    <p:sldId id="380" r:id="rId20"/>
    <p:sldId id="368" r:id="rId21"/>
    <p:sldId id="369" r:id="rId22"/>
    <p:sldId id="360" r:id="rId23"/>
    <p:sldId id="361" r:id="rId24"/>
    <p:sldId id="399" r:id="rId25"/>
    <p:sldId id="267" r:id="rId26"/>
    <p:sldId id="400" r:id="rId27"/>
    <p:sldId id="408" r:id="rId28"/>
    <p:sldId id="295" r:id="rId29"/>
    <p:sldId id="401" r:id="rId30"/>
    <p:sldId id="269" r:id="rId31"/>
    <p:sldId id="402" r:id="rId32"/>
    <p:sldId id="301" r:id="rId33"/>
    <p:sldId id="322" r:id="rId34"/>
    <p:sldId id="323" r:id="rId35"/>
    <p:sldId id="344" r:id="rId36"/>
    <p:sldId id="844" r:id="rId37"/>
    <p:sldId id="342" r:id="rId38"/>
    <p:sldId id="343" r:id="rId39"/>
  </p:sldIdLst>
  <p:sldSz cx="12252325" cy="6858000"/>
  <p:notesSz cx="6858000" cy="9144000"/>
  <p:defaultTextStyle>
    <a:defPPr>
      <a:defRPr lang="en-US"/>
    </a:defPPr>
    <a:lvl1pPr marL="0" algn="l" defTabSz="550377" rtl="0" eaLnBrk="1" latinLnBrk="0" hangingPunct="1">
      <a:defRPr sz="2167" kern="1200">
        <a:solidFill>
          <a:schemeClr val="tx1"/>
        </a:solidFill>
        <a:latin typeface="+mn-lt"/>
        <a:ea typeface="+mn-ea"/>
        <a:cs typeface="+mn-cs"/>
      </a:defRPr>
    </a:lvl1pPr>
    <a:lvl2pPr marL="550377" algn="l" defTabSz="550377" rtl="0" eaLnBrk="1" latinLnBrk="0" hangingPunct="1">
      <a:defRPr sz="2167" kern="1200">
        <a:solidFill>
          <a:schemeClr val="tx1"/>
        </a:solidFill>
        <a:latin typeface="+mn-lt"/>
        <a:ea typeface="+mn-ea"/>
        <a:cs typeface="+mn-cs"/>
      </a:defRPr>
    </a:lvl2pPr>
    <a:lvl3pPr marL="1100755" algn="l" defTabSz="550377" rtl="0" eaLnBrk="1" latinLnBrk="0" hangingPunct="1">
      <a:defRPr sz="2167" kern="1200">
        <a:solidFill>
          <a:schemeClr val="tx1"/>
        </a:solidFill>
        <a:latin typeface="+mn-lt"/>
        <a:ea typeface="+mn-ea"/>
        <a:cs typeface="+mn-cs"/>
      </a:defRPr>
    </a:lvl3pPr>
    <a:lvl4pPr marL="1651132" algn="l" defTabSz="550377" rtl="0" eaLnBrk="1" latinLnBrk="0" hangingPunct="1">
      <a:defRPr sz="2167" kern="1200">
        <a:solidFill>
          <a:schemeClr val="tx1"/>
        </a:solidFill>
        <a:latin typeface="+mn-lt"/>
        <a:ea typeface="+mn-ea"/>
        <a:cs typeface="+mn-cs"/>
      </a:defRPr>
    </a:lvl4pPr>
    <a:lvl5pPr marL="2201509" algn="l" defTabSz="550377" rtl="0" eaLnBrk="1" latinLnBrk="0" hangingPunct="1">
      <a:defRPr sz="2167" kern="1200">
        <a:solidFill>
          <a:schemeClr val="tx1"/>
        </a:solidFill>
        <a:latin typeface="+mn-lt"/>
        <a:ea typeface="+mn-ea"/>
        <a:cs typeface="+mn-cs"/>
      </a:defRPr>
    </a:lvl5pPr>
    <a:lvl6pPr marL="2751887" algn="l" defTabSz="550377" rtl="0" eaLnBrk="1" latinLnBrk="0" hangingPunct="1">
      <a:defRPr sz="2167" kern="1200">
        <a:solidFill>
          <a:schemeClr val="tx1"/>
        </a:solidFill>
        <a:latin typeface="+mn-lt"/>
        <a:ea typeface="+mn-ea"/>
        <a:cs typeface="+mn-cs"/>
      </a:defRPr>
    </a:lvl6pPr>
    <a:lvl7pPr marL="3302264" algn="l" defTabSz="550377" rtl="0" eaLnBrk="1" latinLnBrk="0" hangingPunct="1">
      <a:defRPr sz="2167" kern="1200">
        <a:solidFill>
          <a:schemeClr val="tx1"/>
        </a:solidFill>
        <a:latin typeface="+mn-lt"/>
        <a:ea typeface="+mn-ea"/>
        <a:cs typeface="+mn-cs"/>
      </a:defRPr>
    </a:lvl7pPr>
    <a:lvl8pPr marL="3852642" algn="l" defTabSz="550377" rtl="0" eaLnBrk="1" latinLnBrk="0" hangingPunct="1">
      <a:defRPr sz="2167" kern="1200">
        <a:solidFill>
          <a:schemeClr val="tx1"/>
        </a:solidFill>
        <a:latin typeface="+mn-lt"/>
        <a:ea typeface="+mn-ea"/>
        <a:cs typeface="+mn-cs"/>
      </a:defRPr>
    </a:lvl8pPr>
    <a:lvl9pPr marL="4403019" algn="l" defTabSz="550377" rtl="0" eaLnBrk="1" latinLnBrk="0" hangingPunct="1">
      <a:defRPr sz="216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Soliman" initials="AS" lastIdx="1" clrIdx="0">
    <p:extLst>
      <p:ext uri="{19B8F6BF-5375-455C-9EA6-DF929625EA0E}">
        <p15:presenceInfo xmlns:p15="http://schemas.microsoft.com/office/powerpoint/2012/main" userId="09d38502260558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99819"/>
    <a:srgbClr val="234CF9"/>
    <a:srgbClr val="836301"/>
    <a:srgbClr val="00B050"/>
    <a:srgbClr val="ED7D31"/>
    <a:srgbClr val="5CFFBD"/>
    <a:srgbClr val="FBF813"/>
    <a:srgbClr val="FA5522"/>
    <a:srgbClr val="0380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5" autoAdjust="0"/>
    <p:restoredTop sz="81754" autoAdjust="0"/>
  </p:normalViewPr>
  <p:slideViewPr>
    <p:cSldViewPr snapToGrid="0">
      <p:cViewPr varScale="1">
        <p:scale>
          <a:sx n="93" d="100"/>
          <a:sy n="93" d="100"/>
        </p:scale>
        <p:origin x="1458" y="84"/>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72B91-F445-4E8B-8870-C6FC9857173E}" type="datetimeFigureOut">
              <a:rPr lang="en-US" smtClean="0"/>
              <a:t>3/4/2024</a:t>
            </a:fld>
            <a:endParaRPr lang="en-US"/>
          </a:p>
        </p:txBody>
      </p:sp>
      <p:sp>
        <p:nvSpPr>
          <p:cNvPr id="4" name="Slide Image Placeholder 3"/>
          <p:cNvSpPr>
            <a:spLocks noGrp="1" noRot="1" noChangeAspect="1"/>
          </p:cNvSpPr>
          <p:nvPr>
            <p:ph type="sldImg" idx="2"/>
          </p:nvPr>
        </p:nvSpPr>
        <p:spPr>
          <a:xfrm>
            <a:off x="673100" y="1143000"/>
            <a:ext cx="5511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E86F3-7DB4-448E-A420-6F309595FB5E}" type="slidenum">
              <a:rPr lang="en-US" smtClean="0"/>
              <a:t>‹#›</a:t>
            </a:fld>
            <a:endParaRPr lang="en-US"/>
          </a:p>
        </p:txBody>
      </p:sp>
    </p:spTree>
    <p:extLst>
      <p:ext uri="{BB962C8B-B14F-4D97-AF65-F5344CB8AC3E}">
        <p14:creationId xmlns:p14="http://schemas.microsoft.com/office/powerpoint/2010/main" val="4131762279"/>
      </p:ext>
    </p:extLst>
  </p:cSld>
  <p:clrMap bg1="lt1" tx1="dk1" bg2="lt2" tx2="dk2" accent1="accent1" accent2="accent2" accent3="accent3" accent4="accent4" accent5="accent5" accent6="accent6" hlink="hlink" folHlink="folHlink"/>
  <p:notesStyle>
    <a:lvl1pPr marL="0" algn="l" defTabSz="858589" rtl="0" eaLnBrk="1" latinLnBrk="0" hangingPunct="1">
      <a:defRPr sz="1127" kern="1200">
        <a:solidFill>
          <a:schemeClr val="tx1"/>
        </a:solidFill>
        <a:latin typeface="+mn-lt"/>
        <a:ea typeface="+mn-ea"/>
        <a:cs typeface="+mn-cs"/>
      </a:defRPr>
    </a:lvl1pPr>
    <a:lvl2pPr marL="429294" algn="l" defTabSz="858589" rtl="0" eaLnBrk="1" latinLnBrk="0" hangingPunct="1">
      <a:defRPr sz="1127" kern="1200">
        <a:solidFill>
          <a:schemeClr val="tx1"/>
        </a:solidFill>
        <a:latin typeface="+mn-lt"/>
        <a:ea typeface="+mn-ea"/>
        <a:cs typeface="+mn-cs"/>
      </a:defRPr>
    </a:lvl2pPr>
    <a:lvl3pPr marL="858589" algn="l" defTabSz="858589" rtl="0" eaLnBrk="1" latinLnBrk="0" hangingPunct="1">
      <a:defRPr sz="1127" kern="1200">
        <a:solidFill>
          <a:schemeClr val="tx1"/>
        </a:solidFill>
        <a:latin typeface="+mn-lt"/>
        <a:ea typeface="+mn-ea"/>
        <a:cs typeface="+mn-cs"/>
      </a:defRPr>
    </a:lvl3pPr>
    <a:lvl4pPr marL="1287883" algn="l" defTabSz="858589" rtl="0" eaLnBrk="1" latinLnBrk="0" hangingPunct="1">
      <a:defRPr sz="1127" kern="1200">
        <a:solidFill>
          <a:schemeClr val="tx1"/>
        </a:solidFill>
        <a:latin typeface="+mn-lt"/>
        <a:ea typeface="+mn-ea"/>
        <a:cs typeface="+mn-cs"/>
      </a:defRPr>
    </a:lvl4pPr>
    <a:lvl5pPr marL="1717177" algn="l" defTabSz="858589" rtl="0" eaLnBrk="1" latinLnBrk="0" hangingPunct="1">
      <a:defRPr sz="1127" kern="1200">
        <a:solidFill>
          <a:schemeClr val="tx1"/>
        </a:solidFill>
        <a:latin typeface="+mn-lt"/>
        <a:ea typeface="+mn-ea"/>
        <a:cs typeface="+mn-cs"/>
      </a:defRPr>
    </a:lvl5pPr>
    <a:lvl6pPr marL="2146472" algn="l" defTabSz="858589" rtl="0" eaLnBrk="1" latinLnBrk="0" hangingPunct="1">
      <a:defRPr sz="1127" kern="1200">
        <a:solidFill>
          <a:schemeClr val="tx1"/>
        </a:solidFill>
        <a:latin typeface="+mn-lt"/>
        <a:ea typeface="+mn-ea"/>
        <a:cs typeface="+mn-cs"/>
      </a:defRPr>
    </a:lvl6pPr>
    <a:lvl7pPr marL="2575766" algn="l" defTabSz="858589" rtl="0" eaLnBrk="1" latinLnBrk="0" hangingPunct="1">
      <a:defRPr sz="1127" kern="1200">
        <a:solidFill>
          <a:schemeClr val="tx1"/>
        </a:solidFill>
        <a:latin typeface="+mn-lt"/>
        <a:ea typeface="+mn-ea"/>
        <a:cs typeface="+mn-cs"/>
      </a:defRPr>
    </a:lvl7pPr>
    <a:lvl8pPr marL="3005060" algn="l" defTabSz="858589" rtl="0" eaLnBrk="1" latinLnBrk="0" hangingPunct="1">
      <a:defRPr sz="1127" kern="1200">
        <a:solidFill>
          <a:schemeClr val="tx1"/>
        </a:solidFill>
        <a:latin typeface="+mn-lt"/>
        <a:ea typeface="+mn-ea"/>
        <a:cs typeface="+mn-cs"/>
      </a:defRPr>
    </a:lvl8pPr>
    <a:lvl9pPr marL="3434355" algn="l" defTabSz="858589" rtl="0" eaLnBrk="1" latinLnBrk="0" hangingPunct="1">
      <a:defRPr sz="112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B76D3F5-AA24-487B-7538-7A9EB79EEAC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AB2136F-B823-4F50-9F08-79874892440D}" type="slidenum">
              <a:rPr lang="en-US" altLang="en-US"/>
              <a:pPr/>
              <a:t>5</a:t>
            </a:fld>
            <a:endParaRPr lang="en-US" altLang="en-US"/>
          </a:p>
        </p:txBody>
      </p:sp>
      <p:sp>
        <p:nvSpPr>
          <p:cNvPr id="39939" name="Rectangle 2">
            <a:extLst>
              <a:ext uri="{FF2B5EF4-FFF2-40B4-BE49-F238E27FC236}">
                <a16:creationId xmlns:a16="http://schemas.microsoft.com/office/drawing/2014/main" id="{4278D131-812E-63E4-DACB-067417B0091A}"/>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a:extLst>
              <a:ext uri="{FF2B5EF4-FFF2-40B4-BE49-F238E27FC236}">
                <a16:creationId xmlns:a16="http://schemas.microsoft.com/office/drawing/2014/main" id="{62022937-1D3F-D431-CA5D-5169103420AB}"/>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F298D0-69AF-0AC1-9A09-F55B786B89D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919C544-E931-476C-85D2-8F9C113EC930}" type="slidenum">
              <a:rPr lang="en-US" altLang="en-US"/>
              <a:pPr/>
              <a:t>6</a:t>
            </a:fld>
            <a:endParaRPr lang="en-US" altLang="en-US"/>
          </a:p>
        </p:txBody>
      </p:sp>
      <p:sp>
        <p:nvSpPr>
          <p:cNvPr id="40963" name="Rectangle 2">
            <a:extLst>
              <a:ext uri="{FF2B5EF4-FFF2-40B4-BE49-F238E27FC236}">
                <a16:creationId xmlns:a16="http://schemas.microsoft.com/office/drawing/2014/main" id="{C6F51D7F-87E7-45E5-8893-F7BBB8A77361}"/>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a:extLst>
              <a:ext uri="{FF2B5EF4-FFF2-40B4-BE49-F238E27FC236}">
                <a16:creationId xmlns:a16="http://schemas.microsoft.com/office/drawing/2014/main" id="{BF8C507D-4347-2A15-E180-A1D06EE6700F}"/>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E5561939-FAE6-7170-C143-45362C01B45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3BD8B60-61BD-4D3C-96D1-41002FA755BB}" type="slidenum">
              <a:rPr lang="en-US" altLang="en-US"/>
              <a:pPr/>
              <a:t>7</a:t>
            </a:fld>
            <a:endParaRPr lang="en-US" altLang="en-US"/>
          </a:p>
        </p:txBody>
      </p:sp>
      <p:sp>
        <p:nvSpPr>
          <p:cNvPr id="41987" name="Rectangle 2">
            <a:extLst>
              <a:ext uri="{FF2B5EF4-FFF2-40B4-BE49-F238E27FC236}">
                <a16:creationId xmlns:a16="http://schemas.microsoft.com/office/drawing/2014/main" id="{1303F1C8-608D-E53C-7174-9444E89EFBDA}"/>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a:extLst>
              <a:ext uri="{FF2B5EF4-FFF2-40B4-BE49-F238E27FC236}">
                <a16:creationId xmlns:a16="http://schemas.microsoft.com/office/drawing/2014/main" id="{1B22935C-4EA7-1C7F-7B8F-4185519E2787}"/>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3F7570A-DFF2-4792-4135-08378A00219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200388C-DC6D-48D0-B2CE-02822EBF6D36}" type="slidenum">
              <a:rPr lang="en-US" altLang="en-US"/>
              <a:pPr/>
              <a:t>8</a:t>
            </a:fld>
            <a:endParaRPr lang="en-US" altLang="en-US"/>
          </a:p>
        </p:txBody>
      </p:sp>
      <p:sp>
        <p:nvSpPr>
          <p:cNvPr id="43011" name="Rectangle 2">
            <a:extLst>
              <a:ext uri="{FF2B5EF4-FFF2-40B4-BE49-F238E27FC236}">
                <a16:creationId xmlns:a16="http://schemas.microsoft.com/office/drawing/2014/main" id="{2DB8DDD4-9126-D7B0-4013-25A3866CD5D0}"/>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a:extLst>
              <a:ext uri="{FF2B5EF4-FFF2-40B4-BE49-F238E27FC236}">
                <a16:creationId xmlns:a16="http://schemas.microsoft.com/office/drawing/2014/main" id="{ED652BDB-3C8C-FDDD-7687-1692B39538BB}"/>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06BE8BD-68D3-3BB0-FC02-A5FADDE5BE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AAF947E-DDFE-412B-8D9C-E1C5276724F0}" type="slidenum">
              <a:rPr lang="en-US" altLang="en-US"/>
              <a:pPr/>
              <a:t>9</a:t>
            </a:fld>
            <a:endParaRPr lang="en-US" altLang="en-US"/>
          </a:p>
        </p:txBody>
      </p:sp>
      <p:sp>
        <p:nvSpPr>
          <p:cNvPr id="44035" name="Rectangle 2">
            <a:extLst>
              <a:ext uri="{FF2B5EF4-FFF2-40B4-BE49-F238E27FC236}">
                <a16:creationId xmlns:a16="http://schemas.microsoft.com/office/drawing/2014/main" id="{669FB5B4-21C2-6BFF-B7F0-F8417AA01A50}"/>
              </a:ext>
            </a:extLst>
          </p:cNvPr>
          <p:cNvSpPr>
            <a:spLocks noGrp="1" noRot="1" noChangeAspect="1" noChangeArrowheads="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a:extLst>
              <a:ext uri="{FF2B5EF4-FFF2-40B4-BE49-F238E27FC236}">
                <a16:creationId xmlns:a16="http://schemas.microsoft.com/office/drawing/2014/main" id="{65A0AB6D-1D96-1AA9-EADA-492436549097}"/>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42638D77-A30F-653A-89E3-6B59255715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7DFC8B6-77D0-49B4-8921-64CA3F354845}" type="slidenum">
              <a:rPr lang="en-US" altLang="en-US"/>
              <a:pPr/>
              <a:t>12</a:t>
            </a:fld>
            <a:endParaRPr lang="en-US" altLang="en-US"/>
          </a:p>
        </p:txBody>
      </p:sp>
      <p:sp>
        <p:nvSpPr>
          <p:cNvPr id="50179" name="Rectangle 2">
            <a:extLst>
              <a:ext uri="{FF2B5EF4-FFF2-40B4-BE49-F238E27FC236}">
                <a16:creationId xmlns:a16="http://schemas.microsoft.com/office/drawing/2014/main" id="{9A933E6D-3083-8B66-6C5E-2386DC03A74E}"/>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a:extLst>
              <a:ext uri="{FF2B5EF4-FFF2-40B4-BE49-F238E27FC236}">
                <a16:creationId xmlns:a16="http://schemas.microsoft.com/office/drawing/2014/main" id="{ECC47AEE-3381-E301-AD3C-F29BA0ADE489}"/>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43B4080-F461-0092-0CAB-2F7D5470AC4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7E20217-8CF0-48D9-9637-CB40F9AC982C}" type="slidenum">
              <a:rPr lang="en-US" altLang="en-US"/>
              <a:pPr/>
              <a:t>13</a:t>
            </a:fld>
            <a:endParaRPr lang="en-US" altLang="en-US"/>
          </a:p>
        </p:txBody>
      </p:sp>
      <p:sp>
        <p:nvSpPr>
          <p:cNvPr id="51203" name="Rectangle 2">
            <a:extLst>
              <a:ext uri="{FF2B5EF4-FFF2-40B4-BE49-F238E27FC236}">
                <a16:creationId xmlns:a16="http://schemas.microsoft.com/office/drawing/2014/main" id="{1ABB9FFE-9DD9-A9BC-64B8-1135792B4251}"/>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a:extLst>
              <a:ext uri="{FF2B5EF4-FFF2-40B4-BE49-F238E27FC236}">
                <a16:creationId xmlns:a16="http://schemas.microsoft.com/office/drawing/2014/main" id="{B795A96D-6864-89CD-E3D3-6628C572839D}"/>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C93EFE0-06AF-7701-822B-D6E7C118CA3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0FA4FB8-F836-40A7-9C44-E79F472B3A98}" type="slidenum">
              <a:rPr lang="en-US" altLang="en-US"/>
              <a:pPr/>
              <a:t>15</a:t>
            </a:fld>
            <a:endParaRPr lang="en-US" altLang="en-US"/>
          </a:p>
        </p:txBody>
      </p:sp>
      <p:sp>
        <p:nvSpPr>
          <p:cNvPr id="54275" name="Rectangle 2">
            <a:extLst>
              <a:ext uri="{FF2B5EF4-FFF2-40B4-BE49-F238E27FC236}">
                <a16:creationId xmlns:a16="http://schemas.microsoft.com/office/drawing/2014/main" id="{63C96512-EC74-1E43-D960-9F7B80E2A983}"/>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a:extLst>
              <a:ext uri="{FF2B5EF4-FFF2-40B4-BE49-F238E27FC236}">
                <a16:creationId xmlns:a16="http://schemas.microsoft.com/office/drawing/2014/main" id="{0D31F48E-939A-3D03-F01D-EAB255D95047}"/>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DBBC352-E535-4719-9916-1DECF60312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683C784-C5EA-4F1C-8258-26A9784F7AA9}" type="slidenum">
              <a:rPr lang="en-US" altLang="en-US"/>
              <a:pPr/>
              <a:t>16</a:t>
            </a:fld>
            <a:endParaRPr lang="en-US" altLang="en-US"/>
          </a:p>
        </p:txBody>
      </p:sp>
      <p:sp>
        <p:nvSpPr>
          <p:cNvPr id="55299" name="Rectangle 2">
            <a:extLst>
              <a:ext uri="{FF2B5EF4-FFF2-40B4-BE49-F238E27FC236}">
                <a16:creationId xmlns:a16="http://schemas.microsoft.com/office/drawing/2014/main" id="{ADCBFD37-581B-8462-22E5-EFB856B197F3}"/>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a:extLst>
              <a:ext uri="{FF2B5EF4-FFF2-40B4-BE49-F238E27FC236}">
                <a16:creationId xmlns:a16="http://schemas.microsoft.com/office/drawing/2014/main" id="{3DE2D14B-D1EE-9228-1C91-7D54079B876F}"/>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B4DCEFA2-DFD9-E759-5552-363F5B22007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8D752C1-DFC1-4CA5-B59F-B740E9D8522A}" type="slidenum">
              <a:rPr lang="en-US" altLang="en-US"/>
              <a:pPr/>
              <a:t>18</a:t>
            </a:fld>
            <a:endParaRPr lang="en-US" altLang="en-US"/>
          </a:p>
        </p:txBody>
      </p:sp>
      <p:sp>
        <p:nvSpPr>
          <p:cNvPr id="58371" name="Rectangle 2">
            <a:extLst>
              <a:ext uri="{FF2B5EF4-FFF2-40B4-BE49-F238E27FC236}">
                <a16:creationId xmlns:a16="http://schemas.microsoft.com/office/drawing/2014/main" id="{7C12DE07-B651-7187-7E7A-B768676963BF}"/>
              </a:ext>
            </a:extLst>
          </p:cNvPr>
          <p:cNvSpPr>
            <a:spLocks noGrp="1" noRot="1" noChangeAspect="1" noChangeArrowheads="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a:extLst>
              <a:ext uri="{FF2B5EF4-FFF2-40B4-BE49-F238E27FC236}">
                <a16:creationId xmlns:a16="http://schemas.microsoft.com/office/drawing/2014/main" id="{4F4038E0-C1C3-4707-744C-C4C4674BFB0E}"/>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0ECD879-A83D-5DE4-2BF4-9872A34288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00F5526-6231-4E45-A9BE-E538ECDF0506}" type="slidenum">
              <a:rPr lang="en-US" altLang="en-US"/>
              <a:pPr/>
              <a:t>21</a:t>
            </a:fld>
            <a:endParaRPr lang="en-US" altLang="en-US"/>
          </a:p>
        </p:txBody>
      </p:sp>
      <p:sp>
        <p:nvSpPr>
          <p:cNvPr id="59395" name="Rectangle 2">
            <a:extLst>
              <a:ext uri="{FF2B5EF4-FFF2-40B4-BE49-F238E27FC236}">
                <a16:creationId xmlns:a16="http://schemas.microsoft.com/office/drawing/2014/main" id="{A54EF4E5-47E2-1699-0ACF-83CF6E880A81}"/>
              </a:ext>
            </a:extLst>
          </p:cNvPr>
          <p:cNvSpPr>
            <a:spLocks noGrp="1" noRot="1" noChangeAspect="1" noChangeArrowheads="1" noTextEdit="1"/>
          </p:cNvSpPr>
          <p:nvPr>
            <p:ph type="sldImg"/>
          </p:nvPr>
        </p:nvSpPr>
        <p:spPr bwMode="auto">
          <a:xfrm>
            <a:off x="395288" y="693738"/>
            <a:ext cx="607060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a:extLst>
              <a:ext uri="{FF2B5EF4-FFF2-40B4-BE49-F238E27FC236}">
                <a16:creationId xmlns:a16="http://schemas.microsoft.com/office/drawing/2014/main" id="{6F5F76E9-BB19-8989-24DC-A72677ACF086}"/>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2561DA3-D554-3210-2109-B74B168C6A2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C4C8094-7B8A-4FFF-B689-61F2986D7332}" type="slidenum">
              <a:rPr lang="en-US" altLang="en-US"/>
              <a:pPr/>
              <a:t>22</a:t>
            </a:fld>
            <a:endParaRPr lang="en-US" altLang="en-US"/>
          </a:p>
        </p:txBody>
      </p:sp>
      <p:sp>
        <p:nvSpPr>
          <p:cNvPr id="60419" name="Rectangle 2">
            <a:extLst>
              <a:ext uri="{FF2B5EF4-FFF2-40B4-BE49-F238E27FC236}">
                <a16:creationId xmlns:a16="http://schemas.microsoft.com/office/drawing/2014/main" id="{B0A13818-1C56-D6B8-3E01-D976E1A7986F}"/>
              </a:ext>
            </a:extLst>
          </p:cNvPr>
          <p:cNvSpPr>
            <a:spLocks noGrp="1" noRot="1" noChangeAspect="1" noChangeArrowheads="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a:extLst>
              <a:ext uri="{FF2B5EF4-FFF2-40B4-BE49-F238E27FC236}">
                <a16:creationId xmlns:a16="http://schemas.microsoft.com/office/drawing/2014/main" id="{F4583A2A-79CE-C0E7-F9EC-F1598AD67B6F}"/>
              </a:ext>
            </a:extLst>
          </p:cNvPr>
          <p:cNvSpPr>
            <a:spLocks noGrp="1" noChangeArrowheads="1"/>
          </p:cNvSpPr>
          <p:nvPr>
            <p:ph type="body" idx="1"/>
          </p:nvPr>
        </p:nvSpPr>
        <p:spPr bwMode="auto">
          <a:xfrm>
            <a:off x="912813" y="4343400"/>
            <a:ext cx="5030787"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3613">
              <a:spcBef>
                <a:spcPct val="0"/>
              </a:spcBef>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E86F3-7DB4-448E-A420-6F309595FB5E}" type="slidenum">
              <a:rPr lang="en-US" smtClean="0"/>
              <a:t>23</a:t>
            </a:fld>
            <a:endParaRPr lang="en-US"/>
          </a:p>
        </p:txBody>
      </p:sp>
    </p:spTree>
    <p:extLst>
      <p:ext uri="{BB962C8B-B14F-4D97-AF65-F5344CB8AC3E}">
        <p14:creationId xmlns:p14="http://schemas.microsoft.com/office/powerpoint/2010/main" val="1719294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CE86F3-7DB4-448E-A420-6F309595FB5E}" type="slidenum">
              <a:rPr lang="en-US" smtClean="0"/>
              <a:t>24</a:t>
            </a:fld>
            <a:endParaRPr lang="en-US"/>
          </a:p>
        </p:txBody>
      </p:sp>
    </p:spTree>
    <p:extLst>
      <p:ext uri="{BB962C8B-B14F-4D97-AF65-F5344CB8AC3E}">
        <p14:creationId xmlns:p14="http://schemas.microsoft.com/office/powerpoint/2010/main" val="734353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CE86F3-7DB4-448E-A420-6F309595FB5E}" type="slidenum">
              <a:rPr lang="en-US" smtClean="0"/>
              <a:t>25</a:t>
            </a:fld>
            <a:endParaRPr lang="en-US"/>
          </a:p>
        </p:txBody>
      </p:sp>
    </p:spTree>
    <p:extLst>
      <p:ext uri="{BB962C8B-B14F-4D97-AF65-F5344CB8AC3E}">
        <p14:creationId xmlns:p14="http://schemas.microsoft.com/office/powerpoint/2010/main" val="1965419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E86F3-7DB4-448E-A420-6F309595FB5E}" type="slidenum">
              <a:rPr lang="en-US" smtClean="0"/>
              <a:t>31</a:t>
            </a:fld>
            <a:endParaRPr lang="en-US"/>
          </a:p>
        </p:txBody>
      </p:sp>
    </p:spTree>
    <p:extLst>
      <p:ext uri="{BB962C8B-B14F-4D97-AF65-F5344CB8AC3E}">
        <p14:creationId xmlns:p14="http://schemas.microsoft.com/office/powerpoint/2010/main" val="887283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E86F3-7DB4-448E-A420-6F309595FB5E}" type="slidenum">
              <a:rPr lang="en-US" smtClean="0"/>
              <a:t>32</a:t>
            </a:fld>
            <a:endParaRPr lang="en-US"/>
          </a:p>
        </p:txBody>
      </p:sp>
    </p:spTree>
    <p:extLst>
      <p:ext uri="{BB962C8B-B14F-4D97-AF65-F5344CB8AC3E}">
        <p14:creationId xmlns:p14="http://schemas.microsoft.com/office/powerpoint/2010/main" val="100101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31541" y="1122363"/>
            <a:ext cx="9189244"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31541" y="3602038"/>
            <a:ext cx="918924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E2C5C0-3EBD-4C67-94C9-062B6B455D56}"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3447694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E40CC-D23A-4816-9476-98C28A8FDEDE}"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419270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5966" y="1709739"/>
            <a:ext cx="1056763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5966" y="4589464"/>
            <a:ext cx="1056763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3FD6C3-F7D0-41B4-8C36-CA97B7FCECD7}"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932415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2347" y="1825625"/>
            <a:ext cx="5207238"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740" y="1825625"/>
            <a:ext cx="5207238"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735977-0102-4C43-8064-0C25DE267142}"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487085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3943" y="365126"/>
            <a:ext cx="1056763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3944" y="1681163"/>
            <a:ext cx="518330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3944" y="2505075"/>
            <a:ext cx="518330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2740" y="1681163"/>
            <a:ext cx="520883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2740" y="2505075"/>
            <a:ext cx="5208834"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1FE196-C092-400D-8274-F74585EF5922}" type="datetime1">
              <a:rPr lang="en-US" smtClean="0"/>
              <a:t>3/4/2024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84673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BF93BC-4A23-4FFB-BB39-D83C6B8EAA36}" type="datetime1">
              <a:rPr lang="en-US" smtClean="0"/>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58260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20C66D-2017-4B03-B646-CA6AEA5F9C11}" type="datetime1">
              <a:rPr lang="en-US" smtClean="0"/>
              <a:t>3/4/2024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9630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944" y="457200"/>
            <a:ext cx="395169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208834" y="987426"/>
            <a:ext cx="620274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3944" y="2057400"/>
            <a:ext cx="395169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56B16A-1B42-42CB-AB3F-C6902ACCB849}"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31307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944" y="457200"/>
            <a:ext cx="395169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08834" y="987426"/>
            <a:ext cx="620274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3944" y="2057400"/>
            <a:ext cx="395169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886494-1EFC-4577-9D10-09E186F95933}"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39173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4B9D85-ABD6-4BE2-9216-6393181C6C66}"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991773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8070" y="365125"/>
            <a:ext cx="2641908"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42347" y="365125"/>
            <a:ext cx="777256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95A086-221F-4611-94DC-7FD28555DD5A}"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179413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8925" y="2130426"/>
            <a:ext cx="10414476" cy="1470025"/>
          </a:xfrm>
        </p:spPr>
        <p:txBody>
          <a:bodyPr/>
          <a:lstStyle/>
          <a:p>
            <a:r>
              <a:rPr lang="en-US" dirty="0"/>
              <a:t>Click to edit Master title style</a:t>
            </a:r>
          </a:p>
        </p:txBody>
      </p:sp>
      <p:sp>
        <p:nvSpPr>
          <p:cNvPr id="3" name="Subtitle 2"/>
          <p:cNvSpPr>
            <a:spLocks noGrp="1"/>
          </p:cNvSpPr>
          <p:nvPr>
            <p:ph type="subTitle" idx="1"/>
          </p:nvPr>
        </p:nvSpPr>
        <p:spPr>
          <a:xfrm>
            <a:off x="1837849" y="3886200"/>
            <a:ext cx="857662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D8B8443C-72BE-CF4B-ACE7-DD445CD666F8}" type="datetime1">
              <a:rPr lang="en-US" smtClean="0"/>
              <a:t>3/4/2024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2081035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625033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7849" y="4406901"/>
            <a:ext cx="10414476"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7849" y="2906713"/>
            <a:ext cx="1041447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6461FB-6672-D449-BF26-4C1DC7D36F2F}"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1460484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2616" y="1600201"/>
            <a:ext cx="541144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28265" y="1600201"/>
            <a:ext cx="541144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A94419-EDFB-6F4E-A333-81B2AEE61551}"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F56997-4F5F-5A42-B306-795126905ACA}" type="slidenum">
              <a:rPr lang="en-US" smtClean="0"/>
              <a:pPr/>
              <a:t>‹#›</a:t>
            </a:fld>
            <a:endParaRPr lang="en-US"/>
          </a:p>
        </p:txBody>
      </p:sp>
      <p:sp>
        <p:nvSpPr>
          <p:cNvPr id="9"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a:lvl1pPr>
          </a:lstStyle>
          <a:p>
            <a:pPr lvl="0"/>
            <a:r>
              <a:rPr lang="en-US" dirty="0"/>
              <a:t>Click to add Section</a:t>
            </a:r>
          </a:p>
        </p:txBody>
      </p:sp>
    </p:spTree>
    <p:extLst>
      <p:ext uri="{BB962C8B-B14F-4D97-AF65-F5344CB8AC3E}">
        <p14:creationId xmlns:p14="http://schemas.microsoft.com/office/powerpoint/2010/main" val="4045929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2616" y="1535113"/>
            <a:ext cx="541357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12616" y="2174875"/>
            <a:ext cx="541357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24012" y="1535113"/>
            <a:ext cx="54156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24012" y="2174875"/>
            <a:ext cx="54156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CD2918-CC78-8D41-ABA1-1E8F61DC43D1}" type="datetime1">
              <a:rPr lang="en-US" smtClean="0"/>
              <a:t>3/4/2024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F56997-4F5F-5A42-B306-795126905ACA}" type="slidenum">
              <a:rPr lang="en-US" smtClean="0"/>
              <a:pPr/>
              <a:t>‹#›</a:t>
            </a:fld>
            <a:endParaRPr lang="en-US"/>
          </a:p>
        </p:txBody>
      </p:sp>
      <p:sp>
        <p:nvSpPr>
          <p:cNvPr id="11" name="Text Placeholder 9"/>
          <p:cNvSpPr>
            <a:spLocks noGrp="1"/>
          </p:cNvSpPr>
          <p:nvPr>
            <p:ph type="body" sz="quarter" idx="13" hasCustomPrompt="1"/>
          </p:nvPr>
        </p:nvSpPr>
        <p:spPr>
          <a:xfrm>
            <a:off x="612616" y="142875"/>
            <a:ext cx="3573595" cy="1143000"/>
          </a:xfrm>
        </p:spPr>
        <p:txBody>
          <a:bodyPr anchor="ctr" anchorCtr="0"/>
          <a:lstStyle>
            <a:lvl1pPr marL="0" marR="0" indent="0" algn="l" defTabSz="457200" rtl="0" eaLnBrk="1" fontAlgn="auto" latinLnBrk="0" hangingPunct="1">
              <a:lnSpc>
                <a:spcPct val="100000"/>
              </a:lnSpc>
              <a:spcBef>
                <a:spcPct val="20000"/>
              </a:spcBef>
              <a:spcAft>
                <a:spcPts val="0"/>
              </a:spcAft>
              <a:buClrTx/>
              <a:buSzTx/>
              <a:buFont typeface="Arial"/>
              <a:buNone/>
              <a:tabLs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add Section</a:t>
            </a:r>
          </a:p>
        </p:txBody>
      </p:sp>
    </p:spTree>
    <p:extLst>
      <p:ext uri="{BB962C8B-B14F-4D97-AF65-F5344CB8AC3E}">
        <p14:creationId xmlns:p14="http://schemas.microsoft.com/office/powerpoint/2010/main" val="2620031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1CD1D9-C084-EE47-BD8D-261BE031B149}" type="datetime1">
              <a:rPr lang="en-US" smtClean="0"/>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F56997-4F5F-5A42-B306-795126905ACA}" type="slidenum">
              <a:rPr lang="en-US" smtClean="0"/>
              <a:pPr/>
              <a:t>‹#›</a:t>
            </a:fld>
            <a:endParaRPr lang="en-US"/>
          </a:p>
        </p:txBody>
      </p:sp>
      <p:sp>
        <p:nvSpPr>
          <p:cNvPr id="7" name="Text Placeholder 9"/>
          <p:cNvSpPr>
            <a:spLocks noGrp="1"/>
          </p:cNvSpPr>
          <p:nvPr>
            <p:ph type="body" sz="quarter" idx="13" hasCustomPrompt="1"/>
          </p:nvPr>
        </p:nvSpPr>
        <p:spPr>
          <a:xfrm>
            <a:off x="612616" y="142875"/>
            <a:ext cx="3573595" cy="1143000"/>
          </a:xfrm>
        </p:spPr>
        <p:txBody>
          <a:bodyPr anchor="ctr" anchorCtr="0"/>
          <a:lstStyle>
            <a:lvl1pPr marL="0" marR="0" indent="0" algn="l" defTabSz="457200" rtl="0" eaLnBrk="1" fontAlgn="auto" latinLnBrk="0" hangingPunct="1">
              <a:lnSpc>
                <a:spcPct val="100000"/>
              </a:lnSpc>
              <a:spcBef>
                <a:spcPct val="20000"/>
              </a:spcBef>
              <a:spcAft>
                <a:spcPts val="0"/>
              </a:spcAft>
              <a:buClrTx/>
              <a:buSzTx/>
              <a:buFont typeface="Arial"/>
              <a:buNone/>
              <a:tabLs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add Section</a:t>
            </a:r>
          </a:p>
        </p:txBody>
      </p:sp>
    </p:spTree>
    <p:extLst>
      <p:ext uri="{BB962C8B-B14F-4D97-AF65-F5344CB8AC3E}">
        <p14:creationId xmlns:p14="http://schemas.microsoft.com/office/powerpoint/2010/main" val="17477042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82599B-CF4E-4745-A1C4-0A1EAD1AE797}" type="datetime1">
              <a:rPr lang="en-US" smtClean="0"/>
              <a:t>3/4/2024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3918687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617" y="273050"/>
            <a:ext cx="4030931"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90319" y="273051"/>
            <a:ext cx="684939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2617" y="1435101"/>
            <a:ext cx="403093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83415-B2F7-814D-AB88-C1D4F5212AB3}"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27505754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01541" y="4800600"/>
            <a:ext cx="73513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401541" y="612775"/>
            <a:ext cx="73513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401541" y="5367338"/>
            <a:ext cx="73513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5EB1A2-967F-EF46-A281-A64C8735F71A}"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17708699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577EFC-DC2A-4140-AA88-6404FE9C25AF}"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8" name="Text Placeholder 9"/>
          <p:cNvSpPr>
            <a:spLocks noGrp="1"/>
          </p:cNvSpPr>
          <p:nvPr>
            <p:ph type="body" sz="quarter" idx="13" hasCustomPrompt="1"/>
          </p:nvPr>
        </p:nvSpPr>
        <p:spPr>
          <a:xfrm>
            <a:off x="612616" y="142875"/>
            <a:ext cx="3573595" cy="1143000"/>
          </a:xfrm>
        </p:spPr>
        <p:txBody>
          <a:bodyPr anchor="ctr" anchorCtr="0"/>
          <a:lstStyle>
            <a:lvl1pPr marL="0" marR="0" indent="0" algn="l" defTabSz="457200" rtl="0" eaLnBrk="1" fontAlgn="auto" latinLnBrk="0" hangingPunct="1">
              <a:lnSpc>
                <a:spcPct val="100000"/>
              </a:lnSpc>
              <a:spcBef>
                <a:spcPct val="20000"/>
              </a:spcBef>
              <a:spcAft>
                <a:spcPts val="0"/>
              </a:spcAft>
              <a:buClrTx/>
              <a:buSzTx/>
              <a:buFont typeface="Arial"/>
              <a:buNone/>
              <a:tabLs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add Section</a:t>
            </a:r>
          </a:p>
        </p:txBody>
      </p:sp>
    </p:spTree>
    <p:extLst>
      <p:ext uri="{BB962C8B-B14F-4D97-AF65-F5344CB8AC3E}">
        <p14:creationId xmlns:p14="http://schemas.microsoft.com/office/powerpoint/2010/main" val="3586028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82936" y="274639"/>
            <a:ext cx="2756773"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12616" y="274639"/>
            <a:ext cx="806611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6E37D0-81EC-E749-AA69-D8326DE4460C}"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Tree>
    <p:extLst>
      <p:ext uri="{BB962C8B-B14F-4D97-AF65-F5344CB8AC3E}">
        <p14:creationId xmlns:p14="http://schemas.microsoft.com/office/powerpoint/2010/main" val="2522145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2616" y="1600201"/>
            <a:ext cx="541144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28265" y="1600201"/>
            <a:ext cx="541144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A94419-EDFB-6F4E-A333-81B2AEE61551}" type="datetime1">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F56997-4F5F-5A42-B306-795126905ACA}" type="slidenum">
              <a:rPr lang="en-US" smtClean="0"/>
              <a:pPr/>
              <a:t>‹#›</a:t>
            </a:fld>
            <a:endParaRPr lang="en-US"/>
          </a:p>
        </p:txBody>
      </p:sp>
      <p:sp>
        <p:nvSpPr>
          <p:cNvPr id="9"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a:lvl1pPr>
          </a:lstStyle>
          <a:p>
            <a:pPr lvl="0"/>
            <a:r>
              <a:rPr lang="en-US" dirty="0"/>
              <a:t>Click to add Section</a:t>
            </a:r>
          </a:p>
        </p:txBody>
      </p:sp>
    </p:spTree>
    <p:extLst>
      <p:ext uri="{BB962C8B-B14F-4D97-AF65-F5344CB8AC3E}">
        <p14:creationId xmlns:p14="http://schemas.microsoft.com/office/powerpoint/2010/main" val="12184310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1CD1D9-C084-EE47-BD8D-261BE031B149}" type="datetime1">
              <a:rPr lang="en-US" smtClean="0"/>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F56997-4F5F-5A42-B306-795126905ACA}" type="slidenum">
              <a:rPr lang="en-US" smtClean="0"/>
              <a:pPr/>
              <a:t>‹#›</a:t>
            </a:fld>
            <a:endParaRPr lang="en-US"/>
          </a:p>
        </p:txBody>
      </p:sp>
      <p:sp>
        <p:nvSpPr>
          <p:cNvPr id="7" name="Text Placeholder 9"/>
          <p:cNvSpPr>
            <a:spLocks noGrp="1"/>
          </p:cNvSpPr>
          <p:nvPr>
            <p:ph type="body" sz="quarter" idx="13" hasCustomPrompt="1"/>
          </p:nvPr>
        </p:nvSpPr>
        <p:spPr>
          <a:xfrm>
            <a:off x="612616" y="142875"/>
            <a:ext cx="3573595" cy="1143000"/>
          </a:xfrm>
        </p:spPr>
        <p:txBody>
          <a:bodyPr anchor="ctr" anchorCtr="0"/>
          <a:lstStyle>
            <a:lvl1pPr marL="0" marR="0" indent="0" algn="l" defTabSz="457200" rtl="0" eaLnBrk="1" fontAlgn="auto" latinLnBrk="0" hangingPunct="1">
              <a:lnSpc>
                <a:spcPct val="100000"/>
              </a:lnSpc>
              <a:spcBef>
                <a:spcPct val="20000"/>
              </a:spcBef>
              <a:spcAft>
                <a:spcPts val="0"/>
              </a:spcAft>
              <a:buClrTx/>
              <a:buSzTx/>
              <a:buFont typeface="Arial"/>
              <a:buNone/>
              <a:tabLs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add Section</a:t>
            </a:r>
          </a:p>
        </p:txBody>
      </p:sp>
    </p:spTree>
    <p:extLst>
      <p:ext uri="{BB962C8B-B14F-4D97-AF65-F5344CB8AC3E}">
        <p14:creationId xmlns:p14="http://schemas.microsoft.com/office/powerpoint/2010/main" val="2455856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8751425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902803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5325459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258785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2807862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10190807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11154952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519769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3880445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747300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5213793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68586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4443139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7414127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1414025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0361206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3345262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40978612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10866098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1058425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1CD1D9-C084-EE47-BD8D-261BE031B149}" type="datetime1">
              <a:rPr lang="en-US" smtClean="0"/>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F56997-4F5F-5A42-B306-795126905ACA}" type="slidenum">
              <a:rPr lang="en-US" smtClean="0"/>
              <a:pPr/>
              <a:t>‹#›</a:t>
            </a:fld>
            <a:endParaRPr lang="en-US"/>
          </a:p>
        </p:txBody>
      </p:sp>
      <p:sp>
        <p:nvSpPr>
          <p:cNvPr id="7" name="Text Placeholder 9"/>
          <p:cNvSpPr>
            <a:spLocks noGrp="1"/>
          </p:cNvSpPr>
          <p:nvPr>
            <p:ph type="body" sz="quarter" idx="13" hasCustomPrompt="1"/>
          </p:nvPr>
        </p:nvSpPr>
        <p:spPr>
          <a:xfrm>
            <a:off x="612616" y="142875"/>
            <a:ext cx="3573595" cy="1143000"/>
          </a:xfrm>
        </p:spPr>
        <p:txBody>
          <a:bodyPr anchor="ctr" anchorCtr="0"/>
          <a:lstStyle>
            <a:lvl1pPr marL="0" marR="0" indent="0" algn="l" defTabSz="457200" rtl="0" eaLnBrk="1" fontAlgn="auto" latinLnBrk="0" hangingPunct="1">
              <a:lnSpc>
                <a:spcPct val="100000"/>
              </a:lnSpc>
              <a:spcBef>
                <a:spcPct val="20000"/>
              </a:spcBef>
              <a:spcAft>
                <a:spcPts val="0"/>
              </a:spcAft>
              <a:buClrTx/>
              <a:buSzTx/>
              <a:buFont typeface="Arial"/>
              <a:buNone/>
              <a:tabLs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add Section</a:t>
            </a:r>
          </a:p>
        </p:txBody>
      </p:sp>
    </p:spTree>
    <p:extLst>
      <p:ext uri="{BB962C8B-B14F-4D97-AF65-F5344CB8AC3E}">
        <p14:creationId xmlns:p14="http://schemas.microsoft.com/office/powerpoint/2010/main" val="23654298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5182DA-637D-DA41-AAFB-68E5B7C2EF75}" type="datetime1">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56997-4F5F-5A42-B306-795126905ACA}" type="slidenum">
              <a:rPr lang="en-US" smtClean="0"/>
              <a:pPr/>
              <a:t>‹#›</a:t>
            </a:fld>
            <a:endParaRPr lang="en-US"/>
          </a:p>
        </p:txBody>
      </p:sp>
      <p:sp>
        <p:nvSpPr>
          <p:cNvPr id="10" name="Text Placeholder 9"/>
          <p:cNvSpPr>
            <a:spLocks noGrp="1"/>
          </p:cNvSpPr>
          <p:nvPr>
            <p:ph type="body" sz="quarter" idx="13" hasCustomPrompt="1"/>
          </p:nvPr>
        </p:nvSpPr>
        <p:spPr>
          <a:xfrm>
            <a:off x="612616" y="142875"/>
            <a:ext cx="3573595" cy="1143000"/>
          </a:xfrm>
        </p:spPr>
        <p:txBody>
          <a:bodyPr anchor="ctr" anchorCtr="0"/>
          <a:lstStyle>
            <a:lvl1pPr marL="0" indent="0">
              <a:buNone/>
              <a:defRPr baseline="0"/>
            </a:lvl1pPr>
          </a:lstStyle>
          <a:p>
            <a:pPr lvl="0"/>
            <a:r>
              <a:rPr lang="en-US" dirty="0"/>
              <a:t>Click to add Section</a:t>
            </a:r>
          </a:p>
        </p:txBody>
      </p:sp>
    </p:spTree>
    <p:extLst>
      <p:ext uri="{BB962C8B-B14F-4D97-AF65-F5344CB8AC3E}">
        <p14:creationId xmlns:p14="http://schemas.microsoft.com/office/powerpoint/2010/main" val="2378826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2348" y="365126"/>
            <a:ext cx="1056763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2348" y="1825625"/>
            <a:ext cx="1056763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2347" y="6356351"/>
            <a:ext cx="275677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38194-C996-4128-A7CA-F58921D4AB84}" type="datetime1">
              <a:rPr lang="en-US" smtClean="0"/>
              <a:t>3/4/2024</a:t>
            </a:fld>
            <a:endParaRPr lang="en-US"/>
          </a:p>
        </p:txBody>
      </p:sp>
      <p:sp>
        <p:nvSpPr>
          <p:cNvPr id="5" name="Footer Placeholder 4"/>
          <p:cNvSpPr>
            <a:spLocks noGrp="1"/>
          </p:cNvSpPr>
          <p:nvPr>
            <p:ph type="ftr" sz="quarter" idx="3"/>
          </p:nvPr>
        </p:nvSpPr>
        <p:spPr>
          <a:xfrm>
            <a:off x="4058583" y="6356351"/>
            <a:ext cx="41351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3205" y="6356351"/>
            <a:ext cx="275677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5F329-02EE-4F4A-8B74-A22642379FE5}" type="slidenum">
              <a:rPr lang="en-US" smtClean="0"/>
              <a:t>‹#›</a:t>
            </a:fld>
            <a:endParaRPr lang="en-US"/>
          </a:p>
        </p:txBody>
      </p:sp>
    </p:spTree>
    <p:extLst>
      <p:ext uri="{BB962C8B-B14F-4D97-AF65-F5344CB8AC3E}">
        <p14:creationId xmlns:p14="http://schemas.microsoft.com/office/powerpoint/2010/main" val="290316474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0"/>
            <a:ext cx="4186211" cy="1417638"/>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7"/>
          </a:p>
        </p:txBody>
      </p:sp>
      <p:sp>
        <p:nvSpPr>
          <p:cNvPr id="10" name="Rectangle 9"/>
          <p:cNvSpPr/>
          <p:nvPr userDrawn="1"/>
        </p:nvSpPr>
        <p:spPr>
          <a:xfrm>
            <a:off x="4186211" y="0"/>
            <a:ext cx="8066114" cy="1417638"/>
          </a:xfrm>
          <a:prstGeom prst="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7"/>
          </a:p>
        </p:txBody>
      </p:sp>
      <p:sp>
        <p:nvSpPr>
          <p:cNvPr id="2" name="Title Placeholder 1"/>
          <p:cNvSpPr>
            <a:spLocks noGrp="1"/>
          </p:cNvSpPr>
          <p:nvPr>
            <p:ph type="title"/>
          </p:nvPr>
        </p:nvSpPr>
        <p:spPr>
          <a:xfrm>
            <a:off x="4186211" y="142836"/>
            <a:ext cx="7453498"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12616" y="1600201"/>
            <a:ext cx="1102709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2616" y="6356351"/>
            <a:ext cx="28588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739493-8D72-7745-A3DC-04B5A9850C8F}" type="datetime1">
              <a:rPr lang="en-US" smtClean="0"/>
              <a:t>3/4/2024</a:t>
            </a:fld>
            <a:endParaRPr lang="en-US"/>
          </a:p>
        </p:txBody>
      </p:sp>
      <p:sp>
        <p:nvSpPr>
          <p:cNvPr id="5" name="Footer Placeholder 4"/>
          <p:cNvSpPr>
            <a:spLocks noGrp="1"/>
          </p:cNvSpPr>
          <p:nvPr>
            <p:ph type="ftr" sz="quarter" idx="3"/>
          </p:nvPr>
        </p:nvSpPr>
        <p:spPr>
          <a:xfrm>
            <a:off x="4186211" y="6356351"/>
            <a:ext cx="38799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80833" y="6356351"/>
            <a:ext cx="28588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F56997-4F5F-5A42-B306-795126905ACA}" type="slidenum">
              <a:rPr lang="en-US" smtClean="0"/>
              <a:pPr/>
              <a:t>‹#›</a:t>
            </a:fld>
            <a:endParaRPr lang="en-US" dirty="0"/>
          </a:p>
        </p:txBody>
      </p:sp>
    </p:spTree>
    <p:extLst>
      <p:ext uri="{BB962C8B-B14F-4D97-AF65-F5344CB8AC3E}">
        <p14:creationId xmlns:p14="http://schemas.microsoft.com/office/powerpoint/2010/main" val="19052254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8" r:id="rId31"/>
    <p:sldLayoutId id="2147483759" r:id="rId32"/>
    <p:sldLayoutId id="2147483760" r:id="rId33"/>
    <p:sldLayoutId id="2147483761" r:id="rId34"/>
    <p:sldLayoutId id="2147483762" r:id="rId3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6.tmp"/><Relationship Id="rId5" Type="http://schemas.openxmlformats.org/officeDocument/2006/relationships/image" Target="../media/image25.tmp"/><Relationship Id="rId4" Type="http://schemas.openxmlformats.org/officeDocument/2006/relationships/image" Target="../media/image24.tmp"/></Relationships>
</file>

<file path=ppt/slides/_rels/slide29.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3" Type="http://schemas.openxmlformats.org/officeDocument/2006/relationships/image" Target="../media/image29.tmp"/><Relationship Id="rId7" Type="http://schemas.openxmlformats.org/officeDocument/2006/relationships/image" Target="../media/image32.tmp"/><Relationship Id="rId2" Type="http://schemas.openxmlformats.org/officeDocument/2006/relationships/image" Target="../media/image28.tmp"/><Relationship Id="rId1" Type="http://schemas.openxmlformats.org/officeDocument/2006/relationships/slideLayout" Target="../slideLayouts/slideLayout2.xml"/><Relationship Id="rId6" Type="http://schemas.openxmlformats.org/officeDocument/2006/relationships/image" Target="../media/image31.tmp"/><Relationship Id="rId5" Type="http://schemas.openxmlformats.org/officeDocument/2006/relationships/image" Target="../media/image27.tmp"/><Relationship Id="rId4" Type="http://schemas.openxmlformats.org/officeDocument/2006/relationships/image" Target="../media/image30.tmp"/></Relationships>
</file>

<file path=ppt/slides/_rels/slide31.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tmp"/><Relationship Id="rId5" Type="http://schemas.openxmlformats.org/officeDocument/2006/relationships/image" Target="../media/image34.tmp"/><Relationship Id="rId4" Type="http://schemas.openxmlformats.org/officeDocument/2006/relationships/image" Target="../media/image27.tmp"/></Relationships>
</file>

<file path=ppt/slides/_rels/slide32.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8.tmp"/><Relationship Id="rId4" Type="http://schemas.openxmlformats.org/officeDocument/2006/relationships/image" Target="../media/image37.tmp"/></Relationships>
</file>

<file path=ppt/slides/_rels/slide33.xml.rels><?xml version="1.0" encoding="UTF-8" standalone="yes"?>
<Relationships xmlns="http://schemas.openxmlformats.org/package/2006/relationships"><Relationship Id="rId3" Type="http://schemas.openxmlformats.org/officeDocument/2006/relationships/image" Target="../media/image40.tmp"/><Relationship Id="rId7" Type="http://schemas.openxmlformats.org/officeDocument/2006/relationships/image" Target="../media/image44.tmp"/><Relationship Id="rId2" Type="http://schemas.openxmlformats.org/officeDocument/2006/relationships/image" Target="../media/image39.tmp"/><Relationship Id="rId1" Type="http://schemas.openxmlformats.org/officeDocument/2006/relationships/slideLayout" Target="../slideLayouts/slideLayout2.xml"/><Relationship Id="rId6" Type="http://schemas.openxmlformats.org/officeDocument/2006/relationships/image" Target="../media/image43.tmp"/><Relationship Id="rId5" Type="http://schemas.openxmlformats.org/officeDocument/2006/relationships/image" Target="../media/image42.tmp"/><Relationship Id="rId4" Type="http://schemas.openxmlformats.org/officeDocument/2006/relationships/image" Target="../media/image41.tmp"/></Relationships>
</file>

<file path=ppt/slides/_rels/slide34.xml.rels><?xml version="1.0" encoding="UTF-8" standalone="yes"?>
<Relationships xmlns="http://schemas.openxmlformats.org/package/2006/relationships"><Relationship Id="rId3" Type="http://schemas.openxmlformats.org/officeDocument/2006/relationships/image" Target="../media/image46.tmp"/><Relationship Id="rId7" Type="http://schemas.openxmlformats.org/officeDocument/2006/relationships/image" Target="../media/image50.tmp"/><Relationship Id="rId2" Type="http://schemas.openxmlformats.org/officeDocument/2006/relationships/image" Target="../media/image45.tmp"/><Relationship Id="rId1" Type="http://schemas.openxmlformats.org/officeDocument/2006/relationships/slideLayout" Target="../slideLayouts/slideLayout2.xml"/><Relationship Id="rId6" Type="http://schemas.openxmlformats.org/officeDocument/2006/relationships/image" Target="../media/image49.tmp"/><Relationship Id="rId5" Type="http://schemas.openxmlformats.org/officeDocument/2006/relationships/image" Target="../media/image48.tmp"/><Relationship Id="rId4" Type="http://schemas.openxmlformats.org/officeDocument/2006/relationships/image" Target="../media/image47.tmp"/></Relationships>
</file>

<file path=ppt/slides/_rels/slide35.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2.tmp"/></Relationships>
</file>

<file path=ppt/slides/_rels/slide36.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image" Target="../media/image53.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tmp"/><Relationship Id="rId7" Type="http://schemas.openxmlformats.org/officeDocument/2006/relationships/image" Target="../media/image58.tmp"/><Relationship Id="rId2" Type="http://schemas.openxmlformats.org/officeDocument/2006/relationships/image" Target="../media/image51.tmp"/><Relationship Id="rId1" Type="http://schemas.openxmlformats.org/officeDocument/2006/relationships/slideLayout" Target="../slideLayouts/slideLayout2.xml"/><Relationship Id="rId6" Type="http://schemas.openxmlformats.org/officeDocument/2006/relationships/image" Target="../media/image57.tmp"/><Relationship Id="rId5" Type="http://schemas.openxmlformats.org/officeDocument/2006/relationships/image" Target="../media/image52.tmp"/><Relationship Id="rId4" Type="http://schemas.openxmlformats.org/officeDocument/2006/relationships/image" Target="../media/image56.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a:xfrm>
            <a:off x="258644" y="821686"/>
            <a:ext cx="11698224" cy="5865912"/>
          </a:xfrm>
          <a:custGeom>
            <a:avLst/>
            <a:gdLst>
              <a:gd name="connsiteX0" fmla="*/ 0 w 9804400"/>
              <a:gd name="connsiteY0" fmla="*/ 102022 h 3310246"/>
              <a:gd name="connsiteX1" fmla="*/ 102022 w 9804400"/>
              <a:gd name="connsiteY1" fmla="*/ 0 h 3310246"/>
              <a:gd name="connsiteX2" fmla="*/ 9702378 w 9804400"/>
              <a:gd name="connsiteY2" fmla="*/ 0 h 3310246"/>
              <a:gd name="connsiteX3" fmla="*/ 9804400 w 9804400"/>
              <a:gd name="connsiteY3" fmla="*/ 102022 h 3310246"/>
              <a:gd name="connsiteX4" fmla="*/ 9804400 w 9804400"/>
              <a:gd name="connsiteY4" fmla="*/ 3208224 h 3310246"/>
              <a:gd name="connsiteX5" fmla="*/ 9702378 w 9804400"/>
              <a:gd name="connsiteY5" fmla="*/ 3310246 h 3310246"/>
              <a:gd name="connsiteX6" fmla="*/ 102022 w 9804400"/>
              <a:gd name="connsiteY6" fmla="*/ 3310246 h 3310246"/>
              <a:gd name="connsiteX7" fmla="*/ 0 w 9804400"/>
              <a:gd name="connsiteY7" fmla="*/ 3208224 h 3310246"/>
              <a:gd name="connsiteX8" fmla="*/ 0 w 9804400"/>
              <a:gd name="connsiteY8" fmla="*/ 102022 h 3310246"/>
              <a:gd name="connsiteX0" fmla="*/ 0 w 9804400"/>
              <a:gd name="connsiteY0" fmla="*/ 102022 h 3872265"/>
              <a:gd name="connsiteX1" fmla="*/ 102022 w 9804400"/>
              <a:gd name="connsiteY1" fmla="*/ 0 h 3872265"/>
              <a:gd name="connsiteX2" fmla="*/ 9702378 w 9804400"/>
              <a:gd name="connsiteY2" fmla="*/ 0 h 3872265"/>
              <a:gd name="connsiteX3" fmla="*/ 9804400 w 9804400"/>
              <a:gd name="connsiteY3" fmla="*/ 102022 h 3872265"/>
              <a:gd name="connsiteX4" fmla="*/ 9804400 w 9804400"/>
              <a:gd name="connsiteY4" fmla="*/ 3208224 h 3872265"/>
              <a:gd name="connsiteX5" fmla="*/ 9702378 w 9804400"/>
              <a:gd name="connsiteY5" fmla="*/ 3310246 h 3872265"/>
              <a:gd name="connsiteX6" fmla="*/ 4754880 w 9804400"/>
              <a:gd name="connsiteY6" fmla="*/ 3872258 h 3872265"/>
              <a:gd name="connsiteX7" fmla="*/ 102022 w 9804400"/>
              <a:gd name="connsiteY7" fmla="*/ 3310246 h 3872265"/>
              <a:gd name="connsiteX8" fmla="*/ 0 w 9804400"/>
              <a:gd name="connsiteY8" fmla="*/ 3208224 h 3872265"/>
              <a:gd name="connsiteX9" fmla="*/ 0 w 9804400"/>
              <a:gd name="connsiteY9" fmla="*/ 102022 h 3872265"/>
              <a:gd name="connsiteX0" fmla="*/ 0 w 9804400"/>
              <a:gd name="connsiteY0" fmla="*/ 102022 h 4878100"/>
              <a:gd name="connsiteX1" fmla="*/ 102022 w 9804400"/>
              <a:gd name="connsiteY1" fmla="*/ 0 h 4878100"/>
              <a:gd name="connsiteX2" fmla="*/ 9702378 w 9804400"/>
              <a:gd name="connsiteY2" fmla="*/ 0 h 4878100"/>
              <a:gd name="connsiteX3" fmla="*/ 9804400 w 9804400"/>
              <a:gd name="connsiteY3" fmla="*/ 102022 h 4878100"/>
              <a:gd name="connsiteX4" fmla="*/ 9804400 w 9804400"/>
              <a:gd name="connsiteY4" fmla="*/ 3208224 h 4878100"/>
              <a:gd name="connsiteX5" fmla="*/ 9702378 w 9804400"/>
              <a:gd name="connsiteY5" fmla="*/ 3310246 h 4878100"/>
              <a:gd name="connsiteX6" fmla="*/ 4754880 w 9804400"/>
              <a:gd name="connsiteY6" fmla="*/ 4878098 h 4878100"/>
              <a:gd name="connsiteX7" fmla="*/ 102022 w 9804400"/>
              <a:gd name="connsiteY7" fmla="*/ 3310246 h 4878100"/>
              <a:gd name="connsiteX8" fmla="*/ 0 w 9804400"/>
              <a:gd name="connsiteY8" fmla="*/ 3208224 h 4878100"/>
              <a:gd name="connsiteX9" fmla="*/ 0 w 9804400"/>
              <a:gd name="connsiteY9" fmla="*/ 102022 h 4878100"/>
              <a:gd name="connsiteX0" fmla="*/ 0 w 9804400"/>
              <a:gd name="connsiteY0" fmla="*/ 102022 h 4888260"/>
              <a:gd name="connsiteX1" fmla="*/ 102022 w 9804400"/>
              <a:gd name="connsiteY1" fmla="*/ 0 h 4888260"/>
              <a:gd name="connsiteX2" fmla="*/ 9702378 w 9804400"/>
              <a:gd name="connsiteY2" fmla="*/ 0 h 4888260"/>
              <a:gd name="connsiteX3" fmla="*/ 9804400 w 9804400"/>
              <a:gd name="connsiteY3" fmla="*/ 102022 h 4888260"/>
              <a:gd name="connsiteX4" fmla="*/ 9804400 w 9804400"/>
              <a:gd name="connsiteY4" fmla="*/ 3208224 h 4888260"/>
              <a:gd name="connsiteX5" fmla="*/ 9702378 w 9804400"/>
              <a:gd name="connsiteY5" fmla="*/ 3310246 h 4888260"/>
              <a:gd name="connsiteX6" fmla="*/ 5040991 w 9804400"/>
              <a:gd name="connsiteY6" fmla="*/ 4888258 h 4888260"/>
              <a:gd name="connsiteX7" fmla="*/ 102022 w 9804400"/>
              <a:gd name="connsiteY7" fmla="*/ 3310246 h 4888260"/>
              <a:gd name="connsiteX8" fmla="*/ 0 w 9804400"/>
              <a:gd name="connsiteY8" fmla="*/ 3208224 h 4888260"/>
              <a:gd name="connsiteX9" fmla="*/ 0 w 9804400"/>
              <a:gd name="connsiteY9" fmla="*/ 102022 h 4888260"/>
              <a:gd name="connsiteX0" fmla="*/ 0 w 9804400"/>
              <a:gd name="connsiteY0" fmla="*/ 102022 h 4888260"/>
              <a:gd name="connsiteX1" fmla="*/ 102022 w 9804400"/>
              <a:gd name="connsiteY1" fmla="*/ 0 h 4888260"/>
              <a:gd name="connsiteX2" fmla="*/ 9702378 w 9804400"/>
              <a:gd name="connsiteY2" fmla="*/ 0 h 4888260"/>
              <a:gd name="connsiteX3" fmla="*/ 9804400 w 9804400"/>
              <a:gd name="connsiteY3" fmla="*/ 102022 h 4888260"/>
              <a:gd name="connsiteX4" fmla="*/ 9804400 w 9804400"/>
              <a:gd name="connsiteY4" fmla="*/ 3208224 h 4888260"/>
              <a:gd name="connsiteX5" fmla="*/ 9702378 w 9804400"/>
              <a:gd name="connsiteY5" fmla="*/ 3310246 h 4888260"/>
              <a:gd name="connsiteX6" fmla="*/ 5010336 w 9804400"/>
              <a:gd name="connsiteY6" fmla="*/ 4888258 h 4888260"/>
              <a:gd name="connsiteX7" fmla="*/ 102022 w 9804400"/>
              <a:gd name="connsiteY7" fmla="*/ 3310246 h 4888260"/>
              <a:gd name="connsiteX8" fmla="*/ 0 w 9804400"/>
              <a:gd name="connsiteY8" fmla="*/ 3208224 h 4888260"/>
              <a:gd name="connsiteX9" fmla="*/ 0 w 9804400"/>
              <a:gd name="connsiteY9" fmla="*/ 102022 h 4888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04400" h="4888260">
                <a:moveTo>
                  <a:pt x="0" y="102022"/>
                </a:moveTo>
                <a:cubicBezTo>
                  <a:pt x="0" y="45677"/>
                  <a:pt x="45677" y="0"/>
                  <a:pt x="102022" y="0"/>
                </a:cubicBezTo>
                <a:lnTo>
                  <a:pt x="9702378" y="0"/>
                </a:lnTo>
                <a:cubicBezTo>
                  <a:pt x="9758723" y="0"/>
                  <a:pt x="9804400" y="45677"/>
                  <a:pt x="9804400" y="102022"/>
                </a:cubicBezTo>
                <a:lnTo>
                  <a:pt x="9804400" y="3208224"/>
                </a:lnTo>
                <a:cubicBezTo>
                  <a:pt x="9804400" y="3264569"/>
                  <a:pt x="9758723" y="3310246"/>
                  <a:pt x="9702378" y="3310246"/>
                </a:cubicBezTo>
                <a:cubicBezTo>
                  <a:pt x="8090465" y="3307930"/>
                  <a:pt x="6622249" y="4890574"/>
                  <a:pt x="5010336" y="4888258"/>
                </a:cubicBezTo>
                <a:cubicBezTo>
                  <a:pt x="3422130" y="4890574"/>
                  <a:pt x="1690228" y="3307930"/>
                  <a:pt x="102022" y="3310246"/>
                </a:cubicBezTo>
                <a:cubicBezTo>
                  <a:pt x="45677" y="3310246"/>
                  <a:pt x="0" y="3264569"/>
                  <a:pt x="0" y="3208224"/>
                </a:cubicBezTo>
                <a:lnTo>
                  <a:pt x="0" y="102022"/>
                </a:lnTo>
                <a:close/>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r>
              <a:rPr lang="en-US" sz="2600" dirty="0">
                <a:solidFill>
                  <a:schemeClr val="tx1"/>
                </a:solidFill>
                <a:latin typeface="Times New Roman" panose="02020603050405020304" pitchFamily="18" charset="0"/>
                <a:cs typeface="Times New Roman" panose="02020603050405020304" pitchFamily="18" charset="0"/>
              </a:rPr>
              <a:t>Lecture #6: Clustering</a:t>
            </a:r>
          </a:p>
          <a:p>
            <a:pPr algn="ctr"/>
            <a:endParaRPr lang="en-US" sz="2600" dirty="0">
              <a:solidFill>
                <a:schemeClr val="tx1"/>
              </a:solidFill>
              <a:latin typeface="Times New Roman" panose="02020603050405020304" pitchFamily="18" charset="0"/>
              <a:cs typeface="Times New Roman" panose="02020603050405020304" pitchFamily="18" charset="0"/>
            </a:endParaRPr>
          </a:p>
          <a:p>
            <a:pPr algn="ctr"/>
            <a:endParaRPr lang="en-US" sz="2600" dirty="0">
              <a:solidFill>
                <a:schemeClr val="tx1"/>
              </a:solidFill>
              <a:latin typeface="Times New Roman" panose="02020603050405020304" pitchFamily="18" charset="0"/>
              <a:cs typeface="Times New Roman" panose="02020603050405020304" pitchFamily="18" charset="0"/>
            </a:endParaRPr>
          </a:p>
          <a:p>
            <a:pPr algn="ctr"/>
            <a:r>
              <a:rPr lang="en-US" sz="2600" dirty="0">
                <a:solidFill>
                  <a:schemeClr val="tx1"/>
                </a:solidFill>
                <a:latin typeface="Times New Roman" panose="02020603050405020304" pitchFamily="18" charset="0"/>
                <a:cs typeface="Times New Roman" panose="02020603050405020304" pitchFamily="18" charset="0"/>
              </a:rPr>
              <a:t>Hisham Abdeltawab, Ph.D.</a:t>
            </a:r>
          </a:p>
          <a:p>
            <a:pPr algn="ctr"/>
            <a:r>
              <a:rPr lang="en-US" sz="2600" dirty="0">
                <a:solidFill>
                  <a:schemeClr val="tx1"/>
                </a:solidFill>
                <a:latin typeface="Times New Roman" panose="02020603050405020304" pitchFamily="18" charset="0"/>
                <a:cs typeface="Times New Roman" panose="02020603050405020304" pitchFamily="18" charset="0"/>
              </a:rPr>
              <a:t>Assistant Professor,</a:t>
            </a:r>
          </a:p>
          <a:p>
            <a:pPr algn="ctr"/>
            <a:r>
              <a:rPr lang="en-US" sz="2600" dirty="0">
                <a:solidFill>
                  <a:schemeClr val="tx1"/>
                </a:solidFill>
                <a:latin typeface="Times New Roman" panose="02020603050405020304" pitchFamily="18" charset="0"/>
                <a:cs typeface="Times New Roman" panose="02020603050405020304" pitchFamily="18" charset="0"/>
              </a:rPr>
              <a:t>Cairo University</a:t>
            </a:r>
          </a:p>
        </p:txBody>
      </p:sp>
      <p:pic>
        <p:nvPicPr>
          <p:cNvPr id="4" name="Picture 3"/>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8800"/>
                    </a14:imgEffect>
                  </a14:imgLayer>
                </a14:imgProps>
              </a:ext>
            </a:extLst>
          </a:blip>
          <a:srcRect l="26958" r="26155"/>
          <a:stretch/>
        </p:blipFill>
        <p:spPr>
          <a:xfrm>
            <a:off x="-1" y="-1"/>
            <a:ext cx="12252325" cy="1640017"/>
          </a:xfrm>
          <a:prstGeom prst="rect">
            <a:avLst/>
          </a:prstGeom>
          <a:noFill/>
        </p:spPr>
      </p:pic>
      <p:sp>
        <p:nvSpPr>
          <p:cNvPr id="8" name="Subtitle 2"/>
          <p:cNvSpPr txBox="1">
            <a:spLocks/>
          </p:cNvSpPr>
          <p:nvPr/>
        </p:nvSpPr>
        <p:spPr>
          <a:xfrm>
            <a:off x="836425" y="158688"/>
            <a:ext cx="10542662" cy="1481328"/>
          </a:xfrm>
          <a:prstGeom prst="rect">
            <a:avLst/>
          </a:prstGeom>
        </p:spPr>
        <p:txBody>
          <a:bodyPr vert="horz" lIns="82296" tIns="41148" rIns="82296" bIns="41148" rtlCol="0">
            <a:noAutofit/>
          </a:bodyPr>
          <a:lstStyle/>
          <a:p>
            <a:pPr algn="ctr" defTabSz="822960">
              <a:lnSpc>
                <a:spcPct val="85000"/>
              </a:lnSpc>
              <a:defRPr/>
            </a:pPr>
            <a:endParaRPr lang="en-US" sz="4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Subtitle 2"/>
          <p:cNvSpPr txBox="1">
            <a:spLocks/>
          </p:cNvSpPr>
          <p:nvPr/>
        </p:nvSpPr>
        <p:spPr>
          <a:xfrm>
            <a:off x="3373871" y="3733438"/>
            <a:ext cx="5467770" cy="1434238"/>
          </a:xfrm>
          <a:prstGeom prst="rect">
            <a:avLst/>
          </a:prstGeom>
        </p:spPr>
        <p:txBody>
          <a:bodyPr vert="horz" lIns="82296" tIns="41148" rIns="82296" bIns="41148" rtlCol="0">
            <a:noAutofit/>
          </a:bodyPr>
          <a:lstStyle/>
          <a:p>
            <a:pPr algn="ctr"/>
            <a:endParaRPr lang="en-US" sz="1680" b="1" dirty="0">
              <a:solidFill>
                <a:srgbClr val="234CF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AA41962-6C2B-4A72-E34D-C64FCD448361}"/>
              </a:ext>
            </a:extLst>
          </p:cNvPr>
          <p:cNvSpPr txBox="1"/>
          <p:nvPr/>
        </p:nvSpPr>
        <p:spPr>
          <a:xfrm>
            <a:off x="443059" y="67493"/>
            <a:ext cx="11366204" cy="1505027"/>
          </a:xfrm>
          <a:prstGeom prst="rect">
            <a:avLst/>
          </a:prstGeom>
          <a:noFill/>
        </p:spPr>
        <p:txBody>
          <a:bodyPr wrap="square">
            <a:spAutoFit/>
          </a:bodyPr>
          <a:lstStyle/>
          <a:p>
            <a:pPr algn="ctr" defTabSz="822960">
              <a:lnSpc>
                <a:spcPct val="85000"/>
              </a:lnSpc>
              <a:defRPr/>
            </a:pPr>
            <a:r>
              <a:rPr lang="en-US" sz="36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SBE 4032: Advanced Topics in Medical Informatics (2)</a:t>
            </a:r>
          </a:p>
          <a:p>
            <a:pPr algn="ctr" defTabSz="822960">
              <a:lnSpc>
                <a:spcPct val="85000"/>
              </a:lnSpc>
              <a:defRPr/>
            </a:pPr>
            <a:endParaRPr lang="en-US" sz="36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defTabSz="822960">
              <a:lnSpc>
                <a:spcPct val="85000"/>
              </a:lnSpc>
              <a:defRPr/>
            </a:pPr>
            <a:r>
              <a:rPr lang="ar-EG" sz="36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موضوعات متقدمة في المعلوماتية الطبية (2)</a:t>
            </a:r>
            <a:endParaRPr lang="en-US" sz="36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005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Training set: </a:t>
                </a:r>
                <a14:m>
                  <m:oMath xmlns:m="http://schemas.openxmlformats.org/officeDocument/2006/math">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e>
                        </m:d>
                        <m:r>
                          <a:rPr lang="en-US" b="0" i="1" smtClean="0">
                            <a:latin typeface="Cambria Math" panose="02040503050406030204" pitchFamily="18" charset="0"/>
                          </a:rPr>
                          <m:t>,</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b="0" i="1" smtClean="0">
                                        <a:latin typeface="Cambria Math" panose="02040503050406030204" pitchFamily="18" charset="0"/>
                                      </a:rPr>
                                      <m:t>2</m:t>
                                    </m:r>
                                  </m:e>
                                </m:d>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d>
                                  <m:dPr>
                                    <m:ctrlPr>
                                      <a:rPr lang="en-US" i="1">
                                        <a:latin typeface="Cambria Math" panose="02040503050406030204" pitchFamily="18" charset="0"/>
                                      </a:rPr>
                                    </m:ctrlPr>
                                  </m:dPr>
                                  <m:e>
                                    <m:r>
                                      <a:rPr lang="en-US" b="0" i="1" smtClean="0">
                                        <a:latin typeface="Cambria Math" panose="02040503050406030204" pitchFamily="18" charset="0"/>
                                      </a:rPr>
                                      <m:t>2</m:t>
                                    </m:r>
                                  </m:e>
                                </m:d>
                              </m:sup>
                            </m:sSup>
                          </m:e>
                        </m:d>
                        <m:r>
                          <a:rPr lang="en-US" b="0" i="1" smtClean="0">
                            <a:latin typeface="Cambria Math" panose="02040503050406030204" pitchFamily="18" charset="0"/>
                          </a:rPr>
                          <m:t>, ⋯,</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b="0" i="1" smtClean="0">
                                        <a:latin typeface="Cambria Math" panose="02040503050406030204" pitchFamily="18" charset="0"/>
                                      </a:rPr>
                                      <m:t>𝑚</m:t>
                                    </m:r>
                                  </m:e>
                                </m:d>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d>
                                  <m:dPr>
                                    <m:ctrlPr>
                                      <a:rPr lang="en-US" i="1">
                                        <a:latin typeface="Cambria Math" panose="02040503050406030204" pitchFamily="18" charset="0"/>
                                      </a:rPr>
                                    </m:ctrlPr>
                                  </m:dPr>
                                  <m:e>
                                    <m:r>
                                      <a:rPr lang="en-US" b="0" i="1" smtClean="0">
                                        <a:latin typeface="Cambria Math" panose="02040503050406030204" pitchFamily="18" charset="0"/>
                                      </a:rPr>
                                      <m:t>𝑚</m:t>
                                    </m:r>
                                  </m:e>
                                </m:d>
                              </m:sup>
                            </m:sSup>
                          </m:e>
                        </m:d>
                      </m:e>
                    </m:d>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b="-1120"/>
                </a:stretch>
              </a:blipFill>
            </p:spPr>
            <p:txBody>
              <a:bodyPr/>
              <a:lstStyle/>
              <a:p>
                <a:r>
                  <a:rPr lang="en-US">
                    <a:noFill/>
                  </a:rPr>
                  <a:t> </a:t>
                </a:r>
              </a:p>
            </p:txBody>
          </p:sp>
        </mc:Fallback>
      </mc:AlternateContent>
      <p:cxnSp>
        <p:nvCxnSpPr>
          <p:cNvPr id="38" name="Straight Connector 37"/>
          <p:cNvCxnSpPr/>
          <p:nvPr/>
        </p:nvCxnSpPr>
        <p:spPr>
          <a:xfrm>
            <a:off x="3750209" y="1993507"/>
            <a:ext cx="0" cy="3460652"/>
          </a:xfrm>
          <a:prstGeom prst="line">
            <a:avLst/>
          </a:prstGeom>
          <a:ln w="38100">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V="1">
            <a:off x="3496991" y="5053233"/>
            <a:ext cx="6020973" cy="1"/>
          </a:xfrm>
          <a:prstGeom prst="line">
            <a:avLst/>
          </a:prstGeom>
          <a:ln w="38100">
            <a:headEnd type="none" w="med" len="med"/>
            <a:tailEnd type="arrow"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1" name="Rectangle 40"/>
              <p:cNvSpPr/>
              <p:nvPr/>
            </p:nvSpPr>
            <p:spPr>
              <a:xfrm>
                <a:off x="2950179" y="2012023"/>
                <a:ext cx="68185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2</m:t>
                          </m:r>
                        </m:sub>
                      </m:sSub>
                    </m:oMath>
                  </m:oMathPara>
                </a14:m>
                <a:endParaRPr lang="en-US" sz="3200" dirty="0"/>
              </a:p>
            </p:txBody>
          </p:sp>
        </mc:Choice>
        <mc:Fallback>
          <p:sp>
            <p:nvSpPr>
              <p:cNvPr id="41" name="Rectangle 40"/>
              <p:cNvSpPr>
                <a:spLocks noRot="1" noChangeAspect="1" noMove="1" noResize="1" noEditPoints="1" noAdjustHandles="1" noChangeArrowheads="1" noChangeShapeType="1" noTextEdit="1"/>
              </p:cNvSpPr>
              <p:nvPr/>
            </p:nvSpPr>
            <p:spPr>
              <a:xfrm>
                <a:off x="2950179" y="2012023"/>
                <a:ext cx="681853" cy="584775"/>
              </a:xfrm>
              <a:prstGeom prst="rect">
                <a:avLst/>
              </a:prstGeom>
              <a:blipFill>
                <a:blip r:embed="rId3"/>
                <a:stretch>
                  <a:fillRect/>
                </a:stretch>
              </a:blipFill>
            </p:spPr>
            <p:txBody>
              <a:bodyPr/>
              <a:lstStyle/>
              <a:p>
                <a:r>
                  <a:rPr lang="en-US">
                    <a:noFill/>
                  </a:rPr>
                  <a:t> </a:t>
                </a:r>
              </a:p>
            </p:txBody>
          </p:sp>
        </mc:Fallback>
      </mc:AlternateContent>
      <p:sp>
        <p:nvSpPr>
          <p:cNvPr id="42" name="Multiply 41"/>
          <p:cNvSpPr/>
          <p:nvPr/>
        </p:nvSpPr>
        <p:spPr>
          <a:xfrm>
            <a:off x="4880070" y="223425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3" name="Isosceles Triangle 42"/>
          <p:cNvSpPr/>
          <p:nvPr/>
        </p:nvSpPr>
        <p:spPr>
          <a:xfrm>
            <a:off x="5059253" y="4545501"/>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Isosceles Triangle 43"/>
          <p:cNvSpPr/>
          <p:nvPr/>
        </p:nvSpPr>
        <p:spPr>
          <a:xfrm>
            <a:off x="4135900" y="4350829"/>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Multiply 44"/>
          <p:cNvSpPr/>
          <p:nvPr/>
        </p:nvSpPr>
        <p:spPr>
          <a:xfrm>
            <a:off x="6296461" y="215688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6" name="Multiply 45"/>
          <p:cNvSpPr/>
          <p:nvPr/>
        </p:nvSpPr>
        <p:spPr>
          <a:xfrm>
            <a:off x="6927252" y="315312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7" name="Multiply 46"/>
          <p:cNvSpPr/>
          <p:nvPr/>
        </p:nvSpPr>
        <p:spPr>
          <a:xfrm>
            <a:off x="6441733" y="339262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8" name="Multiply 47"/>
          <p:cNvSpPr/>
          <p:nvPr/>
        </p:nvSpPr>
        <p:spPr>
          <a:xfrm>
            <a:off x="7128976" y="246860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9" name="Isosceles Triangle 48"/>
          <p:cNvSpPr/>
          <p:nvPr/>
        </p:nvSpPr>
        <p:spPr>
          <a:xfrm>
            <a:off x="4105176" y="3371997"/>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Isosceles Triangle 49"/>
          <p:cNvSpPr/>
          <p:nvPr/>
        </p:nvSpPr>
        <p:spPr>
          <a:xfrm>
            <a:off x="4700127" y="376047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Isosceles Triangle 50"/>
          <p:cNvSpPr/>
          <p:nvPr/>
        </p:nvSpPr>
        <p:spPr>
          <a:xfrm>
            <a:off x="5604886" y="3887227"/>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Isosceles Triangle 51"/>
          <p:cNvSpPr/>
          <p:nvPr/>
        </p:nvSpPr>
        <p:spPr>
          <a:xfrm>
            <a:off x="3775805" y="2607051"/>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p:cNvSpPr/>
          <p:nvPr/>
        </p:nvSpPr>
        <p:spPr>
          <a:xfrm>
            <a:off x="6109871" y="2833275"/>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Multiply 53"/>
          <p:cNvSpPr/>
          <p:nvPr/>
        </p:nvSpPr>
        <p:spPr>
          <a:xfrm>
            <a:off x="5650618" y="252412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5" name="Multiply 54"/>
          <p:cNvSpPr/>
          <p:nvPr/>
        </p:nvSpPr>
        <p:spPr>
          <a:xfrm>
            <a:off x="7357586" y="3995920"/>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6" name="Isosceles Triangle 55"/>
          <p:cNvSpPr/>
          <p:nvPr/>
        </p:nvSpPr>
        <p:spPr>
          <a:xfrm>
            <a:off x="4946983" y="3260860"/>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Multiply 56"/>
          <p:cNvSpPr/>
          <p:nvPr/>
        </p:nvSpPr>
        <p:spPr>
          <a:xfrm>
            <a:off x="5501124" y="182562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cxnSp>
        <p:nvCxnSpPr>
          <p:cNvPr id="58" name="Straight Connector 57"/>
          <p:cNvCxnSpPr/>
          <p:nvPr/>
        </p:nvCxnSpPr>
        <p:spPr>
          <a:xfrm>
            <a:off x="4017495" y="1993508"/>
            <a:ext cx="4023360" cy="3130061"/>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4465085" y="2840373"/>
            <a:ext cx="379814" cy="370053"/>
          </a:xfrm>
          <a:prstGeom prst="ellipse">
            <a:avLst/>
          </a:prstGeom>
          <a:ln w="38100"/>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a:t>
            </a:r>
          </a:p>
        </p:txBody>
      </p:sp>
      <p:sp>
        <p:nvSpPr>
          <p:cNvPr id="60" name="Multiply 59"/>
          <p:cNvSpPr/>
          <p:nvPr/>
        </p:nvSpPr>
        <p:spPr>
          <a:xfrm>
            <a:off x="5874430" y="427795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mc:AlternateContent xmlns:mc="http://schemas.openxmlformats.org/markup-compatibility/2006">
        <mc:Choice xmlns:a14="http://schemas.microsoft.com/office/drawing/2010/main" Requires="a14">
          <p:sp>
            <p:nvSpPr>
              <p:cNvPr id="62" name="Rectangle 61"/>
              <p:cNvSpPr/>
              <p:nvPr/>
            </p:nvSpPr>
            <p:spPr>
              <a:xfrm>
                <a:off x="8621098" y="4974030"/>
                <a:ext cx="67236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1</m:t>
                          </m:r>
                        </m:sub>
                      </m:sSub>
                    </m:oMath>
                  </m:oMathPara>
                </a14:m>
                <a:endParaRPr lang="en-US" sz="3200" dirty="0"/>
              </a:p>
            </p:txBody>
          </p:sp>
        </mc:Choice>
        <mc:Fallback>
          <p:sp>
            <p:nvSpPr>
              <p:cNvPr id="62" name="Rectangle 61"/>
              <p:cNvSpPr>
                <a:spLocks noRot="1" noChangeAspect="1" noMove="1" noResize="1" noEditPoints="1" noAdjustHandles="1" noChangeArrowheads="1" noChangeShapeType="1" noTextEdit="1"/>
              </p:cNvSpPr>
              <p:nvPr/>
            </p:nvSpPr>
            <p:spPr>
              <a:xfrm>
                <a:off x="8621098" y="4974030"/>
                <a:ext cx="672364" cy="584775"/>
              </a:xfrm>
              <a:prstGeom prst="rect">
                <a:avLst/>
              </a:prstGeom>
              <a:blipFill>
                <a:blip r:embed="rId4"/>
                <a:stretch>
                  <a:fillRect/>
                </a:stretch>
              </a:blipFill>
            </p:spPr>
            <p:txBody>
              <a:bodyPr/>
              <a:lstStyle/>
              <a:p>
                <a:r>
                  <a:rPr lang="en-US">
                    <a:noFill/>
                  </a:rPr>
                  <a:t> </a:t>
                </a:r>
              </a:p>
            </p:txBody>
          </p:sp>
        </mc:Fallback>
      </mc:AlternateContent>
      <p:sp>
        <p:nvSpPr>
          <p:cNvPr id="63" name="Footer Placeholder 3"/>
          <p:cNvSpPr>
            <a:spLocks noGrp="1"/>
          </p:cNvSpPr>
          <p:nvPr>
            <p:ph type="ftr" sz="quarter" idx="11"/>
          </p:nvPr>
        </p:nvSpPr>
        <p:spPr>
          <a:xfrm>
            <a:off x="9986572" y="6492876"/>
            <a:ext cx="2235590" cy="365125"/>
          </a:xfrm>
        </p:spPr>
        <p:txBody>
          <a:bodyPr/>
          <a:lstStyle/>
          <a:p>
            <a:pPr>
              <a:defRPr/>
            </a:pPr>
            <a:r>
              <a:rPr lang="en-US" sz="1400" dirty="0">
                <a:solidFill>
                  <a:schemeClr val="tx1"/>
                </a:solidFill>
              </a:rPr>
              <a:t>Slide credit: Andrew Ng </a:t>
            </a:r>
          </a:p>
        </p:txBody>
      </p:sp>
    </p:spTree>
    <p:extLst>
      <p:ext uri="{BB962C8B-B14F-4D97-AF65-F5344CB8AC3E}">
        <p14:creationId xmlns:p14="http://schemas.microsoft.com/office/powerpoint/2010/main" val="243173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Training set: </a:t>
                </a:r>
                <a14:m>
                  <m:oMath xmlns:m="http://schemas.openxmlformats.org/officeDocument/2006/math">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b="0" i="1" smtClean="0">
                                    <a:latin typeface="Cambria Math" panose="02040503050406030204" pitchFamily="18" charset="0"/>
                                  </a:rPr>
                                  <m:t>2</m:t>
                                </m:r>
                              </m:e>
                            </m:d>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b="0" i="1" smtClean="0">
                                    <a:latin typeface="Cambria Math" panose="02040503050406030204" pitchFamily="18" charset="0"/>
                                  </a:rPr>
                                  <m:t>3</m:t>
                                </m:r>
                              </m:e>
                            </m:d>
                          </m:sup>
                        </m:sSup>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b="0" i="1" smtClean="0">
                                    <a:latin typeface="Cambria Math" panose="02040503050406030204" pitchFamily="18" charset="0"/>
                                  </a:rPr>
                                  <m:t>𝑚</m:t>
                                </m:r>
                              </m:e>
                            </m:d>
                          </m:sup>
                        </m:sSup>
                      </m:e>
                    </m:d>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b="-1120"/>
                </a:stretch>
              </a:blipFill>
            </p:spPr>
            <p:txBody>
              <a:bodyPr/>
              <a:lstStyle/>
              <a:p>
                <a:r>
                  <a:rPr lang="en-US">
                    <a:noFill/>
                  </a:rPr>
                  <a:t> </a:t>
                </a:r>
              </a:p>
            </p:txBody>
          </p:sp>
        </mc:Fallback>
      </mc:AlternateContent>
      <p:cxnSp>
        <p:nvCxnSpPr>
          <p:cNvPr id="38" name="Straight Connector 37"/>
          <p:cNvCxnSpPr/>
          <p:nvPr/>
        </p:nvCxnSpPr>
        <p:spPr>
          <a:xfrm>
            <a:off x="3750209" y="1993507"/>
            <a:ext cx="0" cy="3460652"/>
          </a:xfrm>
          <a:prstGeom prst="line">
            <a:avLst/>
          </a:prstGeom>
          <a:ln w="38100">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V="1">
            <a:off x="3496991" y="5053233"/>
            <a:ext cx="6020973" cy="1"/>
          </a:xfrm>
          <a:prstGeom prst="line">
            <a:avLst/>
          </a:prstGeom>
          <a:ln w="38100">
            <a:headEnd type="none" w="med" len="med"/>
            <a:tailEnd type="arrow"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0" name="Rectangle 39"/>
              <p:cNvSpPr/>
              <p:nvPr/>
            </p:nvSpPr>
            <p:spPr>
              <a:xfrm>
                <a:off x="8621098" y="4974030"/>
                <a:ext cx="67236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1</m:t>
                          </m:r>
                        </m:sub>
                      </m:sSub>
                    </m:oMath>
                  </m:oMathPara>
                </a14:m>
                <a:endParaRPr lang="en-US" sz="3200" dirty="0"/>
              </a:p>
            </p:txBody>
          </p:sp>
        </mc:Choice>
        <mc:Fallback>
          <p:sp>
            <p:nvSpPr>
              <p:cNvPr id="40" name="Rectangle 39"/>
              <p:cNvSpPr>
                <a:spLocks noRot="1" noChangeAspect="1" noMove="1" noResize="1" noEditPoints="1" noAdjustHandles="1" noChangeArrowheads="1" noChangeShapeType="1" noTextEdit="1"/>
              </p:cNvSpPr>
              <p:nvPr/>
            </p:nvSpPr>
            <p:spPr>
              <a:xfrm>
                <a:off x="8621098" y="4974030"/>
                <a:ext cx="672364" cy="5847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Rectangle 40"/>
              <p:cNvSpPr/>
              <p:nvPr/>
            </p:nvSpPr>
            <p:spPr>
              <a:xfrm>
                <a:off x="2950179" y="2012023"/>
                <a:ext cx="68185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2</m:t>
                          </m:r>
                        </m:sub>
                      </m:sSub>
                    </m:oMath>
                  </m:oMathPara>
                </a14:m>
                <a:endParaRPr lang="en-US" sz="3200" dirty="0"/>
              </a:p>
            </p:txBody>
          </p:sp>
        </mc:Choice>
        <mc:Fallback>
          <p:sp>
            <p:nvSpPr>
              <p:cNvPr id="41" name="Rectangle 40"/>
              <p:cNvSpPr>
                <a:spLocks noRot="1" noChangeAspect="1" noMove="1" noResize="1" noEditPoints="1" noAdjustHandles="1" noChangeArrowheads="1" noChangeShapeType="1" noTextEdit="1"/>
              </p:cNvSpPr>
              <p:nvPr/>
            </p:nvSpPr>
            <p:spPr>
              <a:xfrm>
                <a:off x="2950179" y="2012023"/>
                <a:ext cx="681853" cy="584775"/>
              </a:xfrm>
              <a:prstGeom prst="rect">
                <a:avLst/>
              </a:prstGeom>
              <a:blipFill>
                <a:blip r:embed="rId4"/>
                <a:stretch>
                  <a:fillRect/>
                </a:stretch>
              </a:blipFill>
            </p:spPr>
            <p:txBody>
              <a:bodyPr/>
              <a:lstStyle/>
              <a:p>
                <a:r>
                  <a:rPr lang="en-US">
                    <a:noFill/>
                  </a:rPr>
                  <a:t> </a:t>
                </a:r>
              </a:p>
            </p:txBody>
          </p:sp>
        </mc:Fallback>
      </mc:AlternateContent>
      <p:sp>
        <p:nvSpPr>
          <p:cNvPr id="42" name="Multiply 41"/>
          <p:cNvSpPr/>
          <p:nvPr/>
        </p:nvSpPr>
        <p:spPr>
          <a:xfrm>
            <a:off x="4880070" y="223425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3" name="Multiply 42"/>
          <p:cNvSpPr/>
          <p:nvPr/>
        </p:nvSpPr>
        <p:spPr>
          <a:xfrm>
            <a:off x="5059253" y="4545501"/>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Multiply 43"/>
          <p:cNvSpPr/>
          <p:nvPr/>
        </p:nvSpPr>
        <p:spPr>
          <a:xfrm>
            <a:off x="4135900" y="435082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Multiply 44"/>
          <p:cNvSpPr/>
          <p:nvPr/>
        </p:nvSpPr>
        <p:spPr>
          <a:xfrm>
            <a:off x="6296461" y="215688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6" name="Multiply 45"/>
          <p:cNvSpPr/>
          <p:nvPr/>
        </p:nvSpPr>
        <p:spPr>
          <a:xfrm>
            <a:off x="6927252" y="315312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7" name="Multiply 46"/>
          <p:cNvSpPr/>
          <p:nvPr/>
        </p:nvSpPr>
        <p:spPr>
          <a:xfrm>
            <a:off x="6441733" y="339262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8" name="Multiply 47"/>
          <p:cNvSpPr/>
          <p:nvPr/>
        </p:nvSpPr>
        <p:spPr>
          <a:xfrm>
            <a:off x="7128976" y="246860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9" name="Multiply 48"/>
          <p:cNvSpPr/>
          <p:nvPr/>
        </p:nvSpPr>
        <p:spPr>
          <a:xfrm>
            <a:off x="4105176" y="337199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Multiply 49"/>
          <p:cNvSpPr/>
          <p:nvPr/>
        </p:nvSpPr>
        <p:spPr>
          <a:xfrm>
            <a:off x="4700127" y="376047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Multiply 50"/>
          <p:cNvSpPr/>
          <p:nvPr/>
        </p:nvSpPr>
        <p:spPr>
          <a:xfrm>
            <a:off x="5604886" y="3887227"/>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Multiply 51"/>
          <p:cNvSpPr/>
          <p:nvPr/>
        </p:nvSpPr>
        <p:spPr>
          <a:xfrm>
            <a:off x="3775805" y="2607051"/>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Multiply 52"/>
          <p:cNvSpPr/>
          <p:nvPr/>
        </p:nvSpPr>
        <p:spPr>
          <a:xfrm>
            <a:off x="6109871" y="283327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Multiply 53"/>
          <p:cNvSpPr/>
          <p:nvPr/>
        </p:nvSpPr>
        <p:spPr>
          <a:xfrm>
            <a:off x="5650618" y="252412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5" name="Multiply 54"/>
          <p:cNvSpPr/>
          <p:nvPr/>
        </p:nvSpPr>
        <p:spPr>
          <a:xfrm>
            <a:off x="7357586" y="3995920"/>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6" name="Multiply 55"/>
          <p:cNvSpPr/>
          <p:nvPr/>
        </p:nvSpPr>
        <p:spPr>
          <a:xfrm>
            <a:off x="4946983" y="3260860"/>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Multiply 56"/>
          <p:cNvSpPr/>
          <p:nvPr/>
        </p:nvSpPr>
        <p:spPr>
          <a:xfrm>
            <a:off x="5501124" y="182562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0" name="Multiply 59"/>
          <p:cNvSpPr/>
          <p:nvPr/>
        </p:nvSpPr>
        <p:spPr>
          <a:xfrm>
            <a:off x="5874430" y="4277955"/>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9" name="Footer Placeholder 3"/>
          <p:cNvSpPr>
            <a:spLocks noGrp="1"/>
          </p:cNvSpPr>
          <p:nvPr>
            <p:ph type="ftr" sz="quarter" idx="11"/>
          </p:nvPr>
        </p:nvSpPr>
        <p:spPr>
          <a:xfrm>
            <a:off x="9986572" y="6492876"/>
            <a:ext cx="2235590" cy="365125"/>
          </a:xfrm>
        </p:spPr>
        <p:txBody>
          <a:bodyPr/>
          <a:lstStyle/>
          <a:p>
            <a:pPr>
              <a:defRPr/>
            </a:pPr>
            <a:r>
              <a:rPr lang="en-US" sz="1400" dirty="0">
                <a:solidFill>
                  <a:schemeClr val="tx1"/>
                </a:solidFill>
              </a:rPr>
              <a:t>Slide credit: Andrew Ng </a:t>
            </a:r>
          </a:p>
        </p:txBody>
      </p:sp>
    </p:spTree>
    <p:extLst>
      <p:ext uri="{BB962C8B-B14F-4D97-AF65-F5344CB8AC3E}">
        <p14:creationId xmlns:p14="http://schemas.microsoft.com/office/powerpoint/2010/main" val="493793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098B-6D8F-8EE7-27A0-5B7A302DD138}"/>
              </a:ext>
            </a:extLst>
          </p:cNvPr>
          <p:cNvSpPr>
            <a:spLocks noGrp="1"/>
          </p:cNvSpPr>
          <p:nvPr>
            <p:ph type="title"/>
          </p:nvPr>
        </p:nvSpPr>
        <p:spPr/>
        <p:txBody>
          <a:bodyPr/>
          <a:lstStyle/>
          <a:p>
            <a:r>
              <a:rPr lang="en-US" dirty="0"/>
              <a:t>Clustering Applications</a:t>
            </a:r>
          </a:p>
        </p:txBody>
      </p:sp>
      <p:sp>
        <p:nvSpPr>
          <p:cNvPr id="3" name="Content Placeholder 2">
            <a:extLst>
              <a:ext uri="{FF2B5EF4-FFF2-40B4-BE49-F238E27FC236}">
                <a16:creationId xmlns:a16="http://schemas.microsoft.com/office/drawing/2014/main" id="{0114AE5C-68D0-106B-EB56-161412F15826}"/>
              </a:ext>
            </a:extLst>
          </p:cNvPr>
          <p:cNvSpPr>
            <a:spLocks noGrp="1"/>
          </p:cNvSpPr>
          <p:nvPr>
            <p:ph idx="1"/>
          </p:nvPr>
        </p:nvSpPr>
        <p:spPr/>
        <p:txBody>
          <a:bodyPr>
            <a:normAutofit/>
          </a:bodyPr>
          <a:lstStyle/>
          <a:p>
            <a:r>
              <a:rPr lang="en-US" sz="1800" b="1" dirty="0"/>
              <a:t>Customer Segmentation</a:t>
            </a:r>
            <a:r>
              <a:rPr lang="en-US" sz="1800" dirty="0"/>
              <a:t>: Businesses use clustering to group customers with similar purchasing behavior, demographics, or preferences. This helps in targeted marketing and personalized services.</a:t>
            </a:r>
          </a:p>
          <a:p>
            <a:r>
              <a:rPr lang="en-US" sz="1800" b="1" dirty="0"/>
              <a:t>Image Segmentation: </a:t>
            </a:r>
            <a:r>
              <a:rPr lang="en-US" sz="1800" dirty="0"/>
              <a:t>Clustering is used to segment images into meaningful regions based on color, texture, or other visual features.</a:t>
            </a:r>
          </a:p>
          <a:p>
            <a:r>
              <a:rPr lang="en-US" sz="1800" b="1" dirty="0"/>
              <a:t>Anomaly Detection:</a:t>
            </a:r>
            <a:r>
              <a:rPr lang="en-US" sz="1800" dirty="0"/>
              <a:t> Clustering helps identify unusual patterns or outliers in datasets. Any data points that do not fit well into any cluster may be considered anomalies, helping in detecting fraud, errors, or unusual behavior.</a:t>
            </a:r>
          </a:p>
          <a:p>
            <a:r>
              <a:rPr lang="en-US" sz="1800" dirty="0"/>
              <a:t>And More….</a:t>
            </a:r>
          </a:p>
        </p:txBody>
      </p:sp>
    </p:spTree>
    <p:extLst>
      <p:ext uri="{BB962C8B-B14F-4D97-AF65-F5344CB8AC3E}">
        <p14:creationId xmlns:p14="http://schemas.microsoft.com/office/powerpoint/2010/main" val="809183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FDFD40EF-AF31-89D6-CB2F-88FCB21959ED}"/>
              </a:ext>
            </a:extLst>
          </p:cNvPr>
          <p:cNvSpPr>
            <a:spLocks noGrp="1" noChangeArrowheads="1"/>
          </p:cNvSpPr>
          <p:nvPr>
            <p:ph type="title"/>
          </p:nvPr>
        </p:nvSpPr>
        <p:spPr/>
        <p:txBody>
          <a:bodyPr/>
          <a:lstStyle/>
          <a:p>
            <a:r>
              <a:rPr lang="en-US" altLang="en-US"/>
              <a:t>Hierarchical Clustering </a:t>
            </a:r>
          </a:p>
        </p:txBody>
      </p:sp>
      <p:sp>
        <p:nvSpPr>
          <p:cNvPr id="1028" name="Rectangle 3">
            <a:extLst>
              <a:ext uri="{FF2B5EF4-FFF2-40B4-BE49-F238E27FC236}">
                <a16:creationId xmlns:a16="http://schemas.microsoft.com/office/drawing/2014/main" id="{E1C0FE09-BA7D-8803-6DEC-3C1D927BAAC7}"/>
              </a:ext>
            </a:extLst>
          </p:cNvPr>
          <p:cNvSpPr>
            <a:spLocks noGrp="1" noChangeArrowheads="1"/>
          </p:cNvSpPr>
          <p:nvPr>
            <p:ph type="body" idx="1"/>
          </p:nvPr>
        </p:nvSpPr>
        <p:spPr/>
        <p:txBody>
          <a:bodyPr/>
          <a:lstStyle/>
          <a:p>
            <a:pPr marL="292100" indent="-292100"/>
            <a:r>
              <a:rPr lang="en-US" altLang="en-US"/>
              <a:t>Produces a set of </a:t>
            </a:r>
            <a:r>
              <a:rPr lang="en-US" altLang="en-US" b="1" i="1"/>
              <a:t>nested clusters </a:t>
            </a:r>
            <a:r>
              <a:rPr lang="en-US" altLang="en-US"/>
              <a:t>organized as a hierarchical tree</a:t>
            </a:r>
          </a:p>
          <a:p>
            <a:pPr marL="292100" indent="-292100"/>
            <a:r>
              <a:rPr lang="en-US" altLang="en-US"/>
              <a:t>Can be visualized as a </a:t>
            </a:r>
            <a:r>
              <a:rPr lang="en-US" altLang="en-US" b="1">
                <a:solidFill>
                  <a:srgbClr val="FF0000"/>
                </a:solidFill>
              </a:rPr>
              <a:t>dendrogram</a:t>
            </a:r>
          </a:p>
          <a:p>
            <a:pPr marL="800100" lvl="1" indent="-342900"/>
            <a:r>
              <a:rPr lang="en-US" altLang="en-US"/>
              <a:t>A tree-like diagram that records the sequences of merges or splits</a:t>
            </a:r>
          </a:p>
        </p:txBody>
      </p:sp>
      <p:pic>
        <p:nvPicPr>
          <p:cNvPr id="1029" name="Picture 4">
            <a:extLst>
              <a:ext uri="{FF2B5EF4-FFF2-40B4-BE49-F238E27FC236}">
                <a16:creationId xmlns:a16="http://schemas.microsoft.com/office/drawing/2014/main" id="{7BFB7043-3482-1A9D-D541-CBC598947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465" y="3844032"/>
            <a:ext cx="4215462" cy="263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aphicFrame>
        <p:nvGraphicFramePr>
          <p:cNvPr id="1026" name="Object 2">
            <a:extLst>
              <a:ext uri="{FF2B5EF4-FFF2-40B4-BE49-F238E27FC236}">
                <a16:creationId xmlns:a16="http://schemas.microsoft.com/office/drawing/2014/main" id="{830C298F-68BE-75E1-F1B1-C78F9F4C596B}"/>
              </a:ext>
            </a:extLst>
          </p:cNvPr>
          <p:cNvGraphicFramePr>
            <a:graphicFrameLocks noChangeAspect="1"/>
          </p:cNvGraphicFramePr>
          <p:nvPr/>
        </p:nvGraphicFramePr>
        <p:xfrm>
          <a:off x="6811962" y="3467374"/>
          <a:ext cx="2957004" cy="3009626"/>
        </p:xfrm>
        <a:graphic>
          <a:graphicData uri="http://schemas.openxmlformats.org/presentationml/2006/ole">
            <mc:AlternateContent xmlns:mc="http://schemas.openxmlformats.org/markup-compatibility/2006">
              <mc:Choice xmlns:v="urn:schemas-microsoft-com:vml" Requires="v">
                <p:oleObj name="VISIO" r:id="rId4" imgW="3168720" imgH="3227760" progId="">
                  <p:embed/>
                </p:oleObj>
              </mc:Choice>
              <mc:Fallback>
                <p:oleObj name="VISIO" r:id="rId4" imgW="3168720" imgH="3227760" progId="">
                  <p:embed/>
                  <p:pic>
                    <p:nvPicPr>
                      <p:cNvPr id="1026" name="Object 2">
                        <a:extLst>
                          <a:ext uri="{FF2B5EF4-FFF2-40B4-BE49-F238E27FC236}">
                            <a16:creationId xmlns:a16="http://schemas.microsoft.com/office/drawing/2014/main" id="{830C298F-68BE-75E1-F1B1-C78F9F4C59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1962" y="3467374"/>
                        <a:ext cx="2957004" cy="3009626"/>
                      </a:xfrm>
                      <a:prstGeom prst="rect">
                        <a:avLst/>
                      </a:prstGeom>
                      <a:noFill/>
                      <a:ln>
                        <a:noFill/>
                      </a:ln>
                      <a:effec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3DF25BF-8920-F235-887A-67CCD78521F4}"/>
              </a:ext>
            </a:extLst>
          </p:cNvPr>
          <p:cNvSpPr>
            <a:spLocks noGrp="1" noChangeArrowheads="1"/>
          </p:cNvSpPr>
          <p:nvPr>
            <p:ph type="title"/>
          </p:nvPr>
        </p:nvSpPr>
        <p:spPr/>
        <p:txBody>
          <a:bodyPr/>
          <a:lstStyle/>
          <a:p>
            <a:r>
              <a:rPr lang="en-US" altLang="en-US"/>
              <a:t>Strengths of Hierarchical Clustering</a:t>
            </a:r>
          </a:p>
        </p:txBody>
      </p:sp>
      <p:sp>
        <p:nvSpPr>
          <p:cNvPr id="17411" name="Rectangle 3">
            <a:extLst>
              <a:ext uri="{FF2B5EF4-FFF2-40B4-BE49-F238E27FC236}">
                <a16:creationId xmlns:a16="http://schemas.microsoft.com/office/drawing/2014/main" id="{9D7AF3AA-A2B5-23BC-D7A6-F3D9D32F7EC7}"/>
              </a:ext>
            </a:extLst>
          </p:cNvPr>
          <p:cNvSpPr>
            <a:spLocks noGrp="1" noChangeArrowheads="1"/>
          </p:cNvSpPr>
          <p:nvPr>
            <p:ph type="body" idx="1"/>
          </p:nvPr>
        </p:nvSpPr>
        <p:spPr/>
        <p:txBody>
          <a:bodyPr/>
          <a:lstStyle/>
          <a:p>
            <a:pPr marL="292100" indent="-292100"/>
            <a:r>
              <a:rPr lang="en-US" altLang="en-US" dirty="0"/>
              <a:t>No assumptions on the number of clusters</a:t>
            </a:r>
          </a:p>
          <a:p>
            <a:pPr marL="800100" lvl="1" indent="-342900"/>
            <a:r>
              <a:rPr lang="en-US" altLang="en-US" dirty="0"/>
              <a:t>Any desired number of clusters can be obtained by ‘cutting’ the dendrogram at the proper level</a:t>
            </a:r>
          </a:p>
        </p:txBody>
      </p:sp>
      <p:pic>
        <p:nvPicPr>
          <p:cNvPr id="2" name="Picture 4">
            <a:extLst>
              <a:ext uri="{FF2B5EF4-FFF2-40B4-BE49-F238E27FC236}">
                <a16:creationId xmlns:a16="http://schemas.microsoft.com/office/drawing/2014/main" id="{154886C2-A24B-C487-44A0-3549D0F7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764" y="3258106"/>
            <a:ext cx="4879939" cy="3599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4" name="Straight Arrow Connector 3">
            <a:extLst>
              <a:ext uri="{FF2B5EF4-FFF2-40B4-BE49-F238E27FC236}">
                <a16:creationId xmlns:a16="http://schemas.microsoft.com/office/drawing/2014/main" id="{7B8CAF7B-A8D7-9EEB-7539-86B2379BBBAA}"/>
              </a:ext>
            </a:extLst>
          </p:cNvPr>
          <p:cNvCxnSpPr/>
          <p:nvPr/>
        </p:nvCxnSpPr>
        <p:spPr>
          <a:xfrm>
            <a:off x="2925763" y="3861781"/>
            <a:ext cx="481021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3EFD7E3-1266-71FB-122C-7DB36297BCB5}"/>
              </a:ext>
            </a:extLst>
          </p:cNvPr>
          <p:cNvCxnSpPr/>
          <p:nvPr/>
        </p:nvCxnSpPr>
        <p:spPr>
          <a:xfrm>
            <a:off x="2900606" y="4173982"/>
            <a:ext cx="481021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FC110899-39B0-22BD-4127-5918307C0497}"/>
              </a:ext>
            </a:extLst>
          </p:cNvPr>
          <p:cNvCxnSpPr/>
          <p:nvPr/>
        </p:nvCxnSpPr>
        <p:spPr>
          <a:xfrm>
            <a:off x="2857697" y="4814655"/>
            <a:ext cx="481021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A6CD2B9-A4CA-8AF7-1B53-101C7BA8E8D4}"/>
              </a:ext>
            </a:extLst>
          </p:cNvPr>
          <p:cNvCxnSpPr/>
          <p:nvPr/>
        </p:nvCxnSpPr>
        <p:spPr>
          <a:xfrm>
            <a:off x="2814787" y="5712780"/>
            <a:ext cx="481021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830AAA-6BC6-A7CC-4558-449DB811097B}"/>
              </a:ext>
            </a:extLst>
          </p:cNvPr>
          <p:cNvCxnSpPr/>
          <p:nvPr/>
        </p:nvCxnSpPr>
        <p:spPr>
          <a:xfrm>
            <a:off x="2807389" y="6229165"/>
            <a:ext cx="481021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BBFC6B1-A452-CF04-4C0C-9D03B0CB7E84}"/>
              </a:ext>
            </a:extLst>
          </p:cNvPr>
          <p:cNvSpPr txBox="1"/>
          <p:nvPr/>
        </p:nvSpPr>
        <p:spPr>
          <a:xfrm>
            <a:off x="7805703" y="3677115"/>
            <a:ext cx="1341827" cy="425822"/>
          </a:xfrm>
          <a:prstGeom prst="rect">
            <a:avLst/>
          </a:prstGeom>
          <a:noFill/>
        </p:spPr>
        <p:txBody>
          <a:bodyPr wrap="square" rtlCol="0">
            <a:spAutoFit/>
          </a:bodyPr>
          <a:lstStyle/>
          <a:p>
            <a:r>
              <a:rPr lang="en-US" dirty="0"/>
              <a:t>2 Clusters</a:t>
            </a:r>
          </a:p>
        </p:txBody>
      </p:sp>
      <p:sp>
        <p:nvSpPr>
          <p:cNvPr id="10" name="TextBox 9">
            <a:extLst>
              <a:ext uri="{FF2B5EF4-FFF2-40B4-BE49-F238E27FC236}">
                <a16:creationId xmlns:a16="http://schemas.microsoft.com/office/drawing/2014/main" id="{40311AEB-3AD1-B14A-761D-42FA3625F8DC}"/>
              </a:ext>
            </a:extLst>
          </p:cNvPr>
          <p:cNvSpPr txBox="1"/>
          <p:nvPr/>
        </p:nvSpPr>
        <p:spPr>
          <a:xfrm>
            <a:off x="7778889" y="3986700"/>
            <a:ext cx="1341827" cy="425822"/>
          </a:xfrm>
          <a:prstGeom prst="rect">
            <a:avLst/>
          </a:prstGeom>
          <a:noFill/>
        </p:spPr>
        <p:txBody>
          <a:bodyPr wrap="square" rtlCol="0">
            <a:spAutoFit/>
          </a:bodyPr>
          <a:lstStyle/>
          <a:p>
            <a:r>
              <a:rPr lang="en-US" dirty="0"/>
              <a:t>3 Clusters</a:t>
            </a:r>
          </a:p>
        </p:txBody>
      </p:sp>
      <p:sp>
        <p:nvSpPr>
          <p:cNvPr id="11" name="TextBox 10">
            <a:extLst>
              <a:ext uri="{FF2B5EF4-FFF2-40B4-BE49-F238E27FC236}">
                <a16:creationId xmlns:a16="http://schemas.microsoft.com/office/drawing/2014/main" id="{2D1885DE-C8D2-77B2-8792-DF8F7C3511B4}"/>
              </a:ext>
            </a:extLst>
          </p:cNvPr>
          <p:cNvSpPr txBox="1"/>
          <p:nvPr/>
        </p:nvSpPr>
        <p:spPr>
          <a:xfrm>
            <a:off x="7807183" y="4592994"/>
            <a:ext cx="1341827" cy="425822"/>
          </a:xfrm>
          <a:prstGeom prst="rect">
            <a:avLst/>
          </a:prstGeom>
          <a:noFill/>
        </p:spPr>
        <p:txBody>
          <a:bodyPr wrap="square" rtlCol="0">
            <a:spAutoFit/>
          </a:bodyPr>
          <a:lstStyle/>
          <a:p>
            <a:r>
              <a:rPr lang="en-US" dirty="0"/>
              <a:t>4 Clusters</a:t>
            </a:r>
          </a:p>
        </p:txBody>
      </p:sp>
      <p:sp>
        <p:nvSpPr>
          <p:cNvPr id="12" name="TextBox 11">
            <a:extLst>
              <a:ext uri="{FF2B5EF4-FFF2-40B4-BE49-F238E27FC236}">
                <a16:creationId xmlns:a16="http://schemas.microsoft.com/office/drawing/2014/main" id="{53C5D055-62A1-1780-6EE8-47B8488C0AAC}"/>
              </a:ext>
            </a:extLst>
          </p:cNvPr>
          <p:cNvSpPr txBox="1"/>
          <p:nvPr/>
        </p:nvSpPr>
        <p:spPr>
          <a:xfrm>
            <a:off x="7853051" y="5517754"/>
            <a:ext cx="1341827" cy="425822"/>
          </a:xfrm>
          <a:prstGeom prst="rect">
            <a:avLst/>
          </a:prstGeom>
          <a:noFill/>
        </p:spPr>
        <p:txBody>
          <a:bodyPr wrap="square" rtlCol="0">
            <a:spAutoFit/>
          </a:bodyPr>
          <a:lstStyle/>
          <a:p>
            <a:r>
              <a:rPr lang="en-US" dirty="0"/>
              <a:t>5 Clusters</a:t>
            </a:r>
          </a:p>
        </p:txBody>
      </p:sp>
      <p:sp>
        <p:nvSpPr>
          <p:cNvPr id="13" name="TextBox 12">
            <a:extLst>
              <a:ext uri="{FF2B5EF4-FFF2-40B4-BE49-F238E27FC236}">
                <a16:creationId xmlns:a16="http://schemas.microsoft.com/office/drawing/2014/main" id="{CA9806C8-4568-397E-1CB6-C0F80DAC5E02}"/>
              </a:ext>
            </a:extLst>
          </p:cNvPr>
          <p:cNvSpPr txBox="1"/>
          <p:nvPr/>
        </p:nvSpPr>
        <p:spPr>
          <a:xfrm>
            <a:off x="7853050" y="6068167"/>
            <a:ext cx="1341827" cy="425822"/>
          </a:xfrm>
          <a:prstGeom prst="rect">
            <a:avLst/>
          </a:prstGeom>
          <a:noFill/>
        </p:spPr>
        <p:txBody>
          <a:bodyPr wrap="square" rtlCol="0">
            <a:spAutoFit/>
          </a:bodyPr>
          <a:lstStyle/>
          <a:p>
            <a:r>
              <a:rPr lang="en-US" dirty="0"/>
              <a:t>6 Clusters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0B2C595-D6B4-D25B-C6E9-0C2F7CC0C8B5}"/>
              </a:ext>
            </a:extLst>
          </p:cNvPr>
          <p:cNvSpPr>
            <a:spLocks noGrp="1" noChangeArrowheads="1"/>
          </p:cNvSpPr>
          <p:nvPr>
            <p:ph type="title"/>
          </p:nvPr>
        </p:nvSpPr>
        <p:spPr/>
        <p:txBody>
          <a:bodyPr/>
          <a:lstStyle/>
          <a:p>
            <a:r>
              <a:rPr lang="en-US" altLang="en-US"/>
              <a:t>Hierarchical Clustering</a:t>
            </a:r>
          </a:p>
        </p:txBody>
      </p:sp>
      <p:sp>
        <p:nvSpPr>
          <p:cNvPr id="621571" name="Rectangle 3">
            <a:extLst>
              <a:ext uri="{FF2B5EF4-FFF2-40B4-BE49-F238E27FC236}">
                <a16:creationId xmlns:a16="http://schemas.microsoft.com/office/drawing/2014/main" id="{27C3A522-B452-AA6A-E1FC-8961182E5D94}"/>
              </a:ext>
            </a:extLst>
          </p:cNvPr>
          <p:cNvSpPr>
            <a:spLocks noGrp="1" noChangeArrowheads="1"/>
          </p:cNvSpPr>
          <p:nvPr>
            <p:ph type="body" idx="1"/>
          </p:nvPr>
        </p:nvSpPr>
        <p:spPr/>
        <p:txBody>
          <a:bodyPr rtlCol="0">
            <a:normAutofit/>
          </a:bodyPr>
          <a:lstStyle/>
          <a:p>
            <a:pPr marL="292100" indent="-292100">
              <a:defRPr/>
            </a:pPr>
            <a:r>
              <a:rPr lang="en-US" sz="2400" dirty="0"/>
              <a:t>Two main types of hierarchical clustering</a:t>
            </a:r>
          </a:p>
          <a:p>
            <a:pPr marL="800100" lvl="1" indent="-342900">
              <a:defRPr/>
            </a:pPr>
            <a:r>
              <a:rPr lang="en-US" sz="2000" b="1" dirty="0">
                <a:solidFill>
                  <a:srgbClr val="FF0000"/>
                </a:solidFill>
              </a:rPr>
              <a:t>Agglomerative:  </a:t>
            </a:r>
          </a:p>
          <a:p>
            <a:pPr marL="914400" lvl="2" indent="0">
              <a:defRPr/>
            </a:pPr>
            <a:r>
              <a:rPr lang="en-US" sz="1800" dirty="0"/>
              <a:t> Start with the points as individual clusters</a:t>
            </a:r>
          </a:p>
          <a:p>
            <a:pPr marL="914400" lvl="2" indent="0">
              <a:defRPr/>
            </a:pPr>
            <a:r>
              <a:rPr lang="en-US" sz="1800" dirty="0"/>
              <a:t> At each step, merge the closest pair of clusters until only one cluster (or </a:t>
            </a:r>
            <a:r>
              <a:rPr lang="en-US" sz="1800" b="1" dirty="0">
                <a:solidFill>
                  <a:schemeClr val="accent1"/>
                </a:solidFill>
              </a:rPr>
              <a:t>k</a:t>
            </a:r>
            <a:r>
              <a:rPr lang="en-US" sz="1800" dirty="0"/>
              <a:t> clusters) left</a:t>
            </a:r>
          </a:p>
          <a:p>
            <a:pPr lvl="4">
              <a:defRPr/>
            </a:pPr>
            <a:endParaRPr lang="en-US" sz="1600" dirty="0"/>
          </a:p>
          <a:p>
            <a:pPr marL="800100" lvl="1" indent="-342900">
              <a:defRPr/>
            </a:pPr>
            <a:r>
              <a:rPr lang="en-US" sz="2000" b="1" dirty="0">
                <a:solidFill>
                  <a:srgbClr val="FF0000"/>
                </a:solidFill>
              </a:rPr>
              <a:t>Divisive:  </a:t>
            </a:r>
          </a:p>
          <a:p>
            <a:pPr marL="914400" lvl="2" indent="0">
              <a:defRPr/>
            </a:pPr>
            <a:r>
              <a:rPr lang="en-US" sz="1800" dirty="0"/>
              <a:t> Start with one, all-inclusive cluster </a:t>
            </a:r>
          </a:p>
          <a:p>
            <a:pPr marL="914400" lvl="2" indent="0">
              <a:defRPr/>
            </a:pPr>
            <a:r>
              <a:rPr lang="en-US" sz="1800" dirty="0"/>
              <a:t> At each step, split a cluster until each cluster contains a point (or there are </a:t>
            </a:r>
            <a:r>
              <a:rPr lang="en-US" sz="1800" b="1" dirty="0">
                <a:solidFill>
                  <a:schemeClr val="accent1"/>
                </a:solidFill>
              </a:rPr>
              <a:t>k</a:t>
            </a:r>
            <a:r>
              <a:rPr lang="en-US" sz="1800" dirty="0"/>
              <a:t> clusters)</a:t>
            </a:r>
          </a:p>
          <a:p>
            <a:pPr lvl="4">
              <a:defRPr/>
            </a:pPr>
            <a:endParaRPr lang="en-US" sz="1600" dirty="0"/>
          </a:p>
          <a:p>
            <a:pPr marL="292100" indent="-292100">
              <a:defRPr/>
            </a:pPr>
            <a:r>
              <a:rPr lang="en-US" sz="2400" dirty="0"/>
              <a:t>Traditional hierarchical algorithms use a similarity or distance matrix</a:t>
            </a:r>
          </a:p>
          <a:p>
            <a:pPr marL="800100" lvl="1" indent="-342900">
              <a:defRPr/>
            </a:pPr>
            <a:r>
              <a:rPr lang="en-US" sz="2000" dirty="0"/>
              <a:t>Merge or split one cluster at a time</a:t>
            </a:r>
          </a:p>
          <a:p>
            <a:pPr lvl="4">
              <a:defRPr/>
            </a:pP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a:extLst>
              <a:ext uri="{FF2B5EF4-FFF2-40B4-BE49-F238E27FC236}">
                <a16:creationId xmlns:a16="http://schemas.microsoft.com/office/drawing/2014/main" id="{1E9ED568-8FC2-4A96-478E-EC50B8450492}"/>
              </a:ext>
            </a:extLst>
          </p:cNvPr>
          <p:cNvSpPr>
            <a:spLocks noGrp="1" noChangeArrowheads="1"/>
          </p:cNvSpPr>
          <p:nvPr>
            <p:ph type="title"/>
          </p:nvPr>
        </p:nvSpPr>
        <p:spPr>
          <a:xfrm>
            <a:off x="834204" y="450849"/>
            <a:ext cx="8280400" cy="552450"/>
          </a:xfrm>
        </p:spPr>
        <p:txBody>
          <a:bodyPr rtlCol="0">
            <a:normAutofit fontScale="90000"/>
          </a:bodyPr>
          <a:lstStyle/>
          <a:p>
            <a:pPr>
              <a:defRPr/>
            </a:pPr>
            <a:r>
              <a:rPr lang="en-US" dirty="0"/>
              <a:t>Agglomerative clustering algorithm</a:t>
            </a:r>
          </a:p>
        </p:txBody>
      </p:sp>
      <p:sp>
        <p:nvSpPr>
          <p:cNvPr id="20483" name="Rectangle 3">
            <a:extLst>
              <a:ext uri="{FF2B5EF4-FFF2-40B4-BE49-F238E27FC236}">
                <a16:creationId xmlns:a16="http://schemas.microsoft.com/office/drawing/2014/main" id="{285E70E6-53FA-8054-3965-B125FDC52AF1}"/>
              </a:ext>
            </a:extLst>
          </p:cNvPr>
          <p:cNvSpPr>
            <a:spLocks noGrp="1" noChangeArrowheads="1"/>
          </p:cNvSpPr>
          <p:nvPr>
            <p:ph type="body" idx="1"/>
          </p:nvPr>
        </p:nvSpPr>
        <p:spPr>
          <a:xfrm>
            <a:off x="834204" y="1600202"/>
            <a:ext cx="10089930" cy="4530725"/>
          </a:xfrm>
        </p:spPr>
        <p:txBody>
          <a:bodyPr>
            <a:normAutofit/>
          </a:bodyPr>
          <a:lstStyle/>
          <a:p>
            <a:pPr marL="533400" indent="-533400"/>
            <a:r>
              <a:rPr lang="en-US" altLang="en-US" sz="2400" dirty="0"/>
              <a:t>Most popular hierarchical clustering technique</a:t>
            </a:r>
          </a:p>
          <a:p>
            <a:pPr marL="2209800" lvl="4" indent="-381000"/>
            <a:endParaRPr lang="en-US" altLang="en-US" sz="700" dirty="0"/>
          </a:p>
          <a:p>
            <a:pPr marL="533400" indent="-533400"/>
            <a:r>
              <a:rPr lang="en-US" altLang="en-US" sz="2400" b="1" u="sng" dirty="0"/>
              <a:t>Basic algorithm</a:t>
            </a:r>
          </a:p>
          <a:p>
            <a:pPr marL="990600" lvl="1" indent="-533400">
              <a:buFont typeface="Arial" panose="020B0604020202020204" pitchFamily="34" charset="0"/>
              <a:buAutoNum type="arabicPeriod"/>
            </a:pPr>
            <a:r>
              <a:rPr lang="en-US" altLang="en-US" sz="2000" dirty="0"/>
              <a:t>Compute the distance matrix between the input data points</a:t>
            </a:r>
          </a:p>
          <a:p>
            <a:pPr marL="990600" lvl="1" indent="-533400">
              <a:buFont typeface="Arial" panose="020B0604020202020204" pitchFamily="34" charset="0"/>
              <a:buAutoNum type="arabicPeriod"/>
            </a:pPr>
            <a:r>
              <a:rPr lang="en-US" altLang="en-US" sz="2000" dirty="0"/>
              <a:t>Let each data point be a cluster</a:t>
            </a:r>
          </a:p>
          <a:p>
            <a:pPr marL="990600" lvl="1" indent="-533400">
              <a:buFont typeface="Arial" panose="020B0604020202020204" pitchFamily="34" charset="0"/>
              <a:buAutoNum type="arabicPeriod"/>
            </a:pPr>
            <a:r>
              <a:rPr lang="en-US" altLang="en-US" sz="2000" b="1" dirty="0"/>
              <a:t>Repeat</a:t>
            </a:r>
          </a:p>
          <a:p>
            <a:pPr marL="990600" lvl="1" indent="-533400">
              <a:buFont typeface="Wingdings" panose="05000000000000000000" pitchFamily="2" charset="2"/>
              <a:buAutoNum type="arabicPeriod"/>
            </a:pPr>
            <a:r>
              <a:rPr lang="en-US" altLang="en-US" sz="2000" dirty="0"/>
              <a:t>	Merge the two closest clusters</a:t>
            </a:r>
          </a:p>
          <a:p>
            <a:pPr marL="990600" lvl="1" indent="-533400">
              <a:buFont typeface="Wingdings" panose="05000000000000000000" pitchFamily="2" charset="2"/>
              <a:buAutoNum type="arabicPeriod"/>
            </a:pPr>
            <a:r>
              <a:rPr lang="en-US" altLang="en-US" sz="2000" dirty="0"/>
              <a:t>	Update the distance matrix</a:t>
            </a:r>
          </a:p>
          <a:p>
            <a:pPr marL="990600" lvl="1" indent="-533400">
              <a:buFont typeface="Arial" panose="020B0604020202020204" pitchFamily="34" charset="0"/>
              <a:buAutoNum type="arabicPeriod"/>
            </a:pPr>
            <a:r>
              <a:rPr lang="en-US" altLang="en-US" sz="2000" b="1" dirty="0"/>
              <a:t>Until</a:t>
            </a:r>
            <a:r>
              <a:rPr lang="en-US" altLang="en-US" sz="2000" dirty="0"/>
              <a:t> only a single cluster remains</a:t>
            </a:r>
          </a:p>
          <a:p>
            <a:pPr marL="990600" lvl="1" indent="-533400">
              <a:buNone/>
            </a:pPr>
            <a:r>
              <a:rPr lang="en-US" altLang="en-US" sz="1000" dirty="0"/>
              <a:t> </a:t>
            </a:r>
          </a:p>
          <a:p>
            <a:pPr marL="533400" indent="-533400"/>
            <a:r>
              <a:rPr lang="en-US" altLang="en-US" sz="2400" dirty="0"/>
              <a:t>Key operation is the computation of the distance between two clusters</a:t>
            </a:r>
          </a:p>
          <a:p>
            <a:pPr marL="990600" lvl="1" indent="-533400"/>
            <a:r>
              <a:rPr lang="en-US" altLang="en-US" sz="2000" dirty="0"/>
              <a:t>Different definitions of the distance between clusters lead to  different algorithms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4EA0D70C-38B8-09F5-0D87-8A0008187BD1}"/>
              </a:ext>
            </a:extLst>
          </p:cNvPr>
          <p:cNvSpPr>
            <a:spLocks noGrp="1" noChangeArrowheads="1"/>
          </p:cNvSpPr>
          <p:nvPr>
            <p:ph type="title"/>
          </p:nvPr>
        </p:nvSpPr>
        <p:spPr/>
        <p:txBody>
          <a:bodyPr/>
          <a:lstStyle/>
          <a:p>
            <a:r>
              <a:rPr lang="en-US" altLang="en-US"/>
              <a:t>Input/ Initial setting</a:t>
            </a:r>
          </a:p>
        </p:txBody>
      </p:sp>
      <p:sp>
        <p:nvSpPr>
          <p:cNvPr id="2052" name="Rectangle 3">
            <a:extLst>
              <a:ext uri="{FF2B5EF4-FFF2-40B4-BE49-F238E27FC236}">
                <a16:creationId xmlns:a16="http://schemas.microsoft.com/office/drawing/2014/main" id="{B7BDEDAA-826F-5FE1-6DD4-6452F941628C}"/>
              </a:ext>
            </a:extLst>
          </p:cNvPr>
          <p:cNvSpPr>
            <a:spLocks noGrp="1" noChangeArrowheads="1"/>
          </p:cNvSpPr>
          <p:nvPr>
            <p:ph type="body" idx="1"/>
          </p:nvPr>
        </p:nvSpPr>
        <p:spPr/>
        <p:txBody>
          <a:bodyPr/>
          <a:lstStyle/>
          <a:p>
            <a:pPr marL="292100" indent="-292100"/>
            <a:r>
              <a:rPr lang="en-US" altLang="en-US"/>
              <a:t>Start with clusters of individual points and a distance/proximity matrix</a:t>
            </a:r>
          </a:p>
          <a:p>
            <a:pPr marL="800100" lvl="1" indent="-342900"/>
            <a:endParaRPr lang="en-US" altLang="en-US"/>
          </a:p>
        </p:txBody>
      </p:sp>
      <p:sp>
        <p:nvSpPr>
          <p:cNvPr id="2053" name="Oval 4">
            <a:extLst>
              <a:ext uri="{FF2B5EF4-FFF2-40B4-BE49-F238E27FC236}">
                <a16:creationId xmlns:a16="http://schemas.microsoft.com/office/drawing/2014/main" id="{6C29C468-EEF8-E4FA-A44D-410383F660B6}"/>
              </a:ext>
            </a:extLst>
          </p:cNvPr>
          <p:cNvSpPr>
            <a:spLocks noChangeArrowheads="1"/>
          </p:cNvSpPr>
          <p:nvPr/>
        </p:nvSpPr>
        <p:spPr bwMode="auto">
          <a:xfrm>
            <a:off x="2239962" y="44037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4" name="Oval 5">
            <a:extLst>
              <a:ext uri="{FF2B5EF4-FFF2-40B4-BE49-F238E27FC236}">
                <a16:creationId xmlns:a16="http://schemas.microsoft.com/office/drawing/2014/main" id="{92106B90-0AC1-A293-7EE4-C0E8E591EB23}"/>
              </a:ext>
            </a:extLst>
          </p:cNvPr>
          <p:cNvSpPr>
            <a:spLocks noChangeArrowheads="1"/>
          </p:cNvSpPr>
          <p:nvPr/>
        </p:nvSpPr>
        <p:spPr bwMode="auto">
          <a:xfrm>
            <a:off x="4297362" y="5470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5" name="Oval 6">
            <a:extLst>
              <a:ext uri="{FF2B5EF4-FFF2-40B4-BE49-F238E27FC236}">
                <a16:creationId xmlns:a16="http://schemas.microsoft.com/office/drawing/2014/main" id="{2D5DFB13-AC8C-BB7D-420E-72F443A75052}"/>
              </a:ext>
            </a:extLst>
          </p:cNvPr>
          <p:cNvSpPr>
            <a:spLocks noChangeArrowheads="1"/>
          </p:cNvSpPr>
          <p:nvPr/>
        </p:nvSpPr>
        <p:spPr bwMode="auto">
          <a:xfrm>
            <a:off x="3154362" y="3565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6" name="Oval 7">
            <a:extLst>
              <a:ext uri="{FF2B5EF4-FFF2-40B4-BE49-F238E27FC236}">
                <a16:creationId xmlns:a16="http://schemas.microsoft.com/office/drawing/2014/main" id="{BE1DDFD3-E83C-A71B-3048-57A0C90B46A8}"/>
              </a:ext>
            </a:extLst>
          </p:cNvPr>
          <p:cNvSpPr>
            <a:spLocks noChangeArrowheads="1"/>
          </p:cNvSpPr>
          <p:nvPr/>
        </p:nvSpPr>
        <p:spPr bwMode="auto">
          <a:xfrm>
            <a:off x="3001962" y="53181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7" name="Oval 8">
            <a:extLst>
              <a:ext uri="{FF2B5EF4-FFF2-40B4-BE49-F238E27FC236}">
                <a16:creationId xmlns:a16="http://schemas.microsoft.com/office/drawing/2014/main" id="{E41C14A6-78DA-2AA0-A7B3-C226C22593DF}"/>
              </a:ext>
            </a:extLst>
          </p:cNvPr>
          <p:cNvSpPr>
            <a:spLocks noChangeArrowheads="1"/>
          </p:cNvSpPr>
          <p:nvPr/>
        </p:nvSpPr>
        <p:spPr bwMode="auto">
          <a:xfrm>
            <a:off x="4678362" y="3565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8" name="Oval 9">
            <a:extLst>
              <a:ext uri="{FF2B5EF4-FFF2-40B4-BE49-F238E27FC236}">
                <a16:creationId xmlns:a16="http://schemas.microsoft.com/office/drawing/2014/main" id="{AAF4DE24-7D78-F919-A99F-A151BD17F571}"/>
              </a:ext>
            </a:extLst>
          </p:cNvPr>
          <p:cNvSpPr>
            <a:spLocks noChangeArrowheads="1"/>
          </p:cNvSpPr>
          <p:nvPr/>
        </p:nvSpPr>
        <p:spPr bwMode="auto">
          <a:xfrm>
            <a:off x="3154362" y="29559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59" name="Oval 10">
            <a:extLst>
              <a:ext uri="{FF2B5EF4-FFF2-40B4-BE49-F238E27FC236}">
                <a16:creationId xmlns:a16="http://schemas.microsoft.com/office/drawing/2014/main" id="{E758B71C-80DE-AA89-B676-D03C34DCE9DC}"/>
              </a:ext>
            </a:extLst>
          </p:cNvPr>
          <p:cNvSpPr>
            <a:spLocks noChangeArrowheads="1"/>
          </p:cNvSpPr>
          <p:nvPr/>
        </p:nvSpPr>
        <p:spPr bwMode="auto">
          <a:xfrm>
            <a:off x="2011362" y="4708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60" name="Oval 11">
            <a:extLst>
              <a:ext uri="{FF2B5EF4-FFF2-40B4-BE49-F238E27FC236}">
                <a16:creationId xmlns:a16="http://schemas.microsoft.com/office/drawing/2014/main" id="{509A261D-270E-F12F-48DF-2921D6496773}"/>
              </a:ext>
            </a:extLst>
          </p:cNvPr>
          <p:cNvSpPr>
            <a:spLocks noChangeArrowheads="1"/>
          </p:cNvSpPr>
          <p:nvPr/>
        </p:nvSpPr>
        <p:spPr bwMode="auto">
          <a:xfrm>
            <a:off x="3382962" y="53181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61" name="Oval 12">
            <a:extLst>
              <a:ext uri="{FF2B5EF4-FFF2-40B4-BE49-F238E27FC236}">
                <a16:creationId xmlns:a16="http://schemas.microsoft.com/office/drawing/2014/main" id="{474DD496-3067-8FA2-B9AC-06395E0AE1CD}"/>
              </a:ext>
            </a:extLst>
          </p:cNvPr>
          <p:cNvSpPr>
            <a:spLocks noChangeArrowheads="1"/>
          </p:cNvSpPr>
          <p:nvPr/>
        </p:nvSpPr>
        <p:spPr bwMode="auto">
          <a:xfrm>
            <a:off x="4678362" y="5089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62" name="Oval 13">
            <a:extLst>
              <a:ext uri="{FF2B5EF4-FFF2-40B4-BE49-F238E27FC236}">
                <a16:creationId xmlns:a16="http://schemas.microsoft.com/office/drawing/2014/main" id="{C5475DAD-8E4D-6483-311F-3BD2E03B6627}"/>
              </a:ext>
            </a:extLst>
          </p:cNvPr>
          <p:cNvSpPr>
            <a:spLocks noChangeArrowheads="1"/>
          </p:cNvSpPr>
          <p:nvPr/>
        </p:nvSpPr>
        <p:spPr bwMode="auto">
          <a:xfrm>
            <a:off x="3687762" y="30321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63" name="Oval 14">
            <a:extLst>
              <a:ext uri="{FF2B5EF4-FFF2-40B4-BE49-F238E27FC236}">
                <a16:creationId xmlns:a16="http://schemas.microsoft.com/office/drawing/2014/main" id="{EAB77394-C999-C8A0-591C-444F8DEC2EA4}"/>
              </a:ext>
            </a:extLst>
          </p:cNvPr>
          <p:cNvSpPr>
            <a:spLocks noChangeArrowheads="1"/>
          </p:cNvSpPr>
          <p:nvPr/>
        </p:nvSpPr>
        <p:spPr bwMode="auto">
          <a:xfrm>
            <a:off x="4754562" y="40989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64" name="Oval 15">
            <a:extLst>
              <a:ext uri="{FF2B5EF4-FFF2-40B4-BE49-F238E27FC236}">
                <a16:creationId xmlns:a16="http://schemas.microsoft.com/office/drawing/2014/main" id="{D5ECA61C-43E0-21A6-6FF7-11C326E86FFB}"/>
              </a:ext>
            </a:extLst>
          </p:cNvPr>
          <p:cNvSpPr>
            <a:spLocks noChangeArrowheads="1"/>
          </p:cNvSpPr>
          <p:nvPr/>
        </p:nvSpPr>
        <p:spPr bwMode="auto">
          <a:xfrm>
            <a:off x="5287962" y="3184525"/>
            <a:ext cx="228600" cy="228600"/>
          </a:xfrm>
          <a:prstGeom prst="ellipse">
            <a:avLst/>
          </a:prstGeom>
          <a:solidFill>
            <a:schemeClr val="bg1"/>
          </a:solidFill>
          <a:ln w="12700">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nvGrpSpPr>
          <p:cNvPr id="2065" name="Group 16">
            <a:extLst>
              <a:ext uri="{FF2B5EF4-FFF2-40B4-BE49-F238E27FC236}">
                <a16:creationId xmlns:a16="http://schemas.microsoft.com/office/drawing/2014/main" id="{E95FD2B9-7EAA-C4BA-AA69-3C53DE7BD5EA}"/>
              </a:ext>
            </a:extLst>
          </p:cNvPr>
          <p:cNvGrpSpPr>
            <a:grpSpLocks/>
          </p:cNvGrpSpPr>
          <p:nvPr/>
        </p:nvGrpSpPr>
        <p:grpSpPr bwMode="auto">
          <a:xfrm>
            <a:off x="6659562" y="2392365"/>
            <a:ext cx="3200400" cy="2611691"/>
            <a:chOff x="3456" y="1622"/>
            <a:chExt cx="2160" cy="1927"/>
          </a:xfrm>
        </p:grpSpPr>
        <p:sp>
          <p:nvSpPr>
            <p:cNvPr id="2067" name="Line 17">
              <a:extLst>
                <a:ext uri="{FF2B5EF4-FFF2-40B4-BE49-F238E27FC236}">
                  <a16:creationId xmlns:a16="http://schemas.microsoft.com/office/drawing/2014/main" id="{D5181941-82F4-B6BD-744E-E00972655995}"/>
                </a:ext>
              </a:extLst>
            </p:cNvPr>
            <p:cNvSpPr>
              <a:spLocks noChangeShapeType="1"/>
            </p:cNvSpPr>
            <p:nvPr/>
          </p:nvSpPr>
          <p:spPr bwMode="auto">
            <a:xfrm>
              <a:off x="3696"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8" name="Line 18">
              <a:extLst>
                <a:ext uri="{FF2B5EF4-FFF2-40B4-BE49-F238E27FC236}">
                  <a16:creationId xmlns:a16="http://schemas.microsoft.com/office/drawing/2014/main" id="{9EEC2C85-A05F-4411-29D4-991D96E38320}"/>
                </a:ext>
              </a:extLst>
            </p:cNvPr>
            <p:cNvSpPr>
              <a:spLocks noChangeShapeType="1"/>
            </p:cNvSpPr>
            <p:nvPr/>
          </p:nvSpPr>
          <p:spPr bwMode="auto">
            <a:xfrm>
              <a:off x="3504" y="1814"/>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9" name="Line 19">
              <a:extLst>
                <a:ext uri="{FF2B5EF4-FFF2-40B4-BE49-F238E27FC236}">
                  <a16:creationId xmlns:a16="http://schemas.microsoft.com/office/drawing/2014/main" id="{D5B7F1DC-C0E1-2CA8-D3B0-9DDDA9CF8286}"/>
                </a:ext>
              </a:extLst>
            </p:cNvPr>
            <p:cNvSpPr>
              <a:spLocks noChangeShapeType="1"/>
            </p:cNvSpPr>
            <p:nvPr/>
          </p:nvSpPr>
          <p:spPr bwMode="auto">
            <a:xfrm>
              <a:off x="4012"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0" name="Line 20">
              <a:extLst>
                <a:ext uri="{FF2B5EF4-FFF2-40B4-BE49-F238E27FC236}">
                  <a16:creationId xmlns:a16="http://schemas.microsoft.com/office/drawing/2014/main" id="{71730731-8BAB-883B-0C52-E1345A86E1C1}"/>
                </a:ext>
              </a:extLst>
            </p:cNvPr>
            <p:cNvSpPr>
              <a:spLocks noChangeShapeType="1"/>
            </p:cNvSpPr>
            <p:nvPr/>
          </p:nvSpPr>
          <p:spPr bwMode="auto">
            <a:xfrm>
              <a:off x="4329"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1" name="Line 21">
              <a:extLst>
                <a:ext uri="{FF2B5EF4-FFF2-40B4-BE49-F238E27FC236}">
                  <a16:creationId xmlns:a16="http://schemas.microsoft.com/office/drawing/2014/main" id="{B512401A-F7B1-691D-E50B-F1259A6B32E5}"/>
                </a:ext>
              </a:extLst>
            </p:cNvPr>
            <p:cNvSpPr>
              <a:spLocks noChangeShapeType="1"/>
            </p:cNvSpPr>
            <p:nvPr/>
          </p:nvSpPr>
          <p:spPr bwMode="auto">
            <a:xfrm>
              <a:off x="4646"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2" name="Line 22">
              <a:extLst>
                <a:ext uri="{FF2B5EF4-FFF2-40B4-BE49-F238E27FC236}">
                  <a16:creationId xmlns:a16="http://schemas.microsoft.com/office/drawing/2014/main" id="{8A5BE58F-9B03-3182-3E4B-914363566BC9}"/>
                </a:ext>
              </a:extLst>
            </p:cNvPr>
            <p:cNvSpPr>
              <a:spLocks noChangeShapeType="1"/>
            </p:cNvSpPr>
            <p:nvPr/>
          </p:nvSpPr>
          <p:spPr bwMode="auto">
            <a:xfrm>
              <a:off x="4963"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3" name="Line 23">
              <a:extLst>
                <a:ext uri="{FF2B5EF4-FFF2-40B4-BE49-F238E27FC236}">
                  <a16:creationId xmlns:a16="http://schemas.microsoft.com/office/drawing/2014/main" id="{2057D0CD-C912-C5AB-7EE2-A42176A08A28}"/>
                </a:ext>
              </a:extLst>
            </p:cNvPr>
            <p:cNvSpPr>
              <a:spLocks noChangeShapeType="1"/>
            </p:cNvSpPr>
            <p:nvPr/>
          </p:nvSpPr>
          <p:spPr bwMode="auto">
            <a:xfrm>
              <a:off x="5280" y="1622"/>
              <a:ext cx="0" cy="1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4" name="Line 24">
              <a:extLst>
                <a:ext uri="{FF2B5EF4-FFF2-40B4-BE49-F238E27FC236}">
                  <a16:creationId xmlns:a16="http://schemas.microsoft.com/office/drawing/2014/main" id="{EEC86208-6A08-5894-CB4B-2A49336F09F3}"/>
                </a:ext>
              </a:extLst>
            </p:cNvPr>
            <p:cNvSpPr>
              <a:spLocks noChangeShapeType="1"/>
            </p:cNvSpPr>
            <p:nvPr/>
          </p:nvSpPr>
          <p:spPr bwMode="auto">
            <a:xfrm>
              <a:off x="3504" y="2073"/>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5" name="Line 25">
              <a:extLst>
                <a:ext uri="{FF2B5EF4-FFF2-40B4-BE49-F238E27FC236}">
                  <a16:creationId xmlns:a16="http://schemas.microsoft.com/office/drawing/2014/main" id="{0A324F34-7DD9-B4F8-CC04-A3B7F4897CD7}"/>
                </a:ext>
              </a:extLst>
            </p:cNvPr>
            <p:cNvSpPr>
              <a:spLocks noChangeShapeType="1"/>
            </p:cNvSpPr>
            <p:nvPr/>
          </p:nvSpPr>
          <p:spPr bwMode="auto">
            <a:xfrm>
              <a:off x="3504" y="2332"/>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6" name="Line 26">
              <a:extLst>
                <a:ext uri="{FF2B5EF4-FFF2-40B4-BE49-F238E27FC236}">
                  <a16:creationId xmlns:a16="http://schemas.microsoft.com/office/drawing/2014/main" id="{DCB573F1-17F0-7905-5F79-A59856BC4BE0}"/>
                </a:ext>
              </a:extLst>
            </p:cNvPr>
            <p:cNvSpPr>
              <a:spLocks noChangeShapeType="1"/>
            </p:cNvSpPr>
            <p:nvPr/>
          </p:nvSpPr>
          <p:spPr bwMode="auto">
            <a:xfrm>
              <a:off x="3504" y="2591"/>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7" name="Line 27">
              <a:extLst>
                <a:ext uri="{FF2B5EF4-FFF2-40B4-BE49-F238E27FC236}">
                  <a16:creationId xmlns:a16="http://schemas.microsoft.com/office/drawing/2014/main" id="{E1C7A1F5-4437-6CE9-DAA4-2839B795356B}"/>
                </a:ext>
              </a:extLst>
            </p:cNvPr>
            <p:cNvSpPr>
              <a:spLocks noChangeShapeType="1"/>
            </p:cNvSpPr>
            <p:nvPr/>
          </p:nvSpPr>
          <p:spPr bwMode="auto">
            <a:xfrm>
              <a:off x="3504" y="2850"/>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8" name="Line 28">
              <a:extLst>
                <a:ext uri="{FF2B5EF4-FFF2-40B4-BE49-F238E27FC236}">
                  <a16:creationId xmlns:a16="http://schemas.microsoft.com/office/drawing/2014/main" id="{665A16E1-ED66-6B93-A02B-EF254E505171}"/>
                </a:ext>
              </a:extLst>
            </p:cNvPr>
            <p:cNvSpPr>
              <a:spLocks noChangeShapeType="1"/>
            </p:cNvSpPr>
            <p:nvPr/>
          </p:nvSpPr>
          <p:spPr bwMode="auto">
            <a:xfrm>
              <a:off x="3504" y="3110"/>
              <a:ext cx="187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9" name="Text Box 29">
              <a:extLst>
                <a:ext uri="{FF2B5EF4-FFF2-40B4-BE49-F238E27FC236}">
                  <a16:creationId xmlns:a16="http://schemas.microsoft.com/office/drawing/2014/main" id="{D87DF7CB-471D-CF21-D09A-A5C9D6777695}"/>
                </a:ext>
              </a:extLst>
            </p:cNvPr>
            <p:cNvSpPr txBox="1">
              <a:spLocks noChangeArrowheads="1"/>
            </p:cNvSpPr>
            <p:nvPr/>
          </p:nvSpPr>
          <p:spPr bwMode="auto">
            <a:xfrm>
              <a:off x="3456" y="1862"/>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p1</a:t>
              </a:r>
            </a:p>
          </p:txBody>
        </p:sp>
        <p:sp>
          <p:nvSpPr>
            <p:cNvPr id="2080" name="Text Box 30">
              <a:extLst>
                <a:ext uri="{FF2B5EF4-FFF2-40B4-BE49-F238E27FC236}">
                  <a16:creationId xmlns:a16="http://schemas.microsoft.com/office/drawing/2014/main" id="{76F2D17F-9084-78EF-3077-A2D03FEED198}"/>
                </a:ext>
              </a:extLst>
            </p:cNvPr>
            <p:cNvSpPr txBox="1">
              <a:spLocks noChangeArrowheads="1"/>
            </p:cNvSpPr>
            <p:nvPr/>
          </p:nvSpPr>
          <p:spPr bwMode="auto">
            <a:xfrm>
              <a:off x="3456" y="2390"/>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p3</a:t>
              </a:r>
            </a:p>
          </p:txBody>
        </p:sp>
        <p:sp>
          <p:nvSpPr>
            <p:cNvPr id="2081" name="Text Box 31">
              <a:extLst>
                <a:ext uri="{FF2B5EF4-FFF2-40B4-BE49-F238E27FC236}">
                  <a16:creationId xmlns:a16="http://schemas.microsoft.com/office/drawing/2014/main" id="{52FA4DB3-EA7F-7B35-2E0D-A4F2A72A29A3}"/>
                </a:ext>
              </a:extLst>
            </p:cNvPr>
            <p:cNvSpPr txBox="1">
              <a:spLocks noChangeArrowheads="1"/>
            </p:cNvSpPr>
            <p:nvPr/>
          </p:nvSpPr>
          <p:spPr bwMode="auto">
            <a:xfrm>
              <a:off x="3456" y="2917"/>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p5</a:t>
              </a:r>
            </a:p>
          </p:txBody>
        </p:sp>
        <p:sp>
          <p:nvSpPr>
            <p:cNvPr id="2082" name="Text Box 32">
              <a:extLst>
                <a:ext uri="{FF2B5EF4-FFF2-40B4-BE49-F238E27FC236}">
                  <a16:creationId xmlns:a16="http://schemas.microsoft.com/office/drawing/2014/main" id="{C97C3A9C-D738-745A-3EF4-67EC43CB03A0}"/>
                </a:ext>
              </a:extLst>
            </p:cNvPr>
            <p:cNvSpPr txBox="1">
              <a:spLocks noChangeArrowheads="1"/>
            </p:cNvSpPr>
            <p:nvPr/>
          </p:nvSpPr>
          <p:spPr bwMode="auto">
            <a:xfrm>
              <a:off x="3456" y="2679"/>
              <a:ext cx="33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p4</a:t>
              </a:r>
            </a:p>
          </p:txBody>
        </p:sp>
        <p:sp>
          <p:nvSpPr>
            <p:cNvPr id="2083" name="Text Box 33">
              <a:extLst>
                <a:ext uri="{FF2B5EF4-FFF2-40B4-BE49-F238E27FC236}">
                  <a16:creationId xmlns:a16="http://schemas.microsoft.com/office/drawing/2014/main" id="{CE5595EC-11EA-6B6C-2407-6F421D814015}"/>
                </a:ext>
              </a:extLst>
            </p:cNvPr>
            <p:cNvSpPr txBox="1">
              <a:spLocks noChangeArrowheads="1"/>
            </p:cNvSpPr>
            <p:nvPr/>
          </p:nvSpPr>
          <p:spPr bwMode="auto">
            <a:xfrm>
              <a:off x="3456" y="2150"/>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p2</a:t>
              </a:r>
            </a:p>
          </p:txBody>
        </p:sp>
        <p:sp>
          <p:nvSpPr>
            <p:cNvPr id="2084" name="Text Box 34">
              <a:extLst>
                <a:ext uri="{FF2B5EF4-FFF2-40B4-BE49-F238E27FC236}">
                  <a16:creationId xmlns:a16="http://schemas.microsoft.com/office/drawing/2014/main" id="{EDE732B9-5A5C-7FF7-AB66-E55964A3D97D}"/>
                </a:ext>
              </a:extLst>
            </p:cNvPr>
            <p:cNvSpPr txBox="1">
              <a:spLocks noChangeArrowheads="1"/>
            </p:cNvSpPr>
            <p:nvPr/>
          </p:nvSpPr>
          <p:spPr bwMode="auto">
            <a:xfrm>
              <a:off x="3744" y="1622"/>
              <a:ext cx="33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p1</a:t>
              </a:r>
            </a:p>
          </p:txBody>
        </p:sp>
        <p:sp>
          <p:nvSpPr>
            <p:cNvPr id="2085" name="Text Box 35">
              <a:extLst>
                <a:ext uri="{FF2B5EF4-FFF2-40B4-BE49-F238E27FC236}">
                  <a16:creationId xmlns:a16="http://schemas.microsoft.com/office/drawing/2014/main" id="{89C80804-25F1-6686-972F-6F09BE2ADA53}"/>
                </a:ext>
              </a:extLst>
            </p:cNvPr>
            <p:cNvSpPr txBox="1">
              <a:spLocks noChangeArrowheads="1"/>
            </p:cNvSpPr>
            <p:nvPr/>
          </p:nvSpPr>
          <p:spPr bwMode="auto">
            <a:xfrm>
              <a:off x="4032" y="1622"/>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p2</a:t>
              </a:r>
            </a:p>
          </p:txBody>
        </p:sp>
        <p:sp>
          <p:nvSpPr>
            <p:cNvPr id="2086" name="Text Box 36">
              <a:extLst>
                <a:ext uri="{FF2B5EF4-FFF2-40B4-BE49-F238E27FC236}">
                  <a16:creationId xmlns:a16="http://schemas.microsoft.com/office/drawing/2014/main" id="{07845AEA-C7CE-1BF6-D9EB-FF8E93EAEB9A}"/>
                </a:ext>
              </a:extLst>
            </p:cNvPr>
            <p:cNvSpPr txBox="1">
              <a:spLocks noChangeArrowheads="1"/>
            </p:cNvSpPr>
            <p:nvPr/>
          </p:nvSpPr>
          <p:spPr bwMode="auto">
            <a:xfrm>
              <a:off x="4368" y="1622"/>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p3</a:t>
              </a:r>
            </a:p>
          </p:txBody>
        </p:sp>
        <p:sp>
          <p:nvSpPr>
            <p:cNvPr id="2087" name="Text Box 37">
              <a:extLst>
                <a:ext uri="{FF2B5EF4-FFF2-40B4-BE49-F238E27FC236}">
                  <a16:creationId xmlns:a16="http://schemas.microsoft.com/office/drawing/2014/main" id="{064BCEF0-87A0-5029-E056-EFB61DDD2B41}"/>
                </a:ext>
              </a:extLst>
            </p:cNvPr>
            <p:cNvSpPr txBox="1">
              <a:spLocks noChangeArrowheads="1"/>
            </p:cNvSpPr>
            <p:nvPr/>
          </p:nvSpPr>
          <p:spPr bwMode="auto">
            <a:xfrm>
              <a:off x="4704" y="1622"/>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p4</a:t>
              </a:r>
            </a:p>
          </p:txBody>
        </p:sp>
        <p:sp>
          <p:nvSpPr>
            <p:cNvPr id="2088" name="Text Box 38">
              <a:extLst>
                <a:ext uri="{FF2B5EF4-FFF2-40B4-BE49-F238E27FC236}">
                  <a16:creationId xmlns:a16="http://schemas.microsoft.com/office/drawing/2014/main" id="{BAE59407-3111-39E1-3824-5E00FF6297FC}"/>
                </a:ext>
              </a:extLst>
            </p:cNvPr>
            <p:cNvSpPr txBox="1">
              <a:spLocks noChangeArrowheads="1"/>
            </p:cNvSpPr>
            <p:nvPr/>
          </p:nvSpPr>
          <p:spPr bwMode="auto">
            <a:xfrm>
              <a:off x="4944" y="1622"/>
              <a:ext cx="3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400" b="1">
                  <a:latin typeface="Arial" panose="020B0604020202020204" pitchFamily="34" charset="0"/>
                </a:rPr>
                <a:t>p5</a:t>
              </a:r>
            </a:p>
          </p:txBody>
        </p:sp>
        <p:sp>
          <p:nvSpPr>
            <p:cNvPr id="2089" name="Text Box 39">
              <a:extLst>
                <a:ext uri="{FF2B5EF4-FFF2-40B4-BE49-F238E27FC236}">
                  <a16:creationId xmlns:a16="http://schemas.microsoft.com/office/drawing/2014/main" id="{4A6E63E9-0242-7485-4EE8-51ED2E7CBE95}"/>
                </a:ext>
              </a:extLst>
            </p:cNvPr>
            <p:cNvSpPr txBox="1">
              <a:spLocks noChangeArrowheads="1"/>
            </p:cNvSpPr>
            <p:nvPr/>
          </p:nvSpPr>
          <p:spPr bwMode="auto">
            <a:xfrm>
              <a:off x="5280" y="1622"/>
              <a:ext cx="33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latin typeface="Arial" panose="020B0604020202020204" pitchFamily="34" charset="0"/>
                </a:rPr>
                <a:t>. . .</a:t>
              </a:r>
            </a:p>
          </p:txBody>
        </p:sp>
        <p:sp>
          <p:nvSpPr>
            <p:cNvPr id="2090" name="Text Box 40">
              <a:extLst>
                <a:ext uri="{FF2B5EF4-FFF2-40B4-BE49-F238E27FC236}">
                  <a16:creationId xmlns:a16="http://schemas.microsoft.com/office/drawing/2014/main" id="{490FE9F7-964A-2113-D633-97250A1F7282}"/>
                </a:ext>
              </a:extLst>
            </p:cNvPr>
            <p:cNvSpPr txBox="1">
              <a:spLocks noChangeArrowheads="1"/>
            </p:cNvSpPr>
            <p:nvPr/>
          </p:nvSpPr>
          <p:spPr bwMode="auto">
            <a:xfrm>
              <a:off x="3504" y="3072"/>
              <a:ext cx="192"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b="1">
                  <a:latin typeface="Arial" panose="020B0604020202020204" pitchFamily="34" charset="0"/>
                </a:rPr>
                <a:t>.</a:t>
              </a:r>
            </a:p>
            <a:p>
              <a:r>
                <a:rPr lang="en-US" altLang="en-US" sz="1200" b="1">
                  <a:latin typeface="Arial" panose="020B0604020202020204" pitchFamily="34" charset="0"/>
                </a:rPr>
                <a:t>.</a:t>
              </a:r>
            </a:p>
            <a:p>
              <a:r>
                <a:rPr lang="en-US" altLang="en-US" sz="1200" b="1">
                  <a:latin typeface="Arial" panose="020B0604020202020204" pitchFamily="34" charset="0"/>
                </a:rPr>
                <a:t>.</a:t>
              </a:r>
            </a:p>
          </p:txBody>
        </p:sp>
      </p:grpSp>
      <p:sp>
        <p:nvSpPr>
          <p:cNvPr id="2066" name="Text Box 41">
            <a:extLst>
              <a:ext uri="{FF2B5EF4-FFF2-40B4-BE49-F238E27FC236}">
                <a16:creationId xmlns:a16="http://schemas.microsoft.com/office/drawing/2014/main" id="{E6B03CE5-279C-7FB1-FE68-7158E3C7C42F}"/>
              </a:ext>
            </a:extLst>
          </p:cNvPr>
          <p:cNvSpPr txBox="1">
            <a:spLocks noChangeArrowheads="1"/>
          </p:cNvSpPr>
          <p:nvPr/>
        </p:nvSpPr>
        <p:spPr bwMode="auto">
          <a:xfrm>
            <a:off x="6659562" y="4724400"/>
            <a:ext cx="3124200" cy="75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Distance/Proximity Matrix</a:t>
            </a:r>
          </a:p>
        </p:txBody>
      </p:sp>
      <p:graphicFrame>
        <p:nvGraphicFramePr>
          <p:cNvPr id="2050" name="Object 2">
            <a:extLst>
              <a:ext uri="{FF2B5EF4-FFF2-40B4-BE49-F238E27FC236}">
                <a16:creationId xmlns:a16="http://schemas.microsoft.com/office/drawing/2014/main" id="{7BF19720-CCF1-36E6-4835-F444BAFCDBF6}"/>
              </a:ext>
            </a:extLst>
          </p:cNvPr>
          <p:cNvGraphicFramePr>
            <a:graphicFrameLocks noGrp="1" noChangeAspect="1"/>
          </p:cNvGraphicFramePr>
          <p:nvPr>
            <p:ph sz="half" idx="4294967295"/>
          </p:nvPr>
        </p:nvGraphicFramePr>
        <p:xfrm>
          <a:off x="6127750" y="5507040"/>
          <a:ext cx="4013200" cy="623887"/>
        </p:xfrm>
        <a:graphic>
          <a:graphicData uri="http://schemas.openxmlformats.org/presentationml/2006/ole">
            <mc:AlternateContent xmlns:mc="http://schemas.openxmlformats.org/markup-compatibility/2006">
              <mc:Choice xmlns:v="urn:schemas-microsoft-com:vml" Requires="v">
                <p:oleObj name="Visio" r:id="rId3" imgW="7949438" imgH="1399827" progId="">
                  <p:embed/>
                </p:oleObj>
              </mc:Choice>
              <mc:Fallback>
                <p:oleObj name="Visio" r:id="rId3" imgW="7949438" imgH="1399827" progId="">
                  <p:embed/>
                  <p:pic>
                    <p:nvPicPr>
                      <p:cNvPr id="2050" name="Object 2">
                        <a:extLst>
                          <a:ext uri="{FF2B5EF4-FFF2-40B4-BE49-F238E27FC236}">
                            <a16:creationId xmlns:a16="http://schemas.microsoft.com/office/drawing/2014/main" id="{7BF19720-CCF1-36E6-4835-F444BAFCDB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0" y="5507040"/>
                        <a:ext cx="4013200"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01E332D-84D8-1D82-45E5-AD0943655E91}"/>
              </a:ext>
            </a:extLst>
          </p:cNvPr>
          <p:cNvSpPr>
            <a:spLocks noGrp="1"/>
          </p:cNvSpPr>
          <p:nvPr>
            <p:ph type="title"/>
          </p:nvPr>
        </p:nvSpPr>
        <p:spPr/>
        <p:txBody>
          <a:bodyPr/>
          <a:lstStyle/>
          <a:p>
            <a:r>
              <a:rPr lang="en-US" altLang="en-US"/>
              <a:t>Distance between two clusters</a:t>
            </a:r>
          </a:p>
        </p:txBody>
      </p:sp>
      <p:sp>
        <p:nvSpPr>
          <p:cNvPr id="21507" name="Content Placeholder 2">
            <a:extLst>
              <a:ext uri="{FF2B5EF4-FFF2-40B4-BE49-F238E27FC236}">
                <a16:creationId xmlns:a16="http://schemas.microsoft.com/office/drawing/2014/main" id="{908C2A0A-A7A7-3A04-743F-B75D9E6FF6A2}"/>
              </a:ext>
            </a:extLst>
          </p:cNvPr>
          <p:cNvSpPr>
            <a:spLocks noGrp="1"/>
          </p:cNvSpPr>
          <p:nvPr>
            <p:ph idx="1"/>
          </p:nvPr>
        </p:nvSpPr>
        <p:spPr/>
        <p:txBody>
          <a:bodyPr/>
          <a:lstStyle/>
          <a:p>
            <a:r>
              <a:rPr lang="en-US" altLang="en-US" dirty="0"/>
              <a:t>Each cluster is a set of points</a:t>
            </a:r>
          </a:p>
          <a:p>
            <a:endParaRPr lang="en-US" altLang="en-US" dirty="0"/>
          </a:p>
          <a:p>
            <a:r>
              <a:rPr lang="en-US" altLang="en-US" dirty="0"/>
              <a:t>How do we define distance between two sets of points?</a:t>
            </a:r>
          </a:p>
          <a:p>
            <a:pPr lvl="1"/>
            <a:r>
              <a:rPr lang="en-US" altLang="en-US" dirty="0"/>
              <a:t>Lots of alternatives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a:extLst>
              <a:ext uri="{FF2B5EF4-FFF2-40B4-BE49-F238E27FC236}">
                <a16:creationId xmlns:a16="http://schemas.microsoft.com/office/drawing/2014/main" id="{D99B209C-FBE0-07A3-00EF-194789587CBF}"/>
              </a:ext>
            </a:extLst>
          </p:cNvPr>
          <p:cNvSpPr>
            <a:spLocks noGrp="1"/>
          </p:cNvSpPr>
          <p:nvPr>
            <p:ph type="title"/>
          </p:nvPr>
        </p:nvSpPr>
        <p:spPr/>
        <p:txBody>
          <a:bodyPr/>
          <a:lstStyle/>
          <a:p>
            <a:r>
              <a:rPr lang="en-US" altLang="en-US"/>
              <a:t>Distance between two clusters</a:t>
            </a:r>
          </a:p>
        </p:txBody>
      </p:sp>
      <p:sp>
        <p:nvSpPr>
          <p:cNvPr id="6148" name="Content Placeholder 2">
            <a:extLst>
              <a:ext uri="{FF2B5EF4-FFF2-40B4-BE49-F238E27FC236}">
                <a16:creationId xmlns:a16="http://schemas.microsoft.com/office/drawing/2014/main" id="{614505BD-B319-06DB-F8E6-B26BCF3213A4}"/>
              </a:ext>
            </a:extLst>
          </p:cNvPr>
          <p:cNvSpPr>
            <a:spLocks noGrp="1"/>
          </p:cNvSpPr>
          <p:nvPr>
            <p:ph idx="1"/>
          </p:nvPr>
        </p:nvSpPr>
        <p:spPr/>
        <p:txBody>
          <a:bodyPr/>
          <a:lstStyle/>
          <a:p>
            <a:r>
              <a:rPr lang="en-US" altLang="en-US" b="1">
                <a:solidFill>
                  <a:srgbClr val="FF0000"/>
                </a:solidFill>
              </a:rPr>
              <a:t>Single-link distance </a:t>
            </a:r>
            <a:r>
              <a:rPr lang="en-US" altLang="en-US"/>
              <a:t>between clusters </a:t>
            </a:r>
            <a:r>
              <a:rPr lang="en-US" altLang="en-US" b="1">
                <a:solidFill>
                  <a:schemeClr val="accent1"/>
                </a:solidFill>
              </a:rPr>
              <a:t>C</a:t>
            </a:r>
            <a:r>
              <a:rPr lang="en-US" altLang="en-US" b="1" baseline="-25000">
                <a:solidFill>
                  <a:schemeClr val="accent1"/>
                </a:solidFill>
              </a:rPr>
              <a:t>i</a:t>
            </a:r>
            <a:r>
              <a:rPr lang="en-US" altLang="en-US"/>
              <a:t> and </a:t>
            </a:r>
            <a:r>
              <a:rPr lang="en-US" altLang="en-US" b="1">
                <a:solidFill>
                  <a:schemeClr val="accent1"/>
                </a:solidFill>
              </a:rPr>
              <a:t>C</a:t>
            </a:r>
            <a:r>
              <a:rPr lang="en-US" altLang="en-US" b="1" baseline="-25000">
                <a:solidFill>
                  <a:schemeClr val="accent1"/>
                </a:solidFill>
              </a:rPr>
              <a:t>j</a:t>
            </a:r>
            <a:r>
              <a:rPr lang="en-US" altLang="en-US" baseline="-25000"/>
              <a:t> </a:t>
            </a:r>
            <a:r>
              <a:rPr lang="en-US" altLang="en-US"/>
              <a:t>is the </a:t>
            </a:r>
            <a:r>
              <a:rPr lang="en-US" altLang="en-US" b="1" i="1"/>
              <a:t>minimum distance </a:t>
            </a:r>
            <a:r>
              <a:rPr lang="en-US" altLang="en-US"/>
              <a:t>between any object in </a:t>
            </a:r>
            <a:r>
              <a:rPr lang="en-US" altLang="en-US" b="1">
                <a:solidFill>
                  <a:schemeClr val="accent1"/>
                </a:solidFill>
              </a:rPr>
              <a:t>C</a:t>
            </a:r>
            <a:r>
              <a:rPr lang="en-US" altLang="en-US" b="1" baseline="-25000">
                <a:solidFill>
                  <a:schemeClr val="accent1"/>
                </a:solidFill>
              </a:rPr>
              <a:t>i</a:t>
            </a:r>
            <a:r>
              <a:rPr lang="en-US" altLang="en-US"/>
              <a:t> and any object in </a:t>
            </a:r>
            <a:r>
              <a:rPr lang="en-US" altLang="en-US" b="1">
                <a:solidFill>
                  <a:schemeClr val="accent1"/>
                </a:solidFill>
              </a:rPr>
              <a:t>C</a:t>
            </a:r>
            <a:r>
              <a:rPr lang="en-US" altLang="en-US" b="1" baseline="-25000">
                <a:solidFill>
                  <a:schemeClr val="accent1"/>
                </a:solidFill>
              </a:rPr>
              <a:t>j </a:t>
            </a:r>
          </a:p>
          <a:p>
            <a:endParaRPr lang="en-US" altLang="en-US"/>
          </a:p>
          <a:p>
            <a:r>
              <a:rPr lang="en-US" altLang="en-US"/>
              <a:t>The distance is </a:t>
            </a:r>
            <a:r>
              <a:rPr lang="en-US" altLang="en-US" b="1"/>
              <a:t>defined by the two most similar objects</a:t>
            </a:r>
            <a:endParaRPr lang="en-US" altLang="en-US" b="1" baseline="-25000"/>
          </a:p>
          <a:p>
            <a:endParaRPr lang="en-US" altLang="en-US"/>
          </a:p>
          <a:p>
            <a:endParaRPr lang="en-US" altLang="en-US"/>
          </a:p>
        </p:txBody>
      </p:sp>
      <p:graphicFrame>
        <p:nvGraphicFramePr>
          <p:cNvPr id="6146" name="Object 2">
            <a:extLst>
              <a:ext uri="{FF2B5EF4-FFF2-40B4-BE49-F238E27FC236}">
                <a16:creationId xmlns:a16="http://schemas.microsoft.com/office/drawing/2014/main" id="{D7F53FF7-00B4-B053-57A9-93D24865EC54}"/>
              </a:ext>
            </a:extLst>
          </p:cNvPr>
          <p:cNvGraphicFramePr>
            <a:graphicFrameLocks noChangeAspect="1"/>
          </p:cNvGraphicFramePr>
          <p:nvPr/>
        </p:nvGraphicFramePr>
        <p:xfrm>
          <a:off x="3040062" y="4130565"/>
          <a:ext cx="6172200" cy="685800"/>
        </p:xfrm>
        <a:graphic>
          <a:graphicData uri="http://schemas.openxmlformats.org/presentationml/2006/ole">
            <mc:AlternateContent xmlns:mc="http://schemas.openxmlformats.org/markup-compatibility/2006">
              <mc:Choice xmlns:v="urn:schemas-microsoft-com:vml" Requires="v">
                <p:oleObj name="Equation" r:id="rId2" imgW="2565360" imgH="279360" progId="Equation.3">
                  <p:embed/>
                </p:oleObj>
              </mc:Choice>
              <mc:Fallback>
                <p:oleObj name="Equation" r:id="rId2" imgW="2565360" imgH="279360" progId="Equation.3">
                  <p:embed/>
                  <p:pic>
                    <p:nvPicPr>
                      <p:cNvPr id="6146" name="Object 2">
                        <a:extLst>
                          <a:ext uri="{FF2B5EF4-FFF2-40B4-BE49-F238E27FC236}">
                            <a16:creationId xmlns:a16="http://schemas.microsoft.com/office/drawing/2014/main" id="{D7F53FF7-00B4-B053-57A9-93D24865E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062" y="4130565"/>
                        <a:ext cx="6172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a:extLst>
              <a:ext uri="{FF2B5EF4-FFF2-40B4-BE49-F238E27FC236}">
                <a16:creationId xmlns:a16="http://schemas.microsoft.com/office/drawing/2014/main" id="{0A5AF0F7-D98D-A5CC-1D33-02B0D26CFC8A}"/>
              </a:ext>
            </a:extLst>
          </p:cNvPr>
          <p:cNvSpPr>
            <a:spLocks noGrp="1" noChangeArrowheads="1"/>
          </p:cNvSpPr>
          <p:nvPr>
            <p:ph type="title"/>
          </p:nvPr>
        </p:nvSpPr>
        <p:spPr>
          <a:xfrm>
            <a:off x="1185862" y="400845"/>
            <a:ext cx="8280400" cy="552450"/>
          </a:xfrm>
        </p:spPr>
        <p:txBody>
          <a:bodyPr rtlCol="0">
            <a:normAutofit fontScale="90000"/>
          </a:bodyPr>
          <a:lstStyle/>
          <a:p>
            <a:pPr>
              <a:defRPr/>
            </a:pPr>
            <a:r>
              <a:rPr lang="en-US" dirty="0"/>
              <a:t>Strengths of single-link clustering</a:t>
            </a:r>
          </a:p>
        </p:txBody>
      </p:sp>
      <p:sp>
        <p:nvSpPr>
          <p:cNvPr id="23555" name="Text Box 3">
            <a:extLst>
              <a:ext uri="{FF2B5EF4-FFF2-40B4-BE49-F238E27FC236}">
                <a16:creationId xmlns:a16="http://schemas.microsoft.com/office/drawing/2014/main" id="{2A0C8697-10D7-B2D5-58C9-69ACE8B13FB7}"/>
              </a:ext>
            </a:extLst>
          </p:cNvPr>
          <p:cNvSpPr txBox="1">
            <a:spLocks noChangeArrowheads="1"/>
          </p:cNvSpPr>
          <p:nvPr/>
        </p:nvSpPr>
        <p:spPr bwMode="auto">
          <a:xfrm>
            <a:off x="2620962" y="4267201"/>
            <a:ext cx="2895600" cy="4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Original Points</a:t>
            </a:r>
          </a:p>
        </p:txBody>
      </p:sp>
      <p:grpSp>
        <p:nvGrpSpPr>
          <p:cNvPr id="2" name="Group 4">
            <a:extLst>
              <a:ext uri="{FF2B5EF4-FFF2-40B4-BE49-F238E27FC236}">
                <a16:creationId xmlns:a16="http://schemas.microsoft.com/office/drawing/2014/main" id="{3C1948DD-8138-A328-DE6C-8FB74F05127F}"/>
              </a:ext>
            </a:extLst>
          </p:cNvPr>
          <p:cNvGrpSpPr>
            <a:grpSpLocks/>
          </p:cNvGrpSpPr>
          <p:nvPr/>
        </p:nvGrpSpPr>
        <p:grpSpPr bwMode="auto">
          <a:xfrm>
            <a:off x="6430962" y="1981202"/>
            <a:ext cx="4103688" cy="2711451"/>
            <a:chOff x="3072" y="1248"/>
            <a:chExt cx="2585" cy="1708"/>
          </a:xfrm>
        </p:grpSpPr>
        <p:sp>
          <p:nvSpPr>
            <p:cNvPr id="23559" name="Text Box 5">
              <a:extLst>
                <a:ext uri="{FF2B5EF4-FFF2-40B4-BE49-F238E27FC236}">
                  <a16:creationId xmlns:a16="http://schemas.microsoft.com/office/drawing/2014/main" id="{3B2A9898-689C-298B-2267-8FD564DE392C}"/>
                </a:ext>
              </a:extLst>
            </p:cNvPr>
            <p:cNvSpPr txBox="1">
              <a:spLocks noChangeArrowheads="1"/>
            </p:cNvSpPr>
            <p:nvPr/>
          </p:nvSpPr>
          <p:spPr bwMode="auto">
            <a:xfrm>
              <a:off x="3408" y="2688"/>
              <a:ext cx="148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Two Clusters</a:t>
              </a:r>
            </a:p>
          </p:txBody>
        </p:sp>
        <p:pic>
          <p:nvPicPr>
            <p:cNvPr id="23560" name="Picture 6">
              <a:extLst>
                <a:ext uri="{FF2B5EF4-FFF2-40B4-BE49-F238E27FC236}">
                  <a16:creationId xmlns:a16="http://schemas.microsoft.com/office/drawing/2014/main" id="{82AA19CB-FA7C-916C-2D1D-87121A678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928" r="7143"/>
            <a:stretch>
              <a:fillRect/>
            </a:stretch>
          </p:blipFill>
          <p:spPr bwMode="auto">
            <a:xfrm>
              <a:off x="3072" y="1248"/>
              <a:ext cx="2585" cy="1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pic>
        <p:nvPicPr>
          <p:cNvPr id="23557" name="Picture 7">
            <a:extLst>
              <a:ext uri="{FF2B5EF4-FFF2-40B4-BE49-F238E27FC236}">
                <a16:creationId xmlns:a16="http://schemas.microsoft.com/office/drawing/2014/main" id="{45251DBE-CCD4-C605-CA70-4AB54F24B9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928" r="5357"/>
          <a:stretch>
            <a:fillRect/>
          </a:stretch>
        </p:blipFill>
        <p:spPr bwMode="auto">
          <a:xfrm>
            <a:off x="1706562" y="1981202"/>
            <a:ext cx="4186238"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a:extLst>
              <a:ext uri="{FF2B5EF4-FFF2-40B4-BE49-F238E27FC236}">
                <a16:creationId xmlns:a16="http://schemas.microsoft.com/office/drawing/2014/main" id="{093DB093-106F-FA86-3137-7333824235E1}"/>
              </a:ext>
            </a:extLst>
          </p:cNvPr>
          <p:cNvSpPr>
            <a:spLocks noGrp="1" noChangeArrowheads="1"/>
          </p:cNvSpPr>
          <p:nvPr>
            <p:ph type="title"/>
          </p:nvPr>
        </p:nvSpPr>
        <p:spPr>
          <a:xfrm>
            <a:off x="1376362" y="592083"/>
            <a:ext cx="8280400" cy="552450"/>
          </a:xfrm>
        </p:spPr>
        <p:txBody>
          <a:bodyPr rtlCol="0">
            <a:normAutofit fontScale="90000"/>
          </a:bodyPr>
          <a:lstStyle/>
          <a:p>
            <a:pPr>
              <a:defRPr/>
            </a:pPr>
            <a:r>
              <a:rPr lang="en-US" dirty="0"/>
              <a:t>Limitations of single-link clustering</a:t>
            </a:r>
          </a:p>
        </p:txBody>
      </p:sp>
      <p:sp>
        <p:nvSpPr>
          <p:cNvPr id="24579" name="Text Box 3">
            <a:extLst>
              <a:ext uri="{FF2B5EF4-FFF2-40B4-BE49-F238E27FC236}">
                <a16:creationId xmlns:a16="http://schemas.microsoft.com/office/drawing/2014/main" id="{ED14DEFB-CB98-098B-7E8D-9AEFAE595738}"/>
              </a:ext>
            </a:extLst>
          </p:cNvPr>
          <p:cNvSpPr txBox="1">
            <a:spLocks noChangeArrowheads="1"/>
          </p:cNvSpPr>
          <p:nvPr/>
        </p:nvSpPr>
        <p:spPr bwMode="auto">
          <a:xfrm>
            <a:off x="2620962" y="4724401"/>
            <a:ext cx="2895600" cy="4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Original Points</a:t>
            </a:r>
          </a:p>
        </p:txBody>
      </p:sp>
      <p:pic>
        <p:nvPicPr>
          <p:cNvPr id="24580" name="Picture 4">
            <a:extLst>
              <a:ext uri="{FF2B5EF4-FFF2-40B4-BE49-F238E27FC236}">
                <a16:creationId xmlns:a16="http://schemas.microsoft.com/office/drawing/2014/main" id="{60DADE18-D2C8-D01A-8626-3878DD538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4162" y="1524000"/>
            <a:ext cx="42687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2" name="Group 5">
            <a:extLst>
              <a:ext uri="{FF2B5EF4-FFF2-40B4-BE49-F238E27FC236}">
                <a16:creationId xmlns:a16="http://schemas.microsoft.com/office/drawing/2014/main" id="{F6E9D70F-75F4-B7EE-4F39-50A3719EB55D}"/>
              </a:ext>
            </a:extLst>
          </p:cNvPr>
          <p:cNvGrpSpPr>
            <a:grpSpLocks/>
          </p:cNvGrpSpPr>
          <p:nvPr/>
        </p:nvGrpSpPr>
        <p:grpSpPr bwMode="auto">
          <a:xfrm>
            <a:off x="5819777" y="1524002"/>
            <a:ext cx="4268787" cy="3625851"/>
            <a:chOff x="2496" y="960"/>
            <a:chExt cx="2689" cy="2284"/>
          </a:xfrm>
        </p:grpSpPr>
        <p:sp>
          <p:nvSpPr>
            <p:cNvPr id="24583" name="Text Box 6">
              <a:extLst>
                <a:ext uri="{FF2B5EF4-FFF2-40B4-BE49-F238E27FC236}">
                  <a16:creationId xmlns:a16="http://schemas.microsoft.com/office/drawing/2014/main" id="{B1D3DE45-0162-DF6D-6260-E5866FFDB164}"/>
                </a:ext>
              </a:extLst>
            </p:cNvPr>
            <p:cNvSpPr txBox="1">
              <a:spLocks noChangeArrowheads="1"/>
            </p:cNvSpPr>
            <p:nvPr/>
          </p:nvSpPr>
          <p:spPr bwMode="auto">
            <a:xfrm>
              <a:off x="3072" y="2976"/>
              <a:ext cx="182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Two Clusters</a:t>
              </a:r>
            </a:p>
          </p:txBody>
        </p:sp>
        <p:pic>
          <p:nvPicPr>
            <p:cNvPr id="24584" name="Picture 7">
              <a:extLst>
                <a:ext uri="{FF2B5EF4-FFF2-40B4-BE49-F238E27FC236}">
                  <a16:creationId xmlns:a16="http://schemas.microsoft.com/office/drawing/2014/main" id="{0745C7E7-A292-1687-A670-AD0A9CB13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6" y="960"/>
              <a:ext cx="2689"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650248" name="Text Box 8">
            <a:extLst>
              <a:ext uri="{FF2B5EF4-FFF2-40B4-BE49-F238E27FC236}">
                <a16:creationId xmlns:a16="http://schemas.microsoft.com/office/drawing/2014/main" id="{0CAC43F5-9104-11CD-58AD-DDF24F3FC536}"/>
              </a:ext>
            </a:extLst>
          </p:cNvPr>
          <p:cNvSpPr txBox="1">
            <a:spLocks noChangeArrowheads="1"/>
          </p:cNvSpPr>
          <p:nvPr/>
        </p:nvSpPr>
        <p:spPr bwMode="auto">
          <a:xfrm>
            <a:off x="2163762" y="5576888"/>
            <a:ext cx="6324600" cy="75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b="1">
                <a:latin typeface="Arial" panose="020B0604020202020204" pitchFamily="34" charset="0"/>
              </a:rPr>
              <a:t> Sensitive to noise and outliers</a:t>
            </a:r>
          </a:p>
          <a:p>
            <a:pPr>
              <a:buFontTx/>
              <a:buChar char="•"/>
            </a:pPr>
            <a:r>
              <a:rPr lang="en-US" altLang="en-US" b="1">
                <a:latin typeface="Arial" panose="020B0604020202020204" pitchFamily="34" charset="0"/>
              </a:rPr>
              <a:t> It produces long, elongated clusters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5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a:extLst>
              <a:ext uri="{FF2B5EF4-FFF2-40B4-BE49-F238E27FC236}">
                <a16:creationId xmlns:a16="http://schemas.microsoft.com/office/drawing/2014/main" id="{2AB9DFD7-1983-CEC8-7659-1280177BD353}"/>
              </a:ext>
            </a:extLst>
          </p:cNvPr>
          <p:cNvSpPr>
            <a:spLocks noGrp="1"/>
          </p:cNvSpPr>
          <p:nvPr>
            <p:ph type="title"/>
          </p:nvPr>
        </p:nvSpPr>
        <p:spPr/>
        <p:txBody>
          <a:bodyPr/>
          <a:lstStyle/>
          <a:p>
            <a:r>
              <a:rPr lang="en-US" altLang="en-US"/>
              <a:t>Distance between two clusters</a:t>
            </a:r>
          </a:p>
        </p:txBody>
      </p:sp>
      <p:sp>
        <p:nvSpPr>
          <p:cNvPr id="8196" name="Content Placeholder 2">
            <a:extLst>
              <a:ext uri="{FF2B5EF4-FFF2-40B4-BE49-F238E27FC236}">
                <a16:creationId xmlns:a16="http://schemas.microsoft.com/office/drawing/2014/main" id="{9B6C5120-2C0D-3CD6-F396-07E0DE505C27}"/>
              </a:ext>
            </a:extLst>
          </p:cNvPr>
          <p:cNvSpPr>
            <a:spLocks noGrp="1"/>
          </p:cNvSpPr>
          <p:nvPr>
            <p:ph idx="1"/>
          </p:nvPr>
        </p:nvSpPr>
        <p:spPr/>
        <p:txBody>
          <a:bodyPr/>
          <a:lstStyle/>
          <a:p>
            <a:r>
              <a:rPr lang="en-US" altLang="en-US" b="1">
                <a:solidFill>
                  <a:srgbClr val="FF0000"/>
                </a:solidFill>
              </a:rPr>
              <a:t>Complete-link distance </a:t>
            </a:r>
            <a:r>
              <a:rPr lang="en-US" altLang="en-US"/>
              <a:t>between clusters </a:t>
            </a:r>
            <a:r>
              <a:rPr lang="en-US" altLang="en-US" b="1">
                <a:solidFill>
                  <a:schemeClr val="accent1"/>
                </a:solidFill>
              </a:rPr>
              <a:t>C</a:t>
            </a:r>
            <a:r>
              <a:rPr lang="en-US" altLang="en-US" b="1" baseline="-25000">
                <a:solidFill>
                  <a:schemeClr val="accent1"/>
                </a:solidFill>
              </a:rPr>
              <a:t>i</a:t>
            </a:r>
            <a:r>
              <a:rPr lang="en-US" altLang="en-US"/>
              <a:t> and </a:t>
            </a:r>
            <a:r>
              <a:rPr lang="en-US" altLang="en-US" b="1">
                <a:solidFill>
                  <a:schemeClr val="accent1"/>
                </a:solidFill>
              </a:rPr>
              <a:t>C</a:t>
            </a:r>
            <a:r>
              <a:rPr lang="en-US" altLang="en-US" b="1" baseline="-25000">
                <a:solidFill>
                  <a:schemeClr val="accent1"/>
                </a:solidFill>
              </a:rPr>
              <a:t>j</a:t>
            </a:r>
            <a:r>
              <a:rPr lang="en-US" altLang="en-US" baseline="-25000"/>
              <a:t> </a:t>
            </a:r>
            <a:r>
              <a:rPr lang="en-US" altLang="en-US"/>
              <a:t>is the </a:t>
            </a:r>
            <a:r>
              <a:rPr lang="en-US" altLang="en-US" b="1" i="1"/>
              <a:t>maximum distance </a:t>
            </a:r>
            <a:r>
              <a:rPr lang="en-US" altLang="en-US"/>
              <a:t>between any object in </a:t>
            </a:r>
            <a:r>
              <a:rPr lang="en-US" altLang="en-US" b="1">
                <a:solidFill>
                  <a:schemeClr val="accent1"/>
                </a:solidFill>
              </a:rPr>
              <a:t>C</a:t>
            </a:r>
            <a:r>
              <a:rPr lang="en-US" altLang="en-US" b="1" baseline="-25000">
                <a:solidFill>
                  <a:schemeClr val="accent1"/>
                </a:solidFill>
              </a:rPr>
              <a:t>i</a:t>
            </a:r>
            <a:r>
              <a:rPr lang="en-US" altLang="en-US"/>
              <a:t> and any object in </a:t>
            </a:r>
            <a:r>
              <a:rPr lang="en-US" altLang="en-US" b="1">
                <a:solidFill>
                  <a:schemeClr val="accent1"/>
                </a:solidFill>
              </a:rPr>
              <a:t>C</a:t>
            </a:r>
            <a:r>
              <a:rPr lang="en-US" altLang="en-US" b="1" baseline="-25000">
                <a:solidFill>
                  <a:schemeClr val="accent1"/>
                </a:solidFill>
              </a:rPr>
              <a:t>j </a:t>
            </a:r>
          </a:p>
          <a:p>
            <a:endParaRPr lang="en-US" altLang="en-US"/>
          </a:p>
          <a:p>
            <a:r>
              <a:rPr lang="en-US" altLang="en-US"/>
              <a:t>The distance is </a:t>
            </a:r>
            <a:r>
              <a:rPr lang="en-US" altLang="en-US" b="1"/>
              <a:t>defined by the two most dissimilar objects</a:t>
            </a:r>
            <a:endParaRPr lang="en-US" altLang="en-US" b="1" baseline="-25000"/>
          </a:p>
          <a:p>
            <a:endParaRPr lang="en-US" altLang="en-US"/>
          </a:p>
          <a:p>
            <a:endParaRPr lang="en-US" altLang="en-US"/>
          </a:p>
        </p:txBody>
      </p:sp>
      <p:graphicFrame>
        <p:nvGraphicFramePr>
          <p:cNvPr id="8194" name="Object 2">
            <a:extLst>
              <a:ext uri="{FF2B5EF4-FFF2-40B4-BE49-F238E27FC236}">
                <a16:creationId xmlns:a16="http://schemas.microsoft.com/office/drawing/2014/main" id="{B4B5CA5F-CDC3-D07F-F3B3-7DB24E67AC7A}"/>
              </a:ext>
            </a:extLst>
          </p:cNvPr>
          <p:cNvGraphicFramePr>
            <a:graphicFrameLocks noChangeAspect="1"/>
          </p:cNvGraphicFramePr>
          <p:nvPr/>
        </p:nvGraphicFramePr>
        <p:xfrm>
          <a:off x="2606568" y="4225159"/>
          <a:ext cx="6232525" cy="685800"/>
        </p:xfrm>
        <a:graphic>
          <a:graphicData uri="http://schemas.openxmlformats.org/presentationml/2006/ole">
            <mc:AlternateContent xmlns:mc="http://schemas.openxmlformats.org/markup-compatibility/2006">
              <mc:Choice xmlns:v="urn:schemas-microsoft-com:vml" Requires="v">
                <p:oleObj name="Equation" r:id="rId2" imgW="2590560" imgH="279360" progId="Equation.3">
                  <p:embed/>
                </p:oleObj>
              </mc:Choice>
              <mc:Fallback>
                <p:oleObj name="Equation" r:id="rId2" imgW="2590560" imgH="279360" progId="Equation.3">
                  <p:embed/>
                  <p:pic>
                    <p:nvPicPr>
                      <p:cNvPr id="8194" name="Object 2">
                        <a:extLst>
                          <a:ext uri="{FF2B5EF4-FFF2-40B4-BE49-F238E27FC236}">
                            <a16:creationId xmlns:a16="http://schemas.microsoft.com/office/drawing/2014/main" id="{B4B5CA5F-CDC3-D07F-F3B3-7DB24E67A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6568" y="4225159"/>
                        <a:ext cx="62325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a:extLst>
              <a:ext uri="{FF2B5EF4-FFF2-40B4-BE49-F238E27FC236}">
                <a16:creationId xmlns:a16="http://schemas.microsoft.com/office/drawing/2014/main" id="{CCF0841C-784B-79FF-0BCD-52D2F27AE5CF}"/>
              </a:ext>
            </a:extLst>
          </p:cNvPr>
          <p:cNvSpPr>
            <a:spLocks noGrp="1" noChangeArrowheads="1"/>
          </p:cNvSpPr>
          <p:nvPr>
            <p:ph type="title"/>
          </p:nvPr>
        </p:nvSpPr>
        <p:spPr>
          <a:xfrm>
            <a:off x="1349376" y="500062"/>
            <a:ext cx="8280400" cy="552450"/>
          </a:xfrm>
        </p:spPr>
        <p:txBody>
          <a:bodyPr rtlCol="0">
            <a:normAutofit fontScale="90000"/>
          </a:bodyPr>
          <a:lstStyle/>
          <a:p>
            <a:pPr>
              <a:defRPr/>
            </a:pPr>
            <a:r>
              <a:rPr lang="en-US" dirty="0"/>
              <a:t>Strengths of complete-link clustering</a:t>
            </a:r>
          </a:p>
        </p:txBody>
      </p:sp>
      <p:sp>
        <p:nvSpPr>
          <p:cNvPr id="26627" name="Text Box 3">
            <a:extLst>
              <a:ext uri="{FF2B5EF4-FFF2-40B4-BE49-F238E27FC236}">
                <a16:creationId xmlns:a16="http://schemas.microsoft.com/office/drawing/2014/main" id="{6D3657F0-EC26-6255-D46B-1618D4BB4026}"/>
              </a:ext>
            </a:extLst>
          </p:cNvPr>
          <p:cNvSpPr txBox="1">
            <a:spLocks noChangeArrowheads="1"/>
          </p:cNvSpPr>
          <p:nvPr/>
        </p:nvSpPr>
        <p:spPr bwMode="auto">
          <a:xfrm>
            <a:off x="2924175" y="4357688"/>
            <a:ext cx="2895600" cy="4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Original Points</a:t>
            </a:r>
          </a:p>
        </p:txBody>
      </p:sp>
      <p:pic>
        <p:nvPicPr>
          <p:cNvPr id="26628" name="Picture 4">
            <a:extLst>
              <a:ext uri="{FF2B5EF4-FFF2-40B4-BE49-F238E27FC236}">
                <a16:creationId xmlns:a16="http://schemas.microsoft.com/office/drawing/2014/main" id="{4373AE46-D9E6-83FA-BE42-CDCED240B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905"/>
          <a:stretch>
            <a:fillRect/>
          </a:stretch>
        </p:blipFill>
        <p:spPr bwMode="auto">
          <a:xfrm>
            <a:off x="1857377" y="1295400"/>
            <a:ext cx="4268787"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2" name="Group 5">
            <a:extLst>
              <a:ext uri="{FF2B5EF4-FFF2-40B4-BE49-F238E27FC236}">
                <a16:creationId xmlns:a16="http://schemas.microsoft.com/office/drawing/2014/main" id="{97A684D4-55EC-8673-1BA8-C2374B541984}"/>
              </a:ext>
            </a:extLst>
          </p:cNvPr>
          <p:cNvGrpSpPr>
            <a:grpSpLocks/>
          </p:cNvGrpSpPr>
          <p:nvPr/>
        </p:nvGrpSpPr>
        <p:grpSpPr bwMode="auto">
          <a:xfrm>
            <a:off x="5895977" y="1219200"/>
            <a:ext cx="4268787" cy="3563938"/>
            <a:chOff x="2735" y="768"/>
            <a:chExt cx="2689" cy="2245"/>
          </a:xfrm>
        </p:grpSpPr>
        <p:sp>
          <p:nvSpPr>
            <p:cNvPr id="26631" name="Text Box 6">
              <a:extLst>
                <a:ext uri="{FF2B5EF4-FFF2-40B4-BE49-F238E27FC236}">
                  <a16:creationId xmlns:a16="http://schemas.microsoft.com/office/drawing/2014/main" id="{94B17827-41B6-DD9F-6AEA-348A4031A194}"/>
                </a:ext>
              </a:extLst>
            </p:cNvPr>
            <p:cNvSpPr txBox="1">
              <a:spLocks noChangeArrowheads="1"/>
            </p:cNvSpPr>
            <p:nvPr/>
          </p:nvSpPr>
          <p:spPr bwMode="auto">
            <a:xfrm>
              <a:off x="3263" y="2745"/>
              <a:ext cx="182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Two Clusters</a:t>
              </a:r>
            </a:p>
          </p:txBody>
        </p:sp>
        <p:pic>
          <p:nvPicPr>
            <p:cNvPr id="26632" name="Picture 7">
              <a:extLst>
                <a:ext uri="{FF2B5EF4-FFF2-40B4-BE49-F238E27FC236}">
                  <a16:creationId xmlns:a16="http://schemas.microsoft.com/office/drawing/2014/main" id="{6984BE5A-F497-B456-15A1-C8C97C2558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1905"/>
            <a:stretch>
              <a:fillRect/>
            </a:stretch>
          </p:blipFill>
          <p:spPr bwMode="auto">
            <a:xfrm>
              <a:off x="2735" y="768"/>
              <a:ext cx="2689" cy="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656392" name="Text Box 8">
            <a:extLst>
              <a:ext uri="{FF2B5EF4-FFF2-40B4-BE49-F238E27FC236}">
                <a16:creationId xmlns:a16="http://schemas.microsoft.com/office/drawing/2014/main" id="{C261D5E9-C76F-9B88-972C-3883969FB89B}"/>
              </a:ext>
            </a:extLst>
          </p:cNvPr>
          <p:cNvSpPr txBox="1">
            <a:spLocks noChangeArrowheads="1"/>
          </p:cNvSpPr>
          <p:nvPr/>
        </p:nvSpPr>
        <p:spPr bwMode="auto">
          <a:xfrm>
            <a:off x="2163762" y="5576888"/>
            <a:ext cx="6324600" cy="4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b="1" dirty="0">
                <a:latin typeface="Arial" panose="020B0604020202020204" pitchFamily="34" charset="0"/>
              </a:rPr>
              <a:t>Less susceptible to noise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56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9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a:extLst>
              <a:ext uri="{FF2B5EF4-FFF2-40B4-BE49-F238E27FC236}">
                <a16:creationId xmlns:a16="http://schemas.microsoft.com/office/drawing/2014/main" id="{71AA4515-D476-35CF-AEDA-561C40EEB64E}"/>
              </a:ext>
            </a:extLst>
          </p:cNvPr>
          <p:cNvSpPr>
            <a:spLocks noGrp="1" noChangeArrowheads="1"/>
          </p:cNvSpPr>
          <p:nvPr>
            <p:ph type="title"/>
          </p:nvPr>
        </p:nvSpPr>
        <p:spPr>
          <a:xfrm>
            <a:off x="1349376" y="333374"/>
            <a:ext cx="8280400" cy="552450"/>
          </a:xfrm>
        </p:spPr>
        <p:txBody>
          <a:bodyPr rtlCol="0">
            <a:normAutofit fontScale="90000"/>
          </a:bodyPr>
          <a:lstStyle/>
          <a:p>
            <a:pPr>
              <a:defRPr/>
            </a:pPr>
            <a:r>
              <a:rPr lang="en-US" dirty="0"/>
              <a:t>Limitations of complete-link clustering</a:t>
            </a:r>
          </a:p>
        </p:txBody>
      </p:sp>
      <p:pic>
        <p:nvPicPr>
          <p:cNvPr id="27651" name="Picture 3">
            <a:extLst>
              <a:ext uri="{FF2B5EF4-FFF2-40B4-BE49-F238E27FC236}">
                <a16:creationId xmlns:a16="http://schemas.microsoft.com/office/drawing/2014/main" id="{DD355610-C46A-416D-F2FE-18D08D11D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962" y="1447800"/>
            <a:ext cx="42687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52" name="Text Box 4">
            <a:extLst>
              <a:ext uri="{FF2B5EF4-FFF2-40B4-BE49-F238E27FC236}">
                <a16:creationId xmlns:a16="http://schemas.microsoft.com/office/drawing/2014/main" id="{E3CD54C5-2D65-FB49-C128-CA30D6DFAE4F}"/>
              </a:ext>
            </a:extLst>
          </p:cNvPr>
          <p:cNvSpPr txBox="1">
            <a:spLocks noChangeArrowheads="1"/>
          </p:cNvSpPr>
          <p:nvPr/>
        </p:nvSpPr>
        <p:spPr bwMode="auto">
          <a:xfrm>
            <a:off x="2620962" y="4738688"/>
            <a:ext cx="2895600" cy="4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Original Points</a:t>
            </a:r>
          </a:p>
        </p:txBody>
      </p:sp>
      <p:grpSp>
        <p:nvGrpSpPr>
          <p:cNvPr id="2" name="Group 5">
            <a:extLst>
              <a:ext uri="{FF2B5EF4-FFF2-40B4-BE49-F238E27FC236}">
                <a16:creationId xmlns:a16="http://schemas.microsoft.com/office/drawing/2014/main" id="{3D6B2740-0832-F694-5CFD-E280155BA8B8}"/>
              </a:ext>
            </a:extLst>
          </p:cNvPr>
          <p:cNvGrpSpPr>
            <a:grpSpLocks/>
          </p:cNvGrpSpPr>
          <p:nvPr/>
        </p:nvGrpSpPr>
        <p:grpSpPr bwMode="auto">
          <a:xfrm>
            <a:off x="5972177" y="1371600"/>
            <a:ext cx="4268787" cy="3792538"/>
            <a:chOff x="2783" y="864"/>
            <a:chExt cx="2689" cy="2389"/>
          </a:xfrm>
        </p:grpSpPr>
        <p:pic>
          <p:nvPicPr>
            <p:cNvPr id="27655" name="Picture 6">
              <a:extLst>
                <a:ext uri="{FF2B5EF4-FFF2-40B4-BE49-F238E27FC236}">
                  <a16:creationId xmlns:a16="http://schemas.microsoft.com/office/drawing/2014/main" id="{655DC56E-2F00-4CDD-83BA-F70270072C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3" y="864"/>
              <a:ext cx="2689"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56" name="Text Box 7">
              <a:extLst>
                <a:ext uri="{FF2B5EF4-FFF2-40B4-BE49-F238E27FC236}">
                  <a16:creationId xmlns:a16="http://schemas.microsoft.com/office/drawing/2014/main" id="{A718F7C5-478D-1D78-E7A2-AA2EF3369214}"/>
                </a:ext>
              </a:extLst>
            </p:cNvPr>
            <p:cNvSpPr txBox="1">
              <a:spLocks noChangeArrowheads="1"/>
            </p:cNvSpPr>
            <p:nvPr/>
          </p:nvSpPr>
          <p:spPr bwMode="auto">
            <a:xfrm>
              <a:off x="3263" y="2985"/>
              <a:ext cx="182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Two Clusters</a:t>
              </a:r>
            </a:p>
          </p:txBody>
        </p:sp>
      </p:grpSp>
      <p:sp>
        <p:nvSpPr>
          <p:cNvPr id="658440" name="Text Box 8">
            <a:extLst>
              <a:ext uri="{FF2B5EF4-FFF2-40B4-BE49-F238E27FC236}">
                <a16:creationId xmlns:a16="http://schemas.microsoft.com/office/drawing/2014/main" id="{27623EBC-D46E-3ADB-82BB-89B5D5F88789}"/>
              </a:ext>
            </a:extLst>
          </p:cNvPr>
          <p:cNvSpPr txBox="1">
            <a:spLocks noChangeArrowheads="1"/>
          </p:cNvSpPr>
          <p:nvPr/>
        </p:nvSpPr>
        <p:spPr bwMode="auto">
          <a:xfrm>
            <a:off x="2163762" y="5486401"/>
            <a:ext cx="6324600" cy="10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b="1">
                <a:latin typeface="Arial" panose="020B0604020202020204" pitchFamily="34" charset="0"/>
              </a:rPr>
              <a:t> Tends to break large clusters</a:t>
            </a:r>
          </a:p>
          <a:p>
            <a:pPr>
              <a:buFontTx/>
              <a:buChar char="•"/>
            </a:pPr>
            <a:r>
              <a:rPr lang="en-US" altLang="en-US" b="1">
                <a:latin typeface="Arial" panose="020B0604020202020204" pitchFamily="34" charset="0"/>
              </a:rPr>
              <a:t>  All clusters tend to have the same diameter – small  clusters are merged with larger ones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58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4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a:extLst>
              <a:ext uri="{FF2B5EF4-FFF2-40B4-BE49-F238E27FC236}">
                <a16:creationId xmlns:a16="http://schemas.microsoft.com/office/drawing/2014/main" id="{A35F03E6-6661-33A1-5D58-3B297FA2C708}"/>
              </a:ext>
            </a:extLst>
          </p:cNvPr>
          <p:cNvSpPr>
            <a:spLocks noGrp="1"/>
          </p:cNvSpPr>
          <p:nvPr>
            <p:ph type="title"/>
          </p:nvPr>
        </p:nvSpPr>
        <p:spPr/>
        <p:txBody>
          <a:bodyPr/>
          <a:lstStyle/>
          <a:p>
            <a:r>
              <a:rPr lang="en-US" altLang="en-US"/>
              <a:t>Distance between two clusters</a:t>
            </a:r>
          </a:p>
        </p:txBody>
      </p:sp>
      <p:sp>
        <p:nvSpPr>
          <p:cNvPr id="10244" name="Content Placeholder 2">
            <a:extLst>
              <a:ext uri="{FF2B5EF4-FFF2-40B4-BE49-F238E27FC236}">
                <a16:creationId xmlns:a16="http://schemas.microsoft.com/office/drawing/2014/main" id="{DF26E22C-4609-39D9-FD9D-13F59CBD7AFA}"/>
              </a:ext>
            </a:extLst>
          </p:cNvPr>
          <p:cNvSpPr>
            <a:spLocks noGrp="1"/>
          </p:cNvSpPr>
          <p:nvPr>
            <p:ph idx="1"/>
          </p:nvPr>
        </p:nvSpPr>
        <p:spPr/>
        <p:txBody>
          <a:bodyPr/>
          <a:lstStyle/>
          <a:p>
            <a:r>
              <a:rPr lang="en-US" altLang="en-US" b="1">
                <a:solidFill>
                  <a:srgbClr val="FF0000"/>
                </a:solidFill>
              </a:rPr>
              <a:t>Group average distance </a:t>
            </a:r>
            <a:r>
              <a:rPr lang="en-US" altLang="en-US"/>
              <a:t>between clusters </a:t>
            </a:r>
            <a:r>
              <a:rPr lang="en-US" altLang="en-US" b="1">
                <a:solidFill>
                  <a:schemeClr val="accent1"/>
                </a:solidFill>
              </a:rPr>
              <a:t>C</a:t>
            </a:r>
            <a:r>
              <a:rPr lang="en-US" altLang="en-US" b="1" baseline="-25000">
                <a:solidFill>
                  <a:schemeClr val="accent1"/>
                </a:solidFill>
              </a:rPr>
              <a:t>i</a:t>
            </a:r>
            <a:r>
              <a:rPr lang="en-US" altLang="en-US"/>
              <a:t> and </a:t>
            </a:r>
            <a:r>
              <a:rPr lang="en-US" altLang="en-US" b="1">
                <a:solidFill>
                  <a:schemeClr val="accent1"/>
                </a:solidFill>
              </a:rPr>
              <a:t>C</a:t>
            </a:r>
            <a:r>
              <a:rPr lang="en-US" altLang="en-US" b="1" baseline="-25000">
                <a:solidFill>
                  <a:schemeClr val="accent1"/>
                </a:solidFill>
              </a:rPr>
              <a:t>j</a:t>
            </a:r>
            <a:r>
              <a:rPr lang="en-US" altLang="en-US" baseline="-25000"/>
              <a:t> </a:t>
            </a:r>
            <a:r>
              <a:rPr lang="en-US" altLang="en-US"/>
              <a:t>is the </a:t>
            </a:r>
            <a:r>
              <a:rPr lang="en-US" altLang="en-US" b="1" i="1"/>
              <a:t>average distance </a:t>
            </a:r>
            <a:r>
              <a:rPr lang="en-US" altLang="en-US"/>
              <a:t>between any object in </a:t>
            </a:r>
            <a:r>
              <a:rPr lang="en-US" altLang="en-US" b="1">
                <a:solidFill>
                  <a:schemeClr val="accent1"/>
                </a:solidFill>
              </a:rPr>
              <a:t>C</a:t>
            </a:r>
            <a:r>
              <a:rPr lang="en-US" altLang="en-US" b="1" baseline="-25000">
                <a:solidFill>
                  <a:schemeClr val="accent1"/>
                </a:solidFill>
              </a:rPr>
              <a:t>i</a:t>
            </a:r>
            <a:r>
              <a:rPr lang="en-US" altLang="en-US"/>
              <a:t> and any object in </a:t>
            </a:r>
            <a:r>
              <a:rPr lang="en-US" altLang="en-US" b="1">
                <a:solidFill>
                  <a:schemeClr val="accent1"/>
                </a:solidFill>
              </a:rPr>
              <a:t>C</a:t>
            </a:r>
            <a:r>
              <a:rPr lang="en-US" altLang="en-US" b="1" baseline="-25000">
                <a:solidFill>
                  <a:schemeClr val="accent1"/>
                </a:solidFill>
              </a:rPr>
              <a:t>j </a:t>
            </a:r>
          </a:p>
          <a:p>
            <a:endParaRPr lang="en-US" altLang="en-US"/>
          </a:p>
          <a:p>
            <a:endParaRPr lang="en-US" altLang="en-US"/>
          </a:p>
          <a:p>
            <a:endParaRPr lang="en-US" altLang="en-US"/>
          </a:p>
        </p:txBody>
      </p:sp>
      <p:graphicFrame>
        <p:nvGraphicFramePr>
          <p:cNvPr id="10242" name="Object 2">
            <a:extLst>
              <a:ext uri="{FF2B5EF4-FFF2-40B4-BE49-F238E27FC236}">
                <a16:creationId xmlns:a16="http://schemas.microsoft.com/office/drawing/2014/main" id="{682316CA-0031-5D30-5A6D-603A096AD569}"/>
              </a:ext>
            </a:extLst>
          </p:cNvPr>
          <p:cNvGraphicFramePr>
            <a:graphicFrameLocks noChangeAspect="1"/>
          </p:cNvGraphicFramePr>
          <p:nvPr/>
        </p:nvGraphicFramePr>
        <p:xfrm>
          <a:off x="2941637" y="3429001"/>
          <a:ext cx="5284788" cy="1152525"/>
        </p:xfrm>
        <a:graphic>
          <a:graphicData uri="http://schemas.openxmlformats.org/presentationml/2006/ole">
            <mc:AlternateContent xmlns:mc="http://schemas.openxmlformats.org/markup-compatibility/2006">
              <mc:Choice xmlns:v="urn:schemas-microsoft-com:vml" Requires="v">
                <p:oleObj name="Equation" r:id="rId2" imgW="2197080" imgH="469800" progId="Equation.3">
                  <p:embed/>
                </p:oleObj>
              </mc:Choice>
              <mc:Fallback>
                <p:oleObj name="Equation" r:id="rId2" imgW="2197080" imgH="469800" progId="Equation.3">
                  <p:embed/>
                  <p:pic>
                    <p:nvPicPr>
                      <p:cNvPr id="10242" name="Object 2">
                        <a:extLst>
                          <a:ext uri="{FF2B5EF4-FFF2-40B4-BE49-F238E27FC236}">
                            <a16:creationId xmlns:a16="http://schemas.microsoft.com/office/drawing/2014/main" id="{682316CA-0031-5D30-5A6D-603A096AD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1637" y="3429001"/>
                        <a:ext cx="5284788" cy="115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41031E5-4ECF-FA81-BE4A-88C055B4D9AC}"/>
              </a:ext>
            </a:extLst>
          </p:cNvPr>
          <p:cNvSpPr>
            <a:spLocks noGrp="1" noChangeArrowheads="1"/>
          </p:cNvSpPr>
          <p:nvPr>
            <p:ph type="title"/>
          </p:nvPr>
        </p:nvSpPr>
        <p:spPr/>
        <p:txBody>
          <a:bodyPr/>
          <a:lstStyle/>
          <a:p>
            <a:r>
              <a:rPr lang="en-US" altLang="en-US"/>
              <a:t>Average-link clustering: discussion</a:t>
            </a:r>
          </a:p>
        </p:txBody>
      </p:sp>
      <p:sp>
        <p:nvSpPr>
          <p:cNvPr id="29699" name="Rectangle 3">
            <a:extLst>
              <a:ext uri="{FF2B5EF4-FFF2-40B4-BE49-F238E27FC236}">
                <a16:creationId xmlns:a16="http://schemas.microsoft.com/office/drawing/2014/main" id="{2CF63256-BCA9-0456-1633-8A04479837E0}"/>
              </a:ext>
            </a:extLst>
          </p:cNvPr>
          <p:cNvSpPr>
            <a:spLocks noGrp="1" noChangeArrowheads="1"/>
          </p:cNvSpPr>
          <p:nvPr>
            <p:ph type="body" idx="1"/>
          </p:nvPr>
        </p:nvSpPr>
        <p:spPr/>
        <p:txBody>
          <a:bodyPr/>
          <a:lstStyle/>
          <a:p>
            <a:pPr marL="533400" indent="-533400"/>
            <a:r>
              <a:rPr lang="en-US" altLang="en-US" sz="3100"/>
              <a:t>Compromise between Single and Complete Link</a:t>
            </a:r>
          </a:p>
          <a:p>
            <a:pPr marL="533400" indent="-533400"/>
            <a:endParaRPr lang="en-US" altLang="en-US" sz="3100"/>
          </a:p>
          <a:p>
            <a:pPr marL="533400" indent="-533400"/>
            <a:r>
              <a:rPr lang="en-US" altLang="en-US" sz="3100"/>
              <a:t>Strengths</a:t>
            </a:r>
          </a:p>
          <a:p>
            <a:pPr marL="914400" lvl="1" indent="-457200"/>
            <a:r>
              <a:rPr lang="en-US" altLang="en-US" sz="2700"/>
              <a:t>Less susceptible to noise and outliers</a:t>
            </a:r>
          </a:p>
          <a:p>
            <a:pPr marL="533400" indent="-533400"/>
            <a:endParaRPr lang="en-US" altLang="en-US" sz="3100"/>
          </a:p>
          <a:p>
            <a:pPr marL="533400" indent="-533400"/>
            <a:r>
              <a:rPr lang="en-US" altLang="en-US" sz="3100"/>
              <a:t>Limitations</a:t>
            </a:r>
          </a:p>
          <a:p>
            <a:pPr marL="914400" lvl="1" indent="-457200"/>
            <a:r>
              <a:rPr lang="en-US" altLang="en-US" sz="2700"/>
              <a:t>Biased towards globular clusters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a:extLst>
              <a:ext uri="{FF2B5EF4-FFF2-40B4-BE49-F238E27FC236}">
                <a16:creationId xmlns:a16="http://schemas.microsoft.com/office/drawing/2014/main" id="{CB10CD09-4E64-FB42-9B5E-5520CF60BAFE}"/>
              </a:ext>
            </a:extLst>
          </p:cNvPr>
          <p:cNvSpPr>
            <a:spLocks noGrp="1"/>
          </p:cNvSpPr>
          <p:nvPr>
            <p:ph type="title"/>
          </p:nvPr>
        </p:nvSpPr>
        <p:spPr/>
        <p:txBody>
          <a:bodyPr/>
          <a:lstStyle/>
          <a:p>
            <a:r>
              <a:rPr lang="en-US" altLang="en-US"/>
              <a:t>Distance between two clusters</a:t>
            </a:r>
          </a:p>
        </p:txBody>
      </p:sp>
      <p:sp>
        <p:nvSpPr>
          <p:cNvPr id="12292" name="Content Placeholder 2">
            <a:extLst>
              <a:ext uri="{FF2B5EF4-FFF2-40B4-BE49-F238E27FC236}">
                <a16:creationId xmlns:a16="http://schemas.microsoft.com/office/drawing/2014/main" id="{88A039A9-E8BC-3C9E-0BB2-EFFA0FFFFB9F}"/>
              </a:ext>
            </a:extLst>
          </p:cNvPr>
          <p:cNvSpPr>
            <a:spLocks noGrp="1"/>
          </p:cNvSpPr>
          <p:nvPr>
            <p:ph idx="1"/>
          </p:nvPr>
        </p:nvSpPr>
        <p:spPr/>
        <p:txBody>
          <a:bodyPr/>
          <a:lstStyle/>
          <a:p>
            <a:r>
              <a:rPr lang="en-US" altLang="en-US" b="1">
                <a:solidFill>
                  <a:srgbClr val="FF0000"/>
                </a:solidFill>
              </a:rPr>
              <a:t>Centroid distance </a:t>
            </a:r>
            <a:r>
              <a:rPr lang="en-US" altLang="en-US"/>
              <a:t>between clusters </a:t>
            </a:r>
            <a:r>
              <a:rPr lang="en-US" altLang="en-US" b="1">
                <a:solidFill>
                  <a:schemeClr val="accent1"/>
                </a:solidFill>
              </a:rPr>
              <a:t>C</a:t>
            </a:r>
            <a:r>
              <a:rPr lang="en-US" altLang="en-US" b="1" baseline="-25000">
                <a:solidFill>
                  <a:schemeClr val="accent1"/>
                </a:solidFill>
              </a:rPr>
              <a:t>i</a:t>
            </a:r>
            <a:r>
              <a:rPr lang="en-US" altLang="en-US"/>
              <a:t> and </a:t>
            </a:r>
            <a:r>
              <a:rPr lang="en-US" altLang="en-US" b="1">
                <a:solidFill>
                  <a:schemeClr val="accent1"/>
                </a:solidFill>
              </a:rPr>
              <a:t>C</a:t>
            </a:r>
            <a:r>
              <a:rPr lang="en-US" altLang="en-US" b="1" baseline="-25000">
                <a:solidFill>
                  <a:schemeClr val="accent1"/>
                </a:solidFill>
              </a:rPr>
              <a:t>j</a:t>
            </a:r>
            <a:r>
              <a:rPr lang="en-US" altLang="en-US" baseline="-25000"/>
              <a:t> </a:t>
            </a:r>
            <a:r>
              <a:rPr lang="en-US" altLang="en-US"/>
              <a:t>is the distance between the centroid </a:t>
            </a:r>
            <a:r>
              <a:rPr lang="en-US" altLang="en-US" b="1">
                <a:solidFill>
                  <a:schemeClr val="accent1"/>
                </a:solidFill>
              </a:rPr>
              <a:t>r</a:t>
            </a:r>
            <a:r>
              <a:rPr lang="en-US" altLang="en-US" b="1" baseline="-25000">
                <a:solidFill>
                  <a:schemeClr val="accent1"/>
                </a:solidFill>
              </a:rPr>
              <a:t>i</a:t>
            </a:r>
            <a:r>
              <a:rPr lang="en-US" altLang="en-US"/>
              <a:t> of </a:t>
            </a:r>
            <a:r>
              <a:rPr lang="en-US" altLang="en-US" b="1">
                <a:solidFill>
                  <a:schemeClr val="accent1"/>
                </a:solidFill>
              </a:rPr>
              <a:t>C</a:t>
            </a:r>
            <a:r>
              <a:rPr lang="en-US" altLang="en-US" b="1" baseline="-25000">
                <a:solidFill>
                  <a:schemeClr val="accent1"/>
                </a:solidFill>
              </a:rPr>
              <a:t>i</a:t>
            </a:r>
            <a:r>
              <a:rPr lang="en-US" altLang="en-US"/>
              <a:t> and the centroid </a:t>
            </a:r>
            <a:r>
              <a:rPr lang="en-US" altLang="en-US" b="1">
                <a:solidFill>
                  <a:schemeClr val="accent1"/>
                </a:solidFill>
              </a:rPr>
              <a:t>r</a:t>
            </a:r>
            <a:r>
              <a:rPr lang="en-US" altLang="en-US" b="1" baseline="-25000">
                <a:solidFill>
                  <a:schemeClr val="accent1"/>
                </a:solidFill>
              </a:rPr>
              <a:t>j</a:t>
            </a:r>
            <a:r>
              <a:rPr lang="en-US" altLang="en-US"/>
              <a:t> of </a:t>
            </a:r>
            <a:r>
              <a:rPr lang="en-US" altLang="en-US" b="1">
                <a:solidFill>
                  <a:schemeClr val="accent1"/>
                </a:solidFill>
              </a:rPr>
              <a:t>C</a:t>
            </a:r>
            <a:r>
              <a:rPr lang="en-US" altLang="en-US" b="1" baseline="-25000">
                <a:solidFill>
                  <a:schemeClr val="accent1"/>
                </a:solidFill>
              </a:rPr>
              <a:t>j </a:t>
            </a:r>
          </a:p>
          <a:p>
            <a:endParaRPr lang="en-US" altLang="en-US"/>
          </a:p>
          <a:p>
            <a:endParaRPr lang="en-US" altLang="en-US"/>
          </a:p>
        </p:txBody>
      </p:sp>
      <p:graphicFrame>
        <p:nvGraphicFramePr>
          <p:cNvPr id="12290" name="Object 2">
            <a:extLst>
              <a:ext uri="{FF2B5EF4-FFF2-40B4-BE49-F238E27FC236}">
                <a16:creationId xmlns:a16="http://schemas.microsoft.com/office/drawing/2014/main" id="{6AEBDCDA-C4E2-6620-EE80-AC31072A3D77}"/>
              </a:ext>
            </a:extLst>
          </p:cNvPr>
          <p:cNvGraphicFramePr>
            <a:graphicFrameLocks noChangeAspect="1"/>
          </p:cNvGraphicFramePr>
          <p:nvPr/>
        </p:nvGraphicFramePr>
        <p:xfrm>
          <a:off x="3730899" y="3409158"/>
          <a:ext cx="3727450" cy="592137"/>
        </p:xfrm>
        <a:graphic>
          <a:graphicData uri="http://schemas.openxmlformats.org/presentationml/2006/ole">
            <mc:AlternateContent xmlns:mc="http://schemas.openxmlformats.org/markup-compatibility/2006">
              <mc:Choice xmlns:v="urn:schemas-microsoft-com:vml" Requires="v">
                <p:oleObj name="Equation" r:id="rId2" imgW="1549080" imgH="241200" progId="Equation.3">
                  <p:embed/>
                </p:oleObj>
              </mc:Choice>
              <mc:Fallback>
                <p:oleObj name="Equation" r:id="rId2" imgW="1549080" imgH="241200" progId="Equation.3">
                  <p:embed/>
                  <p:pic>
                    <p:nvPicPr>
                      <p:cNvPr id="12290" name="Object 2">
                        <a:extLst>
                          <a:ext uri="{FF2B5EF4-FFF2-40B4-BE49-F238E27FC236}">
                            <a16:creationId xmlns:a16="http://schemas.microsoft.com/office/drawing/2014/main" id="{6AEBDCDA-C4E2-6620-EE80-AC31072A3D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899" y="3409158"/>
                        <a:ext cx="3727450" cy="592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a:extLst>
              <a:ext uri="{FF2B5EF4-FFF2-40B4-BE49-F238E27FC236}">
                <a16:creationId xmlns:a16="http://schemas.microsoft.com/office/drawing/2014/main" id="{9958CE01-59A3-6799-4C1E-885E27CFF589}"/>
              </a:ext>
            </a:extLst>
          </p:cNvPr>
          <p:cNvSpPr>
            <a:spLocks noGrp="1"/>
          </p:cNvSpPr>
          <p:nvPr>
            <p:ph type="title"/>
          </p:nvPr>
        </p:nvSpPr>
        <p:spPr/>
        <p:txBody>
          <a:bodyPr/>
          <a:lstStyle/>
          <a:p>
            <a:r>
              <a:rPr lang="en-US" altLang="en-US"/>
              <a:t>Distance between two clusters</a:t>
            </a:r>
          </a:p>
        </p:txBody>
      </p:sp>
      <p:sp>
        <p:nvSpPr>
          <p:cNvPr id="3" name="Content Placeholder 2">
            <a:extLst>
              <a:ext uri="{FF2B5EF4-FFF2-40B4-BE49-F238E27FC236}">
                <a16:creationId xmlns:a16="http://schemas.microsoft.com/office/drawing/2014/main" id="{C5349773-75D2-264B-ADBF-04DB01173DCD}"/>
              </a:ext>
            </a:extLst>
          </p:cNvPr>
          <p:cNvSpPr>
            <a:spLocks noGrp="1"/>
          </p:cNvSpPr>
          <p:nvPr>
            <p:ph idx="1"/>
          </p:nvPr>
        </p:nvSpPr>
        <p:spPr/>
        <p:txBody>
          <a:bodyPr rtlCol="0">
            <a:normAutofit fontScale="92500" lnSpcReduction="20000"/>
          </a:bodyPr>
          <a:lstStyle/>
          <a:p>
            <a:pPr>
              <a:defRPr/>
            </a:pPr>
            <a:r>
              <a:rPr lang="en-US" b="1" dirty="0">
                <a:solidFill>
                  <a:srgbClr val="FF0000"/>
                </a:solidFill>
              </a:rPr>
              <a:t>Ward’s distance </a:t>
            </a:r>
            <a:r>
              <a:rPr lang="en-US" dirty="0"/>
              <a:t>between clusters </a:t>
            </a:r>
            <a:r>
              <a:rPr lang="en-US" b="1" dirty="0" err="1">
                <a:solidFill>
                  <a:schemeClr val="accent1"/>
                </a:solidFill>
              </a:rPr>
              <a:t>C</a:t>
            </a:r>
            <a:r>
              <a:rPr lang="en-US" b="1" baseline="-25000" dirty="0" err="1">
                <a:solidFill>
                  <a:schemeClr val="accent1"/>
                </a:solidFill>
              </a:rPr>
              <a:t>i</a:t>
            </a:r>
            <a:r>
              <a:rPr lang="en-US" dirty="0"/>
              <a:t> and </a:t>
            </a:r>
            <a:r>
              <a:rPr lang="en-US" b="1" dirty="0" err="1">
                <a:solidFill>
                  <a:schemeClr val="accent1"/>
                </a:solidFill>
              </a:rPr>
              <a:t>C</a:t>
            </a:r>
            <a:r>
              <a:rPr lang="en-US" b="1" baseline="-25000" dirty="0" err="1">
                <a:solidFill>
                  <a:schemeClr val="accent1"/>
                </a:solidFill>
              </a:rPr>
              <a:t>j</a:t>
            </a:r>
            <a:r>
              <a:rPr lang="en-US" baseline="-25000" dirty="0"/>
              <a:t> </a:t>
            </a:r>
            <a:r>
              <a:rPr lang="en-US" dirty="0"/>
              <a:t>is the </a:t>
            </a:r>
            <a:r>
              <a:rPr lang="en-US" b="1" i="1" dirty="0"/>
              <a:t>difference</a:t>
            </a:r>
            <a:r>
              <a:rPr lang="en-US" dirty="0"/>
              <a:t> between the </a:t>
            </a:r>
            <a:r>
              <a:rPr lang="en-US" b="1" i="1" dirty="0"/>
              <a:t>total within cluster sum of squares for the two clusters separately</a:t>
            </a:r>
            <a:r>
              <a:rPr lang="en-US" dirty="0"/>
              <a:t>, and the </a:t>
            </a:r>
            <a:r>
              <a:rPr lang="en-US" b="1" i="1" dirty="0"/>
              <a:t>within cluster sum of squares resulting from merging the two clusters </a:t>
            </a:r>
            <a:r>
              <a:rPr lang="en-US" dirty="0"/>
              <a:t>in cluster </a:t>
            </a:r>
            <a:r>
              <a:rPr lang="en-US" b="1" dirty="0" err="1">
                <a:solidFill>
                  <a:schemeClr val="accent1"/>
                </a:solidFill>
              </a:rPr>
              <a:t>C</a:t>
            </a:r>
            <a:r>
              <a:rPr lang="en-US" b="1" baseline="-25000" dirty="0" err="1">
                <a:solidFill>
                  <a:schemeClr val="accent1"/>
                </a:solidFill>
              </a:rPr>
              <a:t>ij</a:t>
            </a:r>
            <a:endParaRPr lang="en-US" b="1" baseline="-25000" dirty="0">
              <a:solidFill>
                <a:schemeClr val="accent1"/>
              </a:solidFill>
            </a:endParaRPr>
          </a:p>
          <a:p>
            <a:pPr>
              <a:defRPr/>
            </a:pPr>
            <a:endParaRPr lang="en-US" dirty="0"/>
          </a:p>
          <a:p>
            <a:pPr>
              <a:defRPr/>
            </a:pPr>
            <a:endParaRPr lang="en-US" dirty="0"/>
          </a:p>
          <a:p>
            <a:pPr>
              <a:defRPr/>
            </a:pPr>
            <a:endParaRPr lang="en-US" dirty="0"/>
          </a:p>
          <a:p>
            <a:pPr>
              <a:defRPr/>
            </a:pPr>
            <a:endParaRPr lang="en-US" dirty="0"/>
          </a:p>
          <a:p>
            <a:pPr>
              <a:defRPr/>
            </a:pPr>
            <a:r>
              <a:rPr lang="en-US" b="1" dirty="0" err="1">
                <a:solidFill>
                  <a:schemeClr val="accent1"/>
                </a:solidFill>
              </a:rPr>
              <a:t>r</a:t>
            </a:r>
            <a:r>
              <a:rPr lang="en-US" b="1" baseline="-25000" dirty="0" err="1">
                <a:solidFill>
                  <a:schemeClr val="accent1"/>
                </a:solidFill>
              </a:rPr>
              <a:t>i</a:t>
            </a:r>
            <a:r>
              <a:rPr lang="en-US" dirty="0"/>
              <a:t>: </a:t>
            </a:r>
            <a:r>
              <a:rPr lang="en-US" dirty="0" err="1"/>
              <a:t>centroid</a:t>
            </a:r>
            <a:r>
              <a:rPr lang="en-US" dirty="0"/>
              <a:t> of </a:t>
            </a:r>
            <a:r>
              <a:rPr lang="en-US" b="1" dirty="0" err="1">
                <a:solidFill>
                  <a:schemeClr val="accent1"/>
                </a:solidFill>
              </a:rPr>
              <a:t>C</a:t>
            </a:r>
            <a:r>
              <a:rPr lang="en-US" b="1" baseline="-25000" dirty="0" err="1">
                <a:solidFill>
                  <a:schemeClr val="accent1"/>
                </a:solidFill>
              </a:rPr>
              <a:t>i</a:t>
            </a:r>
            <a:endParaRPr lang="en-US" b="1" baseline="-25000" dirty="0">
              <a:solidFill>
                <a:schemeClr val="accent1"/>
              </a:solidFill>
            </a:endParaRPr>
          </a:p>
          <a:p>
            <a:pPr>
              <a:defRPr/>
            </a:pPr>
            <a:r>
              <a:rPr lang="en-US" b="1" dirty="0" err="1">
                <a:solidFill>
                  <a:schemeClr val="accent1"/>
                </a:solidFill>
              </a:rPr>
              <a:t>r</a:t>
            </a:r>
            <a:r>
              <a:rPr lang="en-US" b="1" baseline="-25000" dirty="0" err="1">
                <a:solidFill>
                  <a:schemeClr val="accent1"/>
                </a:solidFill>
              </a:rPr>
              <a:t>j</a:t>
            </a:r>
            <a:r>
              <a:rPr lang="en-US" dirty="0"/>
              <a:t>: </a:t>
            </a:r>
            <a:r>
              <a:rPr lang="en-US" dirty="0" err="1"/>
              <a:t>centroid</a:t>
            </a:r>
            <a:r>
              <a:rPr lang="en-US" dirty="0"/>
              <a:t> of </a:t>
            </a:r>
            <a:r>
              <a:rPr lang="en-US" b="1" dirty="0" err="1">
                <a:solidFill>
                  <a:schemeClr val="accent1"/>
                </a:solidFill>
              </a:rPr>
              <a:t>C</a:t>
            </a:r>
            <a:r>
              <a:rPr lang="en-US" b="1" baseline="-25000" dirty="0" err="1">
                <a:solidFill>
                  <a:schemeClr val="accent1"/>
                </a:solidFill>
              </a:rPr>
              <a:t>j</a:t>
            </a:r>
            <a:endParaRPr lang="en-US" b="1" baseline="-25000" dirty="0">
              <a:solidFill>
                <a:schemeClr val="accent1"/>
              </a:solidFill>
            </a:endParaRPr>
          </a:p>
          <a:p>
            <a:pPr>
              <a:defRPr/>
            </a:pPr>
            <a:r>
              <a:rPr lang="en-US" b="1" dirty="0" err="1">
                <a:solidFill>
                  <a:schemeClr val="accent1"/>
                </a:solidFill>
              </a:rPr>
              <a:t>r</a:t>
            </a:r>
            <a:r>
              <a:rPr lang="en-US" b="1" baseline="-25000" dirty="0" err="1">
                <a:solidFill>
                  <a:schemeClr val="accent1"/>
                </a:solidFill>
              </a:rPr>
              <a:t>ij</a:t>
            </a:r>
            <a:r>
              <a:rPr lang="en-US" dirty="0"/>
              <a:t>: </a:t>
            </a:r>
            <a:r>
              <a:rPr lang="en-US" dirty="0" err="1"/>
              <a:t>centroid</a:t>
            </a:r>
            <a:r>
              <a:rPr lang="en-US" dirty="0"/>
              <a:t> of </a:t>
            </a:r>
            <a:r>
              <a:rPr lang="en-US" b="1" dirty="0" err="1">
                <a:solidFill>
                  <a:schemeClr val="accent1"/>
                </a:solidFill>
              </a:rPr>
              <a:t>C</a:t>
            </a:r>
            <a:r>
              <a:rPr lang="en-US" b="1" baseline="-25000" dirty="0" err="1">
                <a:solidFill>
                  <a:schemeClr val="accent1"/>
                </a:solidFill>
              </a:rPr>
              <a:t>ij</a:t>
            </a:r>
            <a:endParaRPr lang="en-US" b="1" baseline="-25000" dirty="0">
              <a:solidFill>
                <a:schemeClr val="accent1"/>
              </a:solidFill>
            </a:endParaRPr>
          </a:p>
          <a:p>
            <a:pPr>
              <a:defRPr/>
            </a:pPr>
            <a:endParaRPr lang="en-US" dirty="0"/>
          </a:p>
        </p:txBody>
      </p:sp>
      <p:graphicFrame>
        <p:nvGraphicFramePr>
          <p:cNvPr id="13314" name="Object 4">
            <a:extLst>
              <a:ext uri="{FF2B5EF4-FFF2-40B4-BE49-F238E27FC236}">
                <a16:creationId xmlns:a16="http://schemas.microsoft.com/office/drawing/2014/main" id="{861854E3-B7BE-954D-68FD-8068CD5607A4}"/>
              </a:ext>
            </a:extLst>
          </p:cNvPr>
          <p:cNvGraphicFramePr>
            <a:graphicFrameLocks noChangeAspect="1"/>
          </p:cNvGraphicFramePr>
          <p:nvPr/>
        </p:nvGraphicFramePr>
        <p:xfrm>
          <a:off x="3001962" y="3581400"/>
          <a:ext cx="6826250" cy="990600"/>
        </p:xfrm>
        <a:graphic>
          <a:graphicData uri="http://schemas.openxmlformats.org/presentationml/2006/ole">
            <mc:AlternateContent xmlns:mc="http://schemas.openxmlformats.org/markup-compatibility/2006">
              <mc:Choice xmlns:v="urn:schemas-microsoft-com:vml" Requires="v">
                <p:oleObj name="Equation" r:id="rId2" imgW="3085920" imgH="393480" progId="Equation.3">
                  <p:embed/>
                </p:oleObj>
              </mc:Choice>
              <mc:Fallback>
                <p:oleObj name="Equation" r:id="rId2" imgW="3085920" imgH="393480" progId="Equation.3">
                  <p:embed/>
                  <p:pic>
                    <p:nvPicPr>
                      <p:cNvPr id="13314" name="Object 4">
                        <a:extLst>
                          <a:ext uri="{FF2B5EF4-FFF2-40B4-BE49-F238E27FC236}">
                            <a16:creationId xmlns:a16="http://schemas.microsoft.com/office/drawing/2014/main" id="{861854E3-B7BE-954D-68FD-8068CD560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962" y="3581400"/>
                        <a:ext cx="68262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316A697-506E-B83F-57F0-F0581991F9D2}"/>
              </a:ext>
            </a:extLst>
          </p:cNvPr>
          <p:cNvSpPr>
            <a:spLocks noGrp="1" noChangeArrowheads="1"/>
          </p:cNvSpPr>
          <p:nvPr>
            <p:ph type="title"/>
          </p:nvPr>
        </p:nvSpPr>
        <p:spPr/>
        <p:txBody>
          <a:bodyPr/>
          <a:lstStyle/>
          <a:p>
            <a:r>
              <a:rPr lang="en-US" altLang="en-US"/>
              <a:t>Ward’s distance for clusters</a:t>
            </a:r>
          </a:p>
        </p:txBody>
      </p:sp>
      <p:sp>
        <p:nvSpPr>
          <p:cNvPr id="30723" name="Rectangle 3">
            <a:extLst>
              <a:ext uri="{FF2B5EF4-FFF2-40B4-BE49-F238E27FC236}">
                <a16:creationId xmlns:a16="http://schemas.microsoft.com/office/drawing/2014/main" id="{AC53AE1D-5FC8-0C2E-13C4-97AE3F6A7D0E}"/>
              </a:ext>
            </a:extLst>
          </p:cNvPr>
          <p:cNvSpPr>
            <a:spLocks noGrp="1" noChangeArrowheads="1"/>
          </p:cNvSpPr>
          <p:nvPr>
            <p:ph type="body" idx="1"/>
          </p:nvPr>
        </p:nvSpPr>
        <p:spPr/>
        <p:txBody>
          <a:bodyPr/>
          <a:lstStyle/>
          <a:p>
            <a:pPr marL="292100" indent="-292100"/>
            <a:r>
              <a:rPr lang="en-US" altLang="en-US" dirty="0"/>
              <a:t>Similar to group average and centroid distance</a:t>
            </a:r>
          </a:p>
          <a:p>
            <a:pPr lvl="4"/>
            <a:endParaRPr lang="en-US" altLang="en-US" dirty="0"/>
          </a:p>
          <a:p>
            <a:pPr marL="292100" indent="-292100"/>
            <a:r>
              <a:rPr lang="en-US" altLang="en-US" dirty="0"/>
              <a:t>Less susceptible to noise and outliers</a:t>
            </a:r>
          </a:p>
          <a:p>
            <a:pPr lvl="4"/>
            <a:endParaRPr lang="en-US" altLang="en-US" dirty="0"/>
          </a:p>
          <a:p>
            <a:pPr marL="292100" indent="-292100"/>
            <a:r>
              <a:rPr lang="en-US" altLang="en-US" dirty="0"/>
              <a:t>Biased towards globular clusters</a:t>
            </a:r>
          </a:p>
          <a:p>
            <a:pPr lvl="4"/>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4E95A4F-E818-486C-4273-2A75238E5D3A}"/>
              </a:ext>
            </a:extLst>
          </p:cNvPr>
          <p:cNvSpPr>
            <a:spLocks noGrp="1" noChangeArrowheads="1"/>
          </p:cNvSpPr>
          <p:nvPr>
            <p:ph type="title"/>
          </p:nvPr>
        </p:nvSpPr>
        <p:spPr>
          <a:xfrm>
            <a:off x="2011362" y="228600"/>
            <a:ext cx="8229600" cy="731838"/>
          </a:xfrm>
        </p:spPr>
        <p:txBody>
          <a:bodyPr/>
          <a:lstStyle/>
          <a:p>
            <a:r>
              <a:rPr lang="en-US" altLang="en-US" sz="3600"/>
              <a:t>Hierarchical Clustering: Comparison</a:t>
            </a:r>
          </a:p>
        </p:txBody>
      </p:sp>
      <p:sp>
        <p:nvSpPr>
          <p:cNvPr id="31747" name="Text Box 3">
            <a:extLst>
              <a:ext uri="{FF2B5EF4-FFF2-40B4-BE49-F238E27FC236}">
                <a16:creationId xmlns:a16="http://schemas.microsoft.com/office/drawing/2014/main" id="{05BACB0E-ABE7-B7E9-833F-4A02910C6B62}"/>
              </a:ext>
            </a:extLst>
          </p:cNvPr>
          <p:cNvSpPr txBox="1">
            <a:spLocks noChangeArrowheads="1"/>
          </p:cNvSpPr>
          <p:nvPr/>
        </p:nvSpPr>
        <p:spPr bwMode="auto">
          <a:xfrm>
            <a:off x="4789487" y="4953000"/>
            <a:ext cx="1676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latin typeface="Arial" panose="020B0604020202020204" pitchFamily="34" charset="0"/>
              </a:rPr>
              <a:t>Group Average</a:t>
            </a:r>
          </a:p>
        </p:txBody>
      </p:sp>
      <p:sp>
        <p:nvSpPr>
          <p:cNvPr id="31748" name="Text Box 4">
            <a:extLst>
              <a:ext uri="{FF2B5EF4-FFF2-40B4-BE49-F238E27FC236}">
                <a16:creationId xmlns:a16="http://schemas.microsoft.com/office/drawing/2014/main" id="{7CBAC750-C7B6-5652-24BD-26D7DF0AFD27}"/>
              </a:ext>
            </a:extLst>
          </p:cNvPr>
          <p:cNvSpPr txBox="1">
            <a:spLocks noChangeArrowheads="1"/>
          </p:cNvSpPr>
          <p:nvPr/>
        </p:nvSpPr>
        <p:spPr bwMode="auto">
          <a:xfrm>
            <a:off x="6084887" y="4572000"/>
            <a:ext cx="1752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latin typeface="Arial" panose="020B0604020202020204" pitchFamily="34" charset="0"/>
              </a:rPr>
              <a:t>Ward’s Method</a:t>
            </a:r>
          </a:p>
        </p:txBody>
      </p:sp>
      <p:grpSp>
        <p:nvGrpSpPr>
          <p:cNvPr id="31749" name="Group 5">
            <a:extLst>
              <a:ext uri="{FF2B5EF4-FFF2-40B4-BE49-F238E27FC236}">
                <a16:creationId xmlns:a16="http://schemas.microsoft.com/office/drawing/2014/main" id="{08CE9D75-6402-87D5-4FEB-08334C0B6DBD}"/>
              </a:ext>
            </a:extLst>
          </p:cNvPr>
          <p:cNvGrpSpPr>
            <a:grpSpLocks noChangeAspect="1"/>
          </p:cNvGrpSpPr>
          <p:nvPr/>
        </p:nvGrpSpPr>
        <p:grpSpPr bwMode="auto">
          <a:xfrm>
            <a:off x="7824789" y="4132263"/>
            <a:ext cx="1862103" cy="1695956"/>
            <a:chOff x="509" y="1253"/>
            <a:chExt cx="1779" cy="1620"/>
          </a:xfrm>
        </p:grpSpPr>
        <p:sp>
          <p:nvSpPr>
            <p:cNvPr id="31851" name="Freeform 6">
              <a:extLst>
                <a:ext uri="{FF2B5EF4-FFF2-40B4-BE49-F238E27FC236}">
                  <a16:creationId xmlns:a16="http://schemas.microsoft.com/office/drawing/2014/main" id="{5EE7D94A-86FD-845C-2AE5-7CB6336F2950}"/>
                </a:ext>
              </a:extLst>
            </p:cNvPr>
            <p:cNvSpPr>
              <a:spLocks noChangeAspect="1"/>
            </p:cNvSpPr>
            <p:nvPr/>
          </p:nvSpPr>
          <p:spPr bwMode="auto">
            <a:xfrm>
              <a:off x="1058" y="1885"/>
              <a:ext cx="79" cy="81"/>
            </a:xfrm>
            <a:custGeom>
              <a:avLst/>
              <a:gdLst>
                <a:gd name="T0" fmla="*/ 0 w 79"/>
                <a:gd name="T1" fmla="*/ 40 h 81"/>
                <a:gd name="T2" fmla="*/ 2 w 79"/>
                <a:gd name="T3" fmla="*/ 24 h 81"/>
                <a:gd name="T4" fmla="*/ 12 w 79"/>
                <a:gd name="T5" fmla="*/ 12 h 81"/>
                <a:gd name="T6" fmla="*/ 24 w 79"/>
                <a:gd name="T7" fmla="*/ 2 h 81"/>
                <a:gd name="T8" fmla="*/ 40 w 79"/>
                <a:gd name="T9" fmla="*/ 0 h 81"/>
                <a:gd name="T10" fmla="*/ 56 w 79"/>
                <a:gd name="T11" fmla="*/ 2 h 81"/>
                <a:gd name="T12" fmla="*/ 68 w 79"/>
                <a:gd name="T13" fmla="*/ 12 h 81"/>
                <a:gd name="T14" fmla="*/ 77 w 79"/>
                <a:gd name="T15" fmla="*/ 24 h 81"/>
                <a:gd name="T16" fmla="*/ 79 w 79"/>
                <a:gd name="T17" fmla="*/ 40 h 81"/>
                <a:gd name="T18" fmla="*/ 77 w 79"/>
                <a:gd name="T19" fmla="*/ 55 h 81"/>
                <a:gd name="T20" fmla="*/ 68 w 79"/>
                <a:gd name="T21" fmla="*/ 69 h 81"/>
                <a:gd name="T22" fmla="*/ 56 w 79"/>
                <a:gd name="T23" fmla="*/ 77 h 81"/>
                <a:gd name="T24" fmla="*/ 40 w 79"/>
                <a:gd name="T25" fmla="*/ 81 h 81"/>
                <a:gd name="T26" fmla="*/ 24 w 79"/>
                <a:gd name="T27" fmla="*/ 77 h 81"/>
                <a:gd name="T28" fmla="*/ 12 w 79"/>
                <a:gd name="T29" fmla="*/ 69 h 81"/>
                <a:gd name="T30" fmla="*/ 2 w 79"/>
                <a:gd name="T31" fmla="*/ 55 h 81"/>
                <a:gd name="T32" fmla="*/ 0 w 79"/>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9"/>
                <a:gd name="T52" fmla="*/ 0 h 81"/>
                <a:gd name="T53" fmla="*/ 79 w 79"/>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9" h="81">
                  <a:moveTo>
                    <a:pt x="0" y="40"/>
                  </a:moveTo>
                  <a:lnTo>
                    <a:pt x="2" y="24"/>
                  </a:lnTo>
                  <a:lnTo>
                    <a:pt x="12" y="12"/>
                  </a:lnTo>
                  <a:lnTo>
                    <a:pt x="24" y="2"/>
                  </a:lnTo>
                  <a:lnTo>
                    <a:pt x="40" y="0"/>
                  </a:lnTo>
                  <a:lnTo>
                    <a:pt x="56" y="2"/>
                  </a:lnTo>
                  <a:lnTo>
                    <a:pt x="68" y="12"/>
                  </a:lnTo>
                  <a:lnTo>
                    <a:pt x="77" y="24"/>
                  </a:lnTo>
                  <a:lnTo>
                    <a:pt x="79" y="40"/>
                  </a:lnTo>
                  <a:lnTo>
                    <a:pt x="77" y="55"/>
                  </a:lnTo>
                  <a:lnTo>
                    <a:pt x="68" y="69"/>
                  </a:lnTo>
                  <a:lnTo>
                    <a:pt x="56" y="77"/>
                  </a:lnTo>
                  <a:lnTo>
                    <a:pt x="40" y="81"/>
                  </a:lnTo>
                  <a:lnTo>
                    <a:pt x="24" y="77"/>
                  </a:lnTo>
                  <a:lnTo>
                    <a:pt x="12" y="69"/>
                  </a:lnTo>
                  <a:lnTo>
                    <a:pt x="2" y="55"/>
                  </a:lnTo>
                  <a:lnTo>
                    <a:pt x="0" y="40"/>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2" name="Freeform 7">
              <a:extLst>
                <a:ext uri="{FF2B5EF4-FFF2-40B4-BE49-F238E27FC236}">
                  <a16:creationId xmlns:a16="http://schemas.microsoft.com/office/drawing/2014/main" id="{04904F18-329C-F791-9B45-E0C87FFF7742}"/>
                </a:ext>
              </a:extLst>
            </p:cNvPr>
            <p:cNvSpPr>
              <a:spLocks noChangeAspect="1"/>
            </p:cNvSpPr>
            <p:nvPr/>
          </p:nvSpPr>
          <p:spPr bwMode="auto">
            <a:xfrm>
              <a:off x="1810" y="1300"/>
              <a:ext cx="81" cy="81"/>
            </a:xfrm>
            <a:custGeom>
              <a:avLst/>
              <a:gdLst>
                <a:gd name="T0" fmla="*/ 0 w 81"/>
                <a:gd name="T1" fmla="*/ 39 h 81"/>
                <a:gd name="T2" fmla="*/ 2 w 81"/>
                <a:gd name="T3" fmla="*/ 23 h 81"/>
                <a:gd name="T4" fmla="*/ 11 w 81"/>
                <a:gd name="T5" fmla="*/ 12 h 81"/>
                <a:gd name="T6" fmla="*/ 23 w 81"/>
                <a:gd name="T7" fmla="*/ 2 h 81"/>
                <a:gd name="T8" fmla="*/ 39 w 81"/>
                <a:gd name="T9" fmla="*/ 0 h 81"/>
                <a:gd name="T10" fmla="*/ 55 w 81"/>
                <a:gd name="T11" fmla="*/ 2 h 81"/>
                <a:gd name="T12" fmla="*/ 69 w 81"/>
                <a:gd name="T13" fmla="*/ 12 h 81"/>
                <a:gd name="T14" fmla="*/ 77 w 81"/>
                <a:gd name="T15" fmla="*/ 23 h 81"/>
                <a:gd name="T16" fmla="*/ 81 w 81"/>
                <a:gd name="T17" fmla="*/ 39 h 81"/>
                <a:gd name="T18" fmla="*/ 77 w 81"/>
                <a:gd name="T19" fmla="*/ 55 h 81"/>
                <a:gd name="T20" fmla="*/ 69 w 81"/>
                <a:gd name="T21" fmla="*/ 69 h 81"/>
                <a:gd name="T22" fmla="*/ 55 w 81"/>
                <a:gd name="T23" fmla="*/ 77 h 81"/>
                <a:gd name="T24" fmla="*/ 39 w 81"/>
                <a:gd name="T25" fmla="*/ 81 h 81"/>
                <a:gd name="T26" fmla="*/ 23 w 81"/>
                <a:gd name="T27" fmla="*/ 77 h 81"/>
                <a:gd name="T28" fmla="*/ 11 w 81"/>
                <a:gd name="T29" fmla="*/ 69 h 81"/>
                <a:gd name="T30" fmla="*/ 2 w 81"/>
                <a:gd name="T31" fmla="*/ 55 h 81"/>
                <a:gd name="T32" fmla="*/ 0 w 81"/>
                <a:gd name="T33" fmla="*/ 39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39"/>
                  </a:moveTo>
                  <a:lnTo>
                    <a:pt x="2" y="23"/>
                  </a:lnTo>
                  <a:lnTo>
                    <a:pt x="11" y="12"/>
                  </a:lnTo>
                  <a:lnTo>
                    <a:pt x="23" y="2"/>
                  </a:lnTo>
                  <a:lnTo>
                    <a:pt x="39" y="0"/>
                  </a:lnTo>
                  <a:lnTo>
                    <a:pt x="55" y="2"/>
                  </a:lnTo>
                  <a:lnTo>
                    <a:pt x="69" y="12"/>
                  </a:lnTo>
                  <a:lnTo>
                    <a:pt x="77" y="23"/>
                  </a:lnTo>
                  <a:lnTo>
                    <a:pt x="81" y="39"/>
                  </a:lnTo>
                  <a:lnTo>
                    <a:pt x="77" y="55"/>
                  </a:lnTo>
                  <a:lnTo>
                    <a:pt x="69" y="69"/>
                  </a:lnTo>
                  <a:lnTo>
                    <a:pt x="55" y="77"/>
                  </a:lnTo>
                  <a:lnTo>
                    <a:pt x="39" y="81"/>
                  </a:lnTo>
                  <a:lnTo>
                    <a:pt x="23" y="77"/>
                  </a:lnTo>
                  <a:lnTo>
                    <a:pt x="11" y="69"/>
                  </a:lnTo>
                  <a:lnTo>
                    <a:pt x="2" y="55"/>
                  </a:lnTo>
                  <a:lnTo>
                    <a:pt x="0" y="39"/>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3" name="Freeform 8">
              <a:extLst>
                <a:ext uri="{FF2B5EF4-FFF2-40B4-BE49-F238E27FC236}">
                  <a16:creationId xmlns:a16="http://schemas.microsoft.com/office/drawing/2014/main" id="{7017D578-379B-F048-2201-48BF8A66E907}"/>
                </a:ext>
              </a:extLst>
            </p:cNvPr>
            <p:cNvSpPr>
              <a:spLocks noChangeAspect="1"/>
            </p:cNvSpPr>
            <p:nvPr/>
          </p:nvSpPr>
          <p:spPr bwMode="auto">
            <a:xfrm>
              <a:off x="1262" y="2683"/>
              <a:ext cx="81" cy="81"/>
            </a:xfrm>
            <a:custGeom>
              <a:avLst/>
              <a:gdLst>
                <a:gd name="T0" fmla="*/ 0 w 81"/>
                <a:gd name="T1" fmla="*/ 40 h 81"/>
                <a:gd name="T2" fmla="*/ 2 w 81"/>
                <a:gd name="T3" fmla="*/ 24 h 81"/>
                <a:gd name="T4" fmla="*/ 12 w 81"/>
                <a:gd name="T5" fmla="*/ 12 h 81"/>
                <a:gd name="T6" fmla="*/ 24 w 81"/>
                <a:gd name="T7" fmla="*/ 2 h 81"/>
                <a:gd name="T8" fmla="*/ 40 w 81"/>
                <a:gd name="T9" fmla="*/ 0 h 81"/>
                <a:gd name="T10" fmla="*/ 55 w 81"/>
                <a:gd name="T11" fmla="*/ 2 h 81"/>
                <a:gd name="T12" fmla="*/ 69 w 81"/>
                <a:gd name="T13" fmla="*/ 12 h 81"/>
                <a:gd name="T14" fmla="*/ 77 w 81"/>
                <a:gd name="T15" fmla="*/ 24 h 81"/>
                <a:gd name="T16" fmla="*/ 81 w 81"/>
                <a:gd name="T17" fmla="*/ 40 h 81"/>
                <a:gd name="T18" fmla="*/ 77 w 81"/>
                <a:gd name="T19" fmla="*/ 56 h 81"/>
                <a:gd name="T20" fmla="*/ 69 w 81"/>
                <a:gd name="T21" fmla="*/ 69 h 81"/>
                <a:gd name="T22" fmla="*/ 55 w 81"/>
                <a:gd name="T23" fmla="*/ 77 h 81"/>
                <a:gd name="T24" fmla="*/ 40 w 81"/>
                <a:gd name="T25" fmla="*/ 81 h 81"/>
                <a:gd name="T26" fmla="*/ 24 w 81"/>
                <a:gd name="T27" fmla="*/ 77 h 81"/>
                <a:gd name="T28" fmla="*/ 12 w 81"/>
                <a:gd name="T29" fmla="*/ 69 h 81"/>
                <a:gd name="T30" fmla="*/ 2 w 81"/>
                <a:gd name="T31" fmla="*/ 56 h 81"/>
                <a:gd name="T32" fmla="*/ 0 w 81"/>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0"/>
                  </a:moveTo>
                  <a:lnTo>
                    <a:pt x="2" y="24"/>
                  </a:lnTo>
                  <a:lnTo>
                    <a:pt x="12" y="12"/>
                  </a:lnTo>
                  <a:lnTo>
                    <a:pt x="24" y="2"/>
                  </a:lnTo>
                  <a:lnTo>
                    <a:pt x="40" y="0"/>
                  </a:lnTo>
                  <a:lnTo>
                    <a:pt x="55" y="2"/>
                  </a:lnTo>
                  <a:lnTo>
                    <a:pt x="69" y="12"/>
                  </a:lnTo>
                  <a:lnTo>
                    <a:pt x="77" y="24"/>
                  </a:lnTo>
                  <a:lnTo>
                    <a:pt x="81" y="40"/>
                  </a:lnTo>
                  <a:lnTo>
                    <a:pt x="77" y="56"/>
                  </a:lnTo>
                  <a:lnTo>
                    <a:pt x="69" y="69"/>
                  </a:lnTo>
                  <a:lnTo>
                    <a:pt x="55" y="77"/>
                  </a:lnTo>
                  <a:lnTo>
                    <a:pt x="40" y="81"/>
                  </a:lnTo>
                  <a:lnTo>
                    <a:pt x="24" y="77"/>
                  </a:lnTo>
                  <a:lnTo>
                    <a:pt x="12" y="69"/>
                  </a:lnTo>
                  <a:lnTo>
                    <a:pt x="2" y="56"/>
                  </a:lnTo>
                  <a:lnTo>
                    <a:pt x="0" y="40"/>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4" name="Freeform 9">
              <a:extLst>
                <a:ext uri="{FF2B5EF4-FFF2-40B4-BE49-F238E27FC236}">
                  <a16:creationId xmlns:a16="http://schemas.microsoft.com/office/drawing/2014/main" id="{D980C522-A39F-1625-06D8-C1B782FDE200}"/>
                </a:ext>
              </a:extLst>
            </p:cNvPr>
            <p:cNvSpPr>
              <a:spLocks noChangeAspect="1"/>
            </p:cNvSpPr>
            <p:nvPr/>
          </p:nvSpPr>
          <p:spPr bwMode="auto">
            <a:xfrm>
              <a:off x="509" y="1769"/>
              <a:ext cx="81" cy="81"/>
            </a:xfrm>
            <a:custGeom>
              <a:avLst/>
              <a:gdLst>
                <a:gd name="T0" fmla="*/ 0 w 81"/>
                <a:gd name="T1" fmla="*/ 41 h 81"/>
                <a:gd name="T2" fmla="*/ 2 w 81"/>
                <a:gd name="T3" fmla="*/ 25 h 81"/>
                <a:gd name="T4" fmla="*/ 12 w 81"/>
                <a:gd name="T5" fmla="*/ 12 h 81"/>
                <a:gd name="T6" fmla="*/ 24 w 81"/>
                <a:gd name="T7" fmla="*/ 4 h 81"/>
                <a:gd name="T8" fmla="*/ 39 w 81"/>
                <a:gd name="T9" fmla="*/ 0 h 81"/>
                <a:gd name="T10" fmla="*/ 55 w 81"/>
                <a:gd name="T11" fmla="*/ 4 h 81"/>
                <a:gd name="T12" fmla="*/ 69 w 81"/>
                <a:gd name="T13" fmla="*/ 12 h 81"/>
                <a:gd name="T14" fmla="*/ 77 w 81"/>
                <a:gd name="T15" fmla="*/ 25 h 81"/>
                <a:gd name="T16" fmla="*/ 81 w 81"/>
                <a:gd name="T17" fmla="*/ 41 h 81"/>
                <a:gd name="T18" fmla="*/ 77 w 81"/>
                <a:gd name="T19" fmla="*/ 57 h 81"/>
                <a:gd name="T20" fmla="*/ 69 w 81"/>
                <a:gd name="T21" fmla="*/ 69 h 81"/>
                <a:gd name="T22" fmla="*/ 55 w 81"/>
                <a:gd name="T23" fmla="*/ 79 h 81"/>
                <a:gd name="T24" fmla="*/ 39 w 81"/>
                <a:gd name="T25" fmla="*/ 81 h 81"/>
                <a:gd name="T26" fmla="*/ 24 w 81"/>
                <a:gd name="T27" fmla="*/ 79 h 81"/>
                <a:gd name="T28" fmla="*/ 12 w 81"/>
                <a:gd name="T29" fmla="*/ 69 h 81"/>
                <a:gd name="T30" fmla="*/ 2 w 81"/>
                <a:gd name="T31" fmla="*/ 57 h 81"/>
                <a:gd name="T32" fmla="*/ 0 w 81"/>
                <a:gd name="T33" fmla="*/ 41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1"/>
                  </a:moveTo>
                  <a:lnTo>
                    <a:pt x="2" y="25"/>
                  </a:lnTo>
                  <a:lnTo>
                    <a:pt x="12" y="12"/>
                  </a:lnTo>
                  <a:lnTo>
                    <a:pt x="24" y="4"/>
                  </a:lnTo>
                  <a:lnTo>
                    <a:pt x="39" y="0"/>
                  </a:lnTo>
                  <a:lnTo>
                    <a:pt x="55" y="4"/>
                  </a:lnTo>
                  <a:lnTo>
                    <a:pt x="69" y="12"/>
                  </a:lnTo>
                  <a:lnTo>
                    <a:pt x="77" y="25"/>
                  </a:lnTo>
                  <a:lnTo>
                    <a:pt x="81" y="41"/>
                  </a:lnTo>
                  <a:lnTo>
                    <a:pt x="77" y="57"/>
                  </a:lnTo>
                  <a:lnTo>
                    <a:pt x="69" y="69"/>
                  </a:lnTo>
                  <a:lnTo>
                    <a:pt x="55" y="79"/>
                  </a:lnTo>
                  <a:lnTo>
                    <a:pt x="39" y="81"/>
                  </a:lnTo>
                  <a:lnTo>
                    <a:pt x="24" y="79"/>
                  </a:lnTo>
                  <a:lnTo>
                    <a:pt x="12" y="69"/>
                  </a:lnTo>
                  <a:lnTo>
                    <a:pt x="2" y="57"/>
                  </a:lnTo>
                  <a:lnTo>
                    <a:pt x="0" y="41"/>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5" name="Freeform 10">
              <a:extLst>
                <a:ext uri="{FF2B5EF4-FFF2-40B4-BE49-F238E27FC236}">
                  <a16:creationId xmlns:a16="http://schemas.microsoft.com/office/drawing/2014/main" id="{C1BADFDA-FA5D-AE55-074B-8FEE418195F5}"/>
                </a:ext>
              </a:extLst>
            </p:cNvPr>
            <p:cNvSpPr>
              <a:spLocks noChangeAspect="1"/>
            </p:cNvSpPr>
            <p:nvPr/>
          </p:nvSpPr>
          <p:spPr bwMode="auto">
            <a:xfrm>
              <a:off x="1586" y="2167"/>
              <a:ext cx="81" cy="79"/>
            </a:xfrm>
            <a:custGeom>
              <a:avLst/>
              <a:gdLst>
                <a:gd name="T0" fmla="*/ 0 w 81"/>
                <a:gd name="T1" fmla="*/ 39 h 79"/>
                <a:gd name="T2" fmla="*/ 4 w 81"/>
                <a:gd name="T3" fmla="*/ 24 h 79"/>
                <a:gd name="T4" fmla="*/ 12 w 81"/>
                <a:gd name="T5" fmla="*/ 12 h 79"/>
                <a:gd name="T6" fmla="*/ 26 w 81"/>
                <a:gd name="T7" fmla="*/ 2 h 79"/>
                <a:gd name="T8" fmla="*/ 42 w 81"/>
                <a:gd name="T9" fmla="*/ 0 h 79"/>
                <a:gd name="T10" fmla="*/ 58 w 81"/>
                <a:gd name="T11" fmla="*/ 2 h 79"/>
                <a:gd name="T12" fmla="*/ 69 w 81"/>
                <a:gd name="T13" fmla="*/ 12 h 79"/>
                <a:gd name="T14" fmla="*/ 79 w 81"/>
                <a:gd name="T15" fmla="*/ 24 h 79"/>
                <a:gd name="T16" fmla="*/ 81 w 81"/>
                <a:gd name="T17" fmla="*/ 39 h 79"/>
                <a:gd name="T18" fmla="*/ 79 w 81"/>
                <a:gd name="T19" fmla="*/ 55 h 79"/>
                <a:gd name="T20" fmla="*/ 69 w 81"/>
                <a:gd name="T21" fmla="*/ 67 h 79"/>
                <a:gd name="T22" fmla="*/ 58 w 81"/>
                <a:gd name="T23" fmla="*/ 77 h 79"/>
                <a:gd name="T24" fmla="*/ 42 w 81"/>
                <a:gd name="T25" fmla="*/ 79 h 79"/>
                <a:gd name="T26" fmla="*/ 26 w 81"/>
                <a:gd name="T27" fmla="*/ 77 h 79"/>
                <a:gd name="T28" fmla="*/ 12 w 81"/>
                <a:gd name="T29" fmla="*/ 67 h 79"/>
                <a:gd name="T30" fmla="*/ 4 w 81"/>
                <a:gd name="T31" fmla="*/ 55 h 79"/>
                <a:gd name="T32" fmla="*/ 0 w 81"/>
                <a:gd name="T33" fmla="*/ 39 h 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79"/>
                <a:gd name="T53" fmla="*/ 81 w 81"/>
                <a:gd name="T54" fmla="*/ 79 h 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79">
                  <a:moveTo>
                    <a:pt x="0" y="39"/>
                  </a:moveTo>
                  <a:lnTo>
                    <a:pt x="4" y="24"/>
                  </a:lnTo>
                  <a:lnTo>
                    <a:pt x="12" y="12"/>
                  </a:lnTo>
                  <a:lnTo>
                    <a:pt x="26" y="2"/>
                  </a:lnTo>
                  <a:lnTo>
                    <a:pt x="42" y="0"/>
                  </a:lnTo>
                  <a:lnTo>
                    <a:pt x="58" y="2"/>
                  </a:lnTo>
                  <a:lnTo>
                    <a:pt x="69" y="12"/>
                  </a:lnTo>
                  <a:lnTo>
                    <a:pt x="79" y="24"/>
                  </a:lnTo>
                  <a:lnTo>
                    <a:pt x="81" y="39"/>
                  </a:lnTo>
                  <a:lnTo>
                    <a:pt x="79" y="55"/>
                  </a:lnTo>
                  <a:lnTo>
                    <a:pt x="69" y="67"/>
                  </a:lnTo>
                  <a:lnTo>
                    <a:pt x="58" y="77"/>
                  </a:lnTo>
                  <a:lnTo>
                    <a:pt x="42" y="79"/>
                  </a:lnTo>
                  <a:lnTo>
                    <a:pt x="26" y="77"/>
                  </a:lnTo>
                  <a:lnTo>
                    <a:pt x="12" y="67"/>
                  </a:lnTo>
                  <a:lnTo>
                    <a:pt x="4" y="55"/>
                  </a:lnTo>
                  <a:lnTo>
                    <a:pt x="0" y="39"/>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6" name="Freeform 11">
              <a:extLst>
                <a:ext uri="{FF2B5EF4-FFF2-40B4-BE49-F238E27FC236}">
                  <a16:creationId xmlns:a16="http://schemas.microsoft.com/office/drawing/2014/main" id="{51B6C65F-64C3-07C7-05E6-8E669E6F8782}"/>
                </a:ext>
              </a:extLst>
            </p:cNvPr>
            <p:cNvSpPr>
              <a:spLocks noChangeAspect="1"/>
            </p:cNvSpPr>
            <p:nvPr/>
          </p:nvSpPr>
          <p:spPr bwMode="auto">
            <a:xfrm>
              <a:off x="2029" y="2220"/>
              <a:ext cx="81" cy="81"/>
            </a:xfrm>
            <a:custGeom>
              <a:avLst/>
              <a:gdLst>
                <a:gd name="T0" fmla="*/ 0 w 81"/>
                <a:gd name="T1" fmla="*/ 40 h 81"/>
                <a:gd name="T2" fmla="*/ 2 w 81"/>
                <a:gd name="T3" fmla="*/ 26 h 81"/>
                <a:gd name="T4" fmla="*/ 12 w 81"/>
                <a:gd name="T5" fmla="*/ 12 h 81"/>
                <a:gd name="T6" fmla="*/ 24 w 81"/>
                <a:gd name="T7" fmla="*/ 4 h 81"/>
                <a:gd name="T8" fmla="*/ 40 w 81"/>
                <a:gd name="T9" fmla="*/ 0 h 81"/>
                <a:gd name="T10" fmla="*/ 55 w 81"/>
                <a:gd name="T11" fmla="*/ 4 h 81"/>
                <a:gd name="T12" fmla="*/ 69 w 81"/>
                <a:gd name="T13" fmla="*/ 12 h 81"/>
                <a:gd name="T14" fmla="*/ 77 w 81"/>
                <a:gd name="T15" fmla="*/ 26 h 81"/>
                <a:gd name="T16" fmla="*/ 81 w 81"/>
                <a:gd name="T17" fmla="*/ 40 h 81"/>
                <a:gd name="T18" fmla="*/ 77 w 81"/>
                <a:gd name="T19" fmla="*/ 55 h 81"/>
                <a:gd name="T20" fmla="*/ 69 w 81"/>
                <a:gd name="T21" fmla="*/ 69 h 81"/>
                <a:gd name="T22" fmla="*/ 55 w 81"/>
                <a:gd name="T23" fmla="*/ 77 h 81"/>
                <a:gd name="T24" fmla="*/ 40 w 81"/>
                <a:gd name="T25" fmla="*/ 81 h 81"/>
                <a:gd name="T26" fmla="*/ 24 w 81"/>
                <a:gd name="T27" fmla="*/ 77 h 81"/>
                <a:gd name="T28" fmla="*/ 12 w 81"/>
                <a:gd name="T29" fmla="*/ 69 h 81"/>
                <a:gd name="T30" fmla="*/ 2 w 81"/>
                <a:gd name="T31" fmla="*/ 55 h 81"/>
                <a:gd name="T32" fmla="*/ 0 w 81"/>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0"/>
                  </a:moveTo>
                  <a:lnTo>
                    <a:pt x="2" y="26"/>
                  </a:lnTo>
                  <a:lnTo>
                    <a:pt x="12" y="12"/>
                  </a:lnTo>
                  <a:lnTo>
                    <a:pt x="24" y="4"/>
                  </a:lnTo>
                  <a:lnTo>
                    <a:pt x="40" y="0"/>
                  </a:lnTo>
                  <a:lnTo>
                    <a:pt x="55" y="4"/>
                  </a:lnTo>
                  <a:lnTo>
                    <a:pt x="69" y="12"/>
                  </a:lnTo>
                  <a:lnTo>
                    <a:pt x="77" y="26"/>
                  </a:lnTo>
                  <a:lnTo>
                    <a:pt x="81" y="40"/>
                  </a:lnTo>
                  <a:lnTo>
                    <a:pt x="77" y="55"/>
                  </a:lnTo>
                  <a:lnTo>
                    <a:pt x="69" y="69"/>
                  </a:lnTo>
                  <a:lnTo>
                    <a:pt x="55" y="77"/>
                  </a:lnTo>
                  <a:lnTo>
                    <a:pt x="40" y="81"/>
                  </a:lnTo>
                  <a:lnTo>
                    <a:pt x="24" y="77"/>
                  </a:lnTo>
                  <a:lnTo>
                    <a:pt x="12" y="69"/>
                  </a:lnTo>
                  <a:lnTo>
                    <a:pt x="2" y="55"/>
                  </a:lnTo>
                  <a:lnTo>
                    <a:pt x="0" y="40"/>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7" name="Rectangle 12">
              <a:extLst>
                <a:ext uri="{FF2B5EF4-FFF2-40B4-BE49-F238E27FC236}">
                  <a16:creationId xmlns:a16="http://schemas.microsoft.com/office/drawing/2014/main" id="{B5600243-2939-E3ED-E57B-243DAF425DBA}"/>
                </a:ext>
              </a:extLst>
            </p:cNvPr>
            <p:cNvSpPr>
              <a:spLocks noChangeAspect="1" noChangeArrowheads="1"/>
            </p:cNvSpPr>
            <p:nvPr/>
          </p:nvSpPr>
          <p:spPr bwMode="auto">
            <a:xfrm>
              <a:off x="1909" y="1253"/>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1</a:t>
              </a:r>
              <a:endParaRPr lang="en-US" altLang="en-US" sz="1600" b="1">
                <a:latin typeface="Arial" panose="020B0604020202020204" pitchFamily="34" charset="0"/>
              </a:endParaRPr>
            </a:p>
          </p:txBody>
        </p:sp>
        <p:sp>
          <p:nvSpPr>
            <p:cNvPr id="31858" name="Rectangle 13">
              <a:extLst>
                <a:ext uri="{FF2B5EF4-FFF2-40B4-BE49-F238E27FC236}">
                  <a16:creationId xmlns:a16="http://schemas.microsoft.com/office/drawing/2014/main" id="{D16E83F2-FD50-F94E-57FB-A9472B2F4F29}"/>
                </a:ext>
              </a:extLst>
            </p:cNvPr>
            <p:cNvSpPr>
              <a:spLocks noChangeAspect="1" noChangeArrowheads="1"/>
            </p:cNvSpPr>
            <p:nvPr/>
          </p:nvSpPr>
          <p:spPr bwMode="auto">
            <a:xfrm>
              <a:off x="1163" y="1832"/>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2</a:t>
              </a:r>
              <a:endParaRPr lang="en-US" altLang="en-US" sz="1600" b="1">
                <a:latin typeface="Arial" panose="020B0604020202020204" pitchFamily="34" charset="0"/>
              </a:endParaRPr>
            </a:p>
          </p:txBody>
        </p:sp>
        <p:sp>
          <p:nvSpPr>
            <p:cNvPr id="31859" name="Rectangle 14">
              <a:extLst>
                <a:ext uri="{FF2B5EF4-FFF2-40B4-BE49-F238E27FC236}">
                  <a16:creationId xmlns:a16="http://schemas.microsoft.com/office/drawing/2014/main" id="{009E27CD-5C40-DC58-61CD-7321B522E6B9}"/>
                </a:ext>
              </a:extLst>
            </p:cNvPr>
            <p:cNvSpPr>
              <a:spLocks noChangeAspect="1" noChangeArrowheads="1"/>
            </p:cNvSpPr>
            <p:nvPr/>
          </p:nvSpPr>
          <p:spPr bwMode="auto">
            <a:xfrm>
              <a:off x="1733" y="2122"/>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3</a:t>
              </a:r>
              <a:endParaRPr lang="en-US" altLang="en-US" sz="1600" b="1">
                <a:latin typeface="Arial" panose="020B0604020202020204" pitchFamily="34" charset="0"/>
              </a:endParaRPr>
            </a:p>
          </p:txBody>
        </p:sp>
        <p:sp>
          <p:nvSpPr>
            <p:cNvPr id="31860" name="Rectangle 15">
              <a:extLst>
                <a:ext uri="{FF2B5EF4-FFF2-40B4-BE49-F238E27FC236}">
                  <a16:creationId xmlns:a16="http://schemas.microsoft.com/office/drawing/2014/main" id="{34D26F1F-D9B8-25C2-C1C9-2C4AC3D54B19}"/>
                </a:ext>
              </a:extLst>
            </p:cNvPr>
            <p:cNvSpPr>
              <a:spLocks noChangeAspect="1" noChangeArrowheads="1"/>
            </p:cNvSpPr>
            <p:nvPr/>
          </p:nvSpPr>
          <p:spPr bwMode="auto">
            <a:xfrm>
              <a:off x="1379" y="2638"/>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4</a:t>
              </a:r>
              <a:endParaRPr lang="en-US" altLang="en-US" sz="1600" b="1">
                <a:latin typeface="Arial" panose="020B0604020202020204" pitchFamily="34" charset="0"/>
              </a:endParaRPr>
            </a:p>
          </p:txBody>
        </p:sp>
        <p:sp>
          <p:nvSpPr>
            <p:cNvPr id="31861" name="Rectangle 16">
              <a:extLst>
                <a:ext uri="{FF2B5EF4-FFF2-40B4-BE49-F238E27FC236}">
                  <a16:creationId xmlns:a16="http://schemas.microsoft.com/office/drawing/2014/main" id="{9B412C8B-34C8-017B-8302-C1C2C7BAAD41}"/>
                </a:ext>
              </a:extLst>
            </p:cNvPr>
            <p:cNvSpPr>
              <a:spLocks noChangeAspect="1" noChangeArrowheads="1"/>
            </p:cNvSpPr>
            <p:nvPr/>
          </p:nvSpPr>
          <p:spPr bwMode="auto">
            <a:xfrm>
              <a:off x="630" y="1720"/>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5</a:t>
              </a:r>
              <a:endParaRPr lang="en-US" altLang="en-US" sz="1600" b="1">
                <a:latin typeface="Arial" panose="020B0604020202020204" pitchFamily="34" charset="0"/>
              </a:endParaRPr>
            </a:p>
          </p:txBody>
        </p:sp>
        <p:sp>
          <p:nvSpPr>
            <p:cNvPr id="31862" name="Rectangle 17">
              <a:extLst>
                <a:ext uri="{FF2B5EF4-FFF2-40B4-BE49-F238E27FC236}">
                  <a16:creationId xmlns:a16="http://schemas.microsoft.com/office/drawing/2014/main" id="{80A2B821-DEE9-7A43-30FE-8231705AE909}"/>
                </a:ext>
              </a:extLst>
            </p:cNvPr>
            <p:cNvSpPr>
              <a:spLocks noChangeAspect="1" noChangeArrowheads="1"/>
            </p:cNvSpPr>
            <p:nvPr/>
          </p:nvSpPr>
          <p:spPr bwMode="auto">
            <a:xfrm>
              <a:off x="2188" y="2173"/>
              <a:ext cx="10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6</a:t>
              </a:r>
              <a:endParaRPr lang="en-US" altLang="en-US" sz="1600" b="1">
                <a:latin typeface="Arial" panose="020B0604020202020204" pitchFamily="34" charset="0"/>
              </a:endParaRPr>
            </a:p>
          </p:txBody>
        </p:sp>
      </p:grpSp>
      <p:grpSp>
        <p:nvGrpSpPr>
          <p:cNvPr id="3" name="Group 18">
            <a:extLst>
              <a:ext uri="{FF2B5EF4-FFF2-40B4-BE49-F238E27FC236}">
                <a16:creationId xmlns:a16="http://schemas.microsoft.com/office/drawing/2014/main" id="{5EA09FF9-CEC8-AC3B-C5E6-03670506D2B4}"/>
              </a:ext>
            </a:extLst>
          </p:cNvPr>
          <p:cNvGrpSpPr>
            <a:grpSpLocks noChangeAspect="1"/>
          </p:cNvGrpSpPr>
          <p:nvPr/>
        </p:nvGrpSpPr>
        <p:grpSpPr bwMode="auto">
          <a:xfrm>
            <a:off x="8878887" y="4979990"/>
            <a:ext cx="857250" cy="592137"/>
            <a:chOff x="1515" y="2062"/>
            <a:chExt cx="820" cy="566"/>
          </a:xfrm>
        </p:grpSpPr>
        <p:sp>
          <p:nvSpPr>
            <p:cNvPr id="31849" name="Freeform 19">
              <a:extLst>
                <a:ext uri="{FF2B5EF4-FFF2-40B4-BE49-F238E27FC236}">
                  <a16:creationId xmlns:a16="http://schemas.microsoft.com/office/drawing/2014/main" id="{1D6F6B8E-8102-0293-7908-532BA1AABBBA}"/>
                </a:ext>
              </a:extLst>
            </p:cNvPr>
            <p:cNvSpPr>
              <a:spLocks noChangeAspect="1"/>
            </p:cNvSpPr>
            <p:nvPr/>
          </p:nvSpPr>
          <p:spPr bwMode="auto">
            <a:xfrm>
              <a:off x="1515" y="2062"/>
              <a:ext cx="820" cy="343"/>
            </a:xfrm>
            <a:custGeom>
              <a:avLst/>
              <a:gdLst>
                <a:gd name="T0" fmla="*/ 409 w 820"/>
                <a:gd name="T1" fmla="*/ 0 h 343"/>
                <a:gd name="T2" fmla="*/ 467 w 820"/>
                <a:gd name="T3" fmla="*/ 2 h 343"/>
                <a:gd name="T4" fmla="*/ 520 w 820"/>
                <a:gd name="T5" fmla="*/ 8 h 343"/>
                <a:gd name="T6" fmla="*/ 573 w 820"/>
                <a:gd name="T7" fmla="*/ 16 h 343"/>
                <a:gd name="T8" fmla="*/ 623 w 820"/>
                <a:gd name="T9" fmla="*/ 26 h 343"/>
                <a:gd name="T10" fmla="*/ 670 w 820"/>
                <a:gd name="T11" fmla="*/ 40 h 343"/>
                <a:gd name="T12" fmla="*/ 710 w 820"/>
                <a:gd name="T13" fmla="*/ 56 h 343"/>
                <a:gd name="T14" fmla="*/ 745 w 820"/>
                <a:gd name="T15" fmla="*/ 73 h 343"/>
                <a:gd name="T16" fmla="*/ 775 w 820"/>
                <a:gd name="T17" fmla="*/ 93 h 343"/>
                <a:gd name="T18" fmla="*/ 797 w 820"/>
                <a:gd name="T19" fmla="*/ 115 h 343"/>
                <a:gd name="T20" fmla="*/ 812 w 820"/>
                <a:gd name="T21" fmla="*/ 138 h 343"/>
                <a:gd name="T22" fmla="*/ 820 w 820"/>
                <a:gd name="T23" fmla="*/ 160 h 343"/>
                <a:gd name="T24" fmla="*/ 820 w 820"/>
                <a:gd name="T25" fmla="*/ 184 h 343"/>
                <a:gd name="T26" fmla="*/ 812 w 820"/>
                <a:gd name="T27" fmla="*/ 207 h 343"/>
                <a:gd name="T28" fmla="*/ 797 w 820"/>
                <a:gd name="T29" fmla="*/ 229 h 343"/>
                <a:gd name="T30" fmla="*/ 775 w 820"/>
                <a:gd name="T31" fmla="*/ 251 h 343"/>
                <a:gd name="T32" fmla="*/ 745 w 820"/>
                <a:gd name="T33" fmla="*/ 271 h 343"/>
                <a:gd name="T34" fmla="*/ 710 w 820"/>
                <a:gd name="T35" fmla="*/ 290 h 343"/>
                <a:gd name="T36" fmla="*/ 670 w 820"/>
                <a:gd name="T37" fmla="*/ 306 h 343"/>
                <a:gd name="T38" fmla="*/ 623 w 820"/>
                <a:gd name="T39" fmla="*/ 318 h 343"/>
                <a:gd name="T40" fmla="*/ 573 w 820"/>
                <a:gd name="T41" fmla="*/ 330 h 343"/>
                <a:gd name="T42" fmla="*/ 520 w 820"/>
                <a:gd name="T43" fmla="*/ 338 h 343"/>
                <a:gd name="T44" fmla="*/ 467 w 820"/>
                <a:gd name="T45" fmla="*/ 341 h 343"/>
                <a:gd name="T46" fmla="*/ 409 w 820"/>
                <a:gd name="T47" fmla="*/ 343 h 343"/>
                <a:gd name="T48" fmla="*/ 354 w 820"/>
                <a:gd name="T49" fmla="*/ 341 h 343"/>
                <a:gd name="T50" fmla="*/ 299 w 820"/>
                <a:gd name="T51" fmla="*/ 338 h 343"/>
                <a:gd name="T52" fmla="*/ 245 w 820"/>
                <a:gd name="T53" fmla="*/ 330 h 343"/>
                <a:gd name="T54" fmla="*/ 196 w 820"/>
                <a:gd name="T55" fmla="*/ 318 h 343"/>
                <a:gd name="T56" fmla="*/ 150 w 820"/>
                <a:gd name="T57" fmla="*/ 306 h 343"/>
                <a:gd name="T58" fmla="*/ 109 w 820"/>
                <a:gd name="T59" fmla="*/ 290 h 343"/>
                <a:gd name="T60" fmla="*/ 73 w 820"/>
                <a:gd name="T61" fmla="*/ 271 h 343"/>
                <a:gd name="T62" fmla="*/ 44 w 820"/>
                <a:gd name="T63" fmla="*/ 251 h 343"/>
                <a:gd name="T64" fmla="*/ 22 w 820"/>
                <a:gd name="T65" fmla="*/ 229 h 343"/>
                <a:gd name="T66" fmla="*/ 6 w 820"/>
                <a:gd name="T67" fmla="*/ 207 h 343"/>
                <a:gd name="T68" fmla="*/ 0 w 820"/>
                <a:gd name="T69" fmla="*/ 184 h 343"/>
                <a:gd name="T70" fmla="*/ 0 w 820"/>
                <a:gd name="T71" fmla="*/ 160 h 343"/>
                <a:gd name="T72" fmla="*/ 6 w 820"/>
                <a:gd name="T73" fmla="*/ 138 h 343"/>
                <a:gd name="T74" fmla="*/ 22 w 820"/>
                <a:gd name="T75" fmla="*/ 115 h 343"/>
                <a:gd name="T76" fmla="*/ 44 w 820"/>
                <a:gd name="T77" fmla="*/ 93 h 343"/>
                <a:gd name="T78" fmla="*/ 73 w 820"/>
                <a:gd name="T79" fmla="*/ 73 h 343"/>
                <a:gd name="T80" fmla="*/ 109 w 820"/>
                <a:gd name="T81" fmla="*/ 56 h 343"/>
                <a:gd name="T82" fmla="*/ 150 w 820"/>
                <a:gd name="T83" fmla="*/ 40 h 343"/>
                <a:gd name="T84" fmla="*/ 196 w 820"/>
                <a:gd name="T85" fmla="*/ 26 h 343"/>
                <a:gd name="T86" fmla="*/ 245 w 820"/>
                <a:gd name="T87" fmla="*/ 16 h 343"/>
                <a:gd name="T88" fmla="*/ 299 w 820"/>
                <a:gd name="T89" fmla="*/ 8 h 343"/>
                <a:gd name="T90" fmla="*/ 354 w 820"/>
                <a:gd name="T91" fmla="*/ 2 h 343"/>
                <a:gd name="T92" fmla="*/ 409 w 820"/>
                <a:gd name="T93" fmla="*/ 0 h 3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20"/>
                <a:gd name="T142" fmla="*/ 0 h 343"/>
                <a:gd name="T143" fmla="*/ 820 w 820"/>
                <a:gd name="T144" fmla="*/ 343 h 3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20" h="343">
                  <a:moveTo>
                    <a:pt x="409" y="0"/>
                  </a:moveTo>
                  <a:lnTo>
                    <a:pt x="467" y="2"/>
                  </a:lnTo>
                  <a:lnTo>
                    <a:pt x="520" y="8"/>
                  </a:lnTo>
                  <a:lnTo>
                    <a:pt x="573" y="16"/>
                  </a:lnTo>
                  <a:lnTo>
                    <a:pt x="623" y="26"/>
                  </a:lnTo>
                  <a:lnTo>
                    <a:pt x="670" y="40"/>
                  </a:lnTo>
                  <a:lnTo>
                    <a:pt x="710" y="56"/>
                  </a:lnTo>
                  <a:lnTo>
                    <a:pt x="745" y="73"/>
                  </a:lnTo>
                  <a:lnTo>
                    <a:pt x="775" y="93"/>
                  </a:lnTo>
                  <a:lnTo>
                    <a:pt x="797" y="115"/>
                  </a:lnTo>
                  <a:lnTo>
                    <a:pt x="812" y="138"/>
                  </a:lnTo>
                  <a:lnTo>
                    <a:pt x="820" y="160"/>
                  </a:lnTo>
                  <a:lnTo>
                    <a:pt x="820" y="184"/>
                  </a:lnTo>
                  <a:lnTo>
                    <a:pt x="812" y="207"/>
                  </a:lnTo>
                  <a:lnTo>
                    <a:pt x="797" y="229"/>
                  </a:lnTo>
                  <a:lnTo>
                    <a:pt x="775" y="251"/>
                  </a:lnTo>
                  <a:lnTo>
                    <a:pt x="745" y="271"/>
                  </a:lnTo>
                  <a:lnTo>
                    <a:pt x="710" y="290"/>
                  </a:lnTo>
                  <a:lnTo>
                    <a:pt x="670" y="306"/>
                  </a:lnTo>
                  <a:lnTo>
                    <a:pt x="623" y="318"/>
                  </a:lnTo>
                  <a:lnTo>
                    <a:pt x="573" y="330"/>
                  </a:lnTo>
                  <a:lnTo>
                    <a:pt x="520" y="338"/>
                  </a:lnTo>
                  <a:lnTo>
                    <a:pt x="467" y="341"/>
                  </a:lnTo>
                  <a:lnTo>
                    <a:pt x="409" y="343"/>
                  </a:lnTo>
                  <a:lnTo>
                    <a:pt x="354" y="341"/>
                  </a:lnTo>
                  <a:lnTo>
                    <a:pt x="299" y="338"/>
                  </a:lnTo>
                  <a:lnTo>
                    <a:pt x="245" y="330"/>
                  </a:lnTo>
                  <a:lnTo>
                    <a:pt x="196" y="318"/>
                  </a:lnTo>
                  <a:lnTo>
                    <a:pt x="150" y="306"/>
                  </a:lnTo>
                  <a:lnTo>
                    <a:pt x="109" y="290"/>
                  </a:lnTo>
                  <a:lnTo>
                    <a:pt x="73" y="271"/>
                  </a:lnTo>
                  <a:lnTo>
                    <a:pt x="44" y="251"/>
                  </a:lnTo>
                  <a:lnTo>
                    <a:pt x="22" y="229"/>
                  </a:lnTo>
                  <a:lnTo>
                    <a:pt x="6" y="207"/>
                  </a:lnTo>
                  <a:lnTo>
                    <a:pt x="0" y="184"/>
                  </a:lnTo>
                  <a:lnTo>
                    <a:pt x="0" y="160"/>
                  </a:lnTo>
                  <a:lnTo>
                    <a:pt x="6" y="138"/>
                  </a:lnTo>
                  <a:lnTo>
                    <a:pt x="22" y="115"/>
                  </a:lnTo>
                  <a:lnTo>
                    <a:pt x="44" y="93"/>
                  </a:lnTo>
                  <a:lnTo>
                    <a:pt x="73" y="73"/>
                  </a:lnTo>
                  <a:lnTo>
                    <a:pt x="109" y="56"/>
                  </a:lnTo>
                  <a:lnTo>
                    <a:pt x="150" y="40"/>
                  </a:lnTo>
                  <a:lnTo>
                    <a:pt x="196" y="26"/>
                  </a:lnTo>
                  <a:lnTo>
                    <a:pt x="245" y="16"/>
                  </a:lnTo>
                  <a:lnTo>
                    <a:pt x="299" y="8"/>
                  </a:lnTo>
                  <a:lnTo>
                    <a:pt x="354" y="2"/>
                  </a:lnTo>
                  <a:lnTo>
                    <a:pt x="409"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50" name="Rectangle 20">
              <a:extLst>
                <a:ext uri="{FF2B5EF4-FFF2-40B4-BE49-F238E27FC236}">
                  <a16:creationId xmlns:a16="http://schemas.microsoft.com/office/drawing/2014/main" id="{8544F5E4-C45F-038F-6116-29D867C2E8CC}"/>
                </a:ext>
              </a:extLst>
            </p:cNvPr>
            <p:cNvSpPr>
              <a:spLocks noChangeAspect="1" noChangeArrowheads="1"/>
            </p:cNvSpPr>
            <p:nvPr/>
          </p:nvSpPr>
          <p:spPr bwMode="auto">
            <a:xfrm>
              <a:off x="1855" y="2394"/>
              <a:ext cx="10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1</a:t>
              </a:r>
              <a:endParaRPr lang="en-US" altLang="en-US" sz="1600" b="1">
                <a:latin typeface="Arial" panose="020B0604020202020204" pitchFamily="34" charset="0"/>
              </a:endParaRPr>
            </a:p>
          </p:txBody>
        </p:sp>
      </p:grpSp>
      <p:grpSp>
        <p:nvGrpSpPr>
          <p:cNvPr id="4" name="Group 21">
            <a:extLst>
              <a:ext uri="{FF2B5EF4-FFF2-40B4-BE49-F238E27FC236}">
                <a16:creationId xmlns:a16="http://schemas.microsoft.com/office/drawing/2014/main" id="{4368445A-44BC-9F00-D3DF-0C74FF2F06AD}"/>
              </a:ext>
            </a:extLst>
          </p:cNvPr>
          <p:cNvGrpSpPr>
            <a:grpSpLocks noChangeAspect="1"/>
          </p:cNvGrpSpPr>
          <p:nvPr/>
        </p:nvGrpSpPr>
        <p:grpSpPr bwMode="auto">
          <a:xfrm>
            <a:off x="7766052" y="4392615"/>
            <a:ext cx="873125" cy="649287"/>
            <a:chOff x="452" y="1501"/>
            <a:chExt cx="834" cy="621"/>
          </a:xfrm>
        </p:grpSpPr>
        <p:sp>
          <p:nvSpPr>
            <p:cNvPr id="31847" name="Freeform 22">
              <a:extLst>
                <a:ext uri="{FF2B5EF4-FFF2-40B4-BE49-F238E27FC236}">
                  <a16:creationId xmlns:a16="http://schemas.microsoft.com/office/drawing/2014/main" id="{13ECAC2C-846B-577E-837D-D9036F83980C}"/>
                </a:ext>
              </a:extLst>
            </p:cNvPr>
            <p:cNvSpPr>
              <a:spLocks noChangeAspect="1"/>
            </p:cNvSpPr>
            <p:nvPr/>
          </p:nvSpPr>
          <p:spPr bwMode="auto">
            <a:xfrm>
              <a:off x="452" y="1662"/>
              <a:ext cx="834" cy="460"/>
            </a:xfrm>
            <a:custGeom>
              <a:avLst/>
              <a:gdLst>
                <a:gd name="T0" fmla="*/ 436 w 834"/>
                <a:gd name="T1" fmla="*/ 2 h 460"/>
                <a:gd name="T2" fmla="*/ 494 w 834"/>
                <a:gd name="T3" fmla="*/ 10 h 460"/>
                <a:gd name="T4" fmla="*/ 547 w 834"/>
                <a:gd name="T5" fmla="*/ 20 h 460"/>
                <a:gd name="T6" fmla="*/ 600 w 834"/>
                <a:gd name="T7" fmla="*/ 36 h 460"/>
                <a:gd name="T8" fmla="*/ 650 w 834"/>
                <a:gd name="T9" fmla="*/ 54 h 460"/>
                <a:gd name="T10" fmla="*/ 695 w 834"/>
                <a:gd name="T11" fmla="*/ 77 h 460"/>
                <a:gd name="T12" fmla="*/ 735 w 834"/>
                <a:gd name="T13" fmla="*/ 101 h 460"/>
                <a:gd name="T14" fmla="*/ 768 w 834"/>
                <a:gd name="T15" fmla="*/ 128 h 460"/>
                <a:gd name="T16" fmla="*/ 796 w 834"/>
                <a:gd name="T17" fmla="*/ 158 h 460"/>
                <a:gd name="T18" fmla="*/ 816 w 834"/>
                <a:gd name="T19" fmla="*/ 188 h 460"/>
                <a:gd name="T20" fmla="*/ 830 w 834"/>
                <a:gd name="T21" fmla="*/ 219 h 460"/>
                <a:gd name="T22" fmla="*/ 834 w 834"/>
                <a:gd name="T23" fmla="*/ 251 h 460"/>
                <a:gd name="T24" fmla="*/ 832 w 834"/>
                <a:gd name="T25" fmla="*/ 282 h 460"/>
                <a:gd name="T26" fmla="*/ 820 w 834"/>
                <a:gd name="T27" fmla="*/ 312 h 460"/>
                <a:gd name="T28" fmla="*/ 802 w 834"/>
                <a:gd name="T29" fmla="*/ 339 h 460"/>
                <a:gd name="T30" fmla="*/ 778 w 834"/>
                <a:gd name="T31" fmla="*/ 367 h 460"/>
                <a:gd name="T32" fmla="*/ 745 w 834"/>
                <a:gd name="T33" fmla="*/ 391 h 460"/>
                <a:gd name="T34" fmla="*/ 707 w 834"/>
                <a:gd name="T35" fmla="*/ 412 h 460"/>
                <a:gd name="T36" fmla="*/ 664 w 834"/>
                <a:gd name="T37" fmla="*/ 430 h 460"/>
                <a:gd name="T38" fmla="*/ 616 w 834"/>
                <a:gd name="T39" fmla="*/ 444 h 460"/>
                <a:gd name="T40" fmla="*/ 565 w 834"/>
                <a:gd name="T41" fmla="*/ 454 h 460"/>
                <a:gd name="T42" fmla="*/ 510 w 834"/>
                <a:gd name="T43" fmla="*/ 460 h 460"/>
                <a:gd name="T44" fmla="*/ 454 w 834"/>
                <a:gd name="T45" fmla="*/ 460 h 460"/>
                <a:gd name="T46" fmla="*/ 397 w 834"/>
                <a:gd name="T47" fmla="*/ 458 h 460"/>
                <a:gd name="T48" fmla="*/ 340 w 834"/>
                <a:gd name="T49" fmla="*/ 450 h 460"/>
                <a:gd name="T50" fmla="*/ 284 w 834"/>
                <a:gd name="T51" fmla="*/ 440 h 460"/>
                <a:gd name="T52" fmla="*/ 231 w 834"/>
                <a:gd name="T53" fmla="*/ 424 h 460"/>
                <a:gd name="T54" fmla="*/ 183 w 834"/>
                <a:gd name="T55" fmla="*/ 404 h 460"/>
                <a:gd name="T56" fmla="*/ 138 w 834"/>
                <a:gd name="T57" fmla="*/ 383 h 460"/>
                <a:gd name="T58" fmla="*/ 98 w 834"/>
                <a:gd name="T59" fmla="*/ 359 h 460"/>
                <a:gd name="T60" fmla="*/ 65 w 834"/>
                <a:gd name="T61" fmla="*/ 331 h 460"/>
                <a:gd name="T62" fmla="*/ 37 w 834"/>
                <a:gd name="T63" fmla="*/ 302 h 460"/>
                <a:gd name="T64" fmla="*/ 17 w 834"/>
                <a:gd name="T65" fmla="*/ 272 h 460"/>
                <a:gd name="T66" fmla="*/ 3 w 834"/>
                <a:gd name="T67" fmla="*/ 241 h 460"/>
                <a:gd name="T68" fmla="*/ 0 w 834"/>
                <a:gd name="T69" fmla="*/ 209 h 460"/>
                <a:gd name="T70" fmla="*/ 1 w 834"/>
                <a:gd name="T71" fmla="*/ 178 h 460"/>
                <a:gd name="T72" fmla="*/ 11 w 834"/>
                <a:gd name="T73" fmla="*/ 148 h 460"/>
                <a:gd name="T74" fmla="*/ 29 w 834"/>
                <a:gd name="T75" fmla="*/ 119 h 460"/>
                <a:gd name="T76" fmla="*/ 55 w 834"/>
                <a:gd name="T77" fmla="*/ 93 h 460"/>
                <a:gd name="T78" fmla="*/ 86 w 834"/>
                <a:gd name="T79" fmla="*/ 69 h 460"/>
                <a:gd name="T80" fmla="*/ 124 w 834"/>
                <a:gd name="T81" fmla="*/ 48 h 460"/>
                <a:gd name="T82" fmla="*/ 168 w 834"/>
                <a:gd name="T83" fmla="*/ 30 h 460"/>
                <a:gd name="T84" fmla="*/ 217 w 834"/>
                <a:gd name="T85" fmla="*/ 16 h 460"/>
                <a:gd name="T86" fmla="*/ 268 w 834"/>
                <a:gd name="T87" fmla="*/ 6 h 460"/>
                <a:gd name="T88" fmla="*/ 324 w 834"/>
                <a:gd name="T89" fmla="*/ 0 h 460"/>
                <a:gd name="T90" fmla="*/ 379 w 834"/>
                <a:gd name="T91" fmla="*/ 0 h 460"/>
                <a:gd name="T92" fmla="*/ 436 w 834"/>
                <a:gd name="T93" fmla="*/ 2 h 46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34"/>
                <a:gd name="T142" fmla="*/ 0 h 460"/>
                <a:gd name="T143" fmla="*/ 834 w 834"/>
                <a:gd name="T144" fmla="*/ 460 h 46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34" h="460">
                  <a:moveTo>
                    <a:pt x="436" y="2"/>
                  </a:moveTo>
                  <a:lnTo>
                    <a:pt x="494" y="10"/>
                  </a:lnTo>
                  <a:lnTo>
                    <a:pt x="547" y="20"/>
                  </a:lnTo>
                  <a:lnTo>
                    <a:pt x="600" y="36"/>
                  </a:lnTo>
                  <a:lnTo>
                    <a:pt x="650" y="54"/>
                  </a:lnTo>
                  <a:lnTo>
                    <a:pt x="695" y="77"/>
                  </a:lnTo>
                  <a:lnTo>
                    <a:pt x="735" y="101"/>
                  </a:lnTo>
                  <a:lnTo>
                    <a:pt x="768" y="128"/>
                  </a:lnTo>
                  <a:lnTo>
                    <a:pt x="796" y="158"/>
                  </a:lnTo>
                  <a:lnTo>
                    <a:pt x="816" y="188"/>
                  </a:lnTo>
                  <a:lnTo>
                    <a:pt x="830" y="219"/>
                  </a:lnTo>
                  <a:lnTo>
                    <a:pt x="834" y="251"/>
                  </a:lnTo>
                  <a:lnTo>
                    <a:pt x="832" y="282"/>
                  </a:lnTo>
                  <a:lnTo>
                    <a:pt x="820" y="312"/>
                  </a:lnTo>
                  <a:lnTo>
                    <a:pt x="802" y="339"/>
                  </a:lnTo>
                  <a:lnTo>
                    <a:pt x="778" y="367"/>
                  </a:lnTo>
                  <a:lnTo>
                    <a:pt x="745" y="391"/>
                  </a:lnTo>
                  <a:lnTo>
                    <a:pt x="707" y="412"/>
                  </a:lnTo>
                  <a:lnTo>
                    <a:pt x="664" y="430"/>
                  </a:lnTo>
                  <a:lnTo>
                    <a:pt x="616" y="444"/>
                  </a:lnTo>
                  <a:lnTo>
                    <a:pt x="565" y="454"/>
                  </a:lnTo>
                  <a:lnTo>
                    <a:pt x="510" y="460"/>
                  </a:lnTo>
                  <a:lnTo>
                    <a:pt x="454" y="460"/>
                  </a:lnTo>
                  <a:lnTo>
                    <a:pt x="397" y="458"/>
                  </a:lnTo>
                  <a:lnTo>
                    <a:pt x="340" y="450"/>
                  </a:lnTo>
                  <a:lnTo>
                    <a:pt x="284" y="440"/>
                  </a:lnTo>
                  <a:lnTo>
                    <a:pt x="231" y="424"/>
                  </a:lnTo>
                  <a:lnTo>
                    <a:pt x="183" y="404"/>
                  </a:lnTo>
                  <a:lnTo>
                    <a:pt x="138" y="383"/>
                  </a:lnTo>
                  <a:lnTo>
                    <a:pt x="98" y="359"/>
                  </a:lnTo>
                  <a:lnTo>
                    <a:pt x="65" y="331"/>
                  </a:lnTo>
                  <a:lnTo>
                    <a:pt x="37" y="302"/>
                  </a:lnTo>
                  <a:lnTo>
                    <a:pt x="17" y="272"/>
                  </a:lnTo>
                  <a:lnTo>
                    <a:pt x="3" y="241"/>
                  </a:lnTo>
                  <a:lnTo>
                    <a:pt x="0" y="209"/>
                  </a:lnTo>
                  <a:lnTo>
                    <a:pt x="1" y="178"/>
                  </a:lnTo>
                  <a:lnTo>
                    <a:pt x="11" y="148"/>
                  </a:lnTo>
                  <a:lnTo>
                    <a:pt x="29" y="119"/>
                  </a:lnTo>
                  <a:lnTo>
                    <a:pt x="55" y="93"/>
                  </a:lnTo>
                  <a:lnTo>
                    <a:pt x="86" y="69"/>
                  </a:lnTo>
                  <a:lnTo>
                    <a:pt x="124" y="48"/>
                  </a:lnTo>
                  <a:lnTo>
                    <a:pt x="168" y="30"/>
                  </a:lnTo>
                  <a:lnTo>
                    <a:pt x="217" y="16"/>
                  </a:lnTo>
                  <a:lnTo>
                    <a:pt x="268" y="6"/>
                  </a:lnTo>
                  <a:lnTo>
                    <a:pt x="324" y="0"/>
                  </a:lnTo>
                  <a:lnTo>
                    <a:pt x="379" y="0"/>
                  </a:lnTo>
                  <a:lnTo>
                    <a:pt x="436" y="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48" name="Rectangle 23">
              <a:extLst>
                <a:ext uri="{FF2B5EF4-FFF2-40B4-BE49-F238E27FC236}">
                  <a16:creationId xmlns:a16="http://schemas.microsoft.com/office/drawing/2014/main" id="{F147E925-BA14-9829-F282-68D38C1E9284}"/>
                </a:ext>
              </a:extLst>
            </p:cNvPr>
            <p:cNvSpPr>
              <a:spLocks noChangeAspect="1" noChangeArrowheads="1"/>
            </p:cNvSpPr>
            <p:nvPr/>
          </p:nvSpPr>
          <p:spPr bwMode="auto">
            <a:xfrm>
              <a:off x="943" y="1501"/>
              <a:ext cx="10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2</a:t>
              </a:r>
              <a:endParaRPr lang="en-US" altLang="en-US" sz="1600" b="1">
                <a:latin typeface="Arial" panose="020B0604020202020204" pitchFamily="34" charset="0"/>
              </a:endParaRPr>
            </a:p>
          </p:txBody>
        </p:sp>
      </p:grpSp>
      <p:grpSp>
        <p:nvGrpSpPr>
          <p:cNvPr id="5" name="Group 24">
            <a:extLst>
              <a:ext uri="{FF2B5EF4-FFF2-40B4-BE49-F238E27FC236}">
                <a16:creationId xmlns:a16="http://schemas.microsoft.com/office/drawing/2014/main" id="{587E89EE-D458-7A36-5D03-A296404E8033}"/>
              </a:ext>
            </a:extLst>
          </p:cNvPr>
          <p:cNvGrpSpPr>
            <a:grpSpLocks noChangeAspect="1"/>
          </p:cNvGrpSpPr>
          <p:nvPr/>
        </p:nvGrpSpPr>
        <p:grpSpPr bwMode="auto">
          <a:xfrm>
            <a:off x="7558087" y="3890965"/>
            <a:ext cx="2413000" cy="2281237"/>
            <a:chOff x="254" y="1022"/>
            <a:chExt cx="2305" cy="2180"/>
          </a:xfrm>
        </p:grpSpPr>
        <p:sp>
          <p:nvSpPr>
            <p:cNvPr id="31845" name="Rectangle 25">
              <a:extLst>
                <a:ext uri="{FF2B5EF4-FFF2-40B4-BE49-F238E27FC236}">
                  <a16:creationId xmlns:a16="http://schemas.microsoft.com/office/drawing/2014/main" id="{F949093C-46D2-5C27-0339-E718B4B5F48B}"/>
                </a:ext>
              </a:extLst>
            </p:cNvPr>
            <p:cNvSpPr>
              <a:spLocks noChangeAspect="1" noChangeArrowheads="1"/>
            </p:cNvSpPr>
            <p:nvPr/>
          </p:nvSpPr>
          <p:spPr bwMode="auto">
            <a:xfrm>
              <a:off x="563" y="1148"/>
              <a:ext cx="10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5</a:t>
              </a:r>
              <a:endParaRPr lang="en-US" altLang="en-US" sz="1600" b="1">
                <a:latin typeface="Arial" panose="020B0604020202020204" pitchFamily="34" charset="0"/>
              </a:endParaRPr>
            </a:p>
          </p:txBody>
        </p:sp>
        <p:sp>
          <p:nvSpPr>
            <p:cNvPr id="31846" name="Freeform 26">
              <a:extLst>
                <a:ext uri="{FF2B5EF4-FFF2-40B4-BE49-F238E27FC236}">
                  <a16:creationId xmlns:a16="http://schemas.microsoft.com/office/drawing/2014/main" id="{58DD429E-5D27-B7D9-628D-9D5908A0B6E4}"/>
                </a:ext>
              </a:extLst>
            </p:cNvPr>
            <p:cNvSpPr>
              <a:spLocks noChangeAspect="1"/>
            </p:cNvSpPr>
            <p:nvPr/>
          </p:nvSpPr>
          <p:spPr bwMode="auto">
            <a:xfrm>
              <a:off x="254" y="1022"/>
              <a:ext cx="2305" cy="2180"/>
            </a:xfrm>
            <a:custGeom>
              <a:avLst/>
              <a:gdLst>
                <a:gd name="T0" fmla="*/ 1245 w 2305"/>
                <a:gd name="T1" fmla="*/ 4 h 2180"/>
                <a:gd name="T2" fmla="*/ 1433 w 2305"/>
                <a:gd name="T3" fmla="*/ 33 h 2180"/>
                <a:gd name="T4" fmla="*/ 1615 w 2305"/>
                <a:gd name="T5" fmla="*/ 90 h 2180"/>
                <a:gd name="T6" fmla="*/ 1781 w 2305"/>
                <a:gd name="T7" fmla="*/ 175 h 2180"/>
                <a:gd name="T8" fmla="*/ 1931 w 2305"/>
                <a:gd name="T9" fmla="*/ 286 h 2180"/>
                <a:gd name="T10" fmla="*/ 2062 w 2305"/>
                <a:gd name="T11" fmla="*/ 420 h 2180"/>
                <a:gd name="T12" fmla="*/ 2166 w 2305"/>
                <a:gd name="T13" fmla="*/ 569 h 2180"/>
                <a:gd name="T14" fmla="*/ 2242 w 2305"/>
                <a:gd name="T15" fmla="*/ 735 h 2180"/>
                <a:gd name="T16" fmla="*/ 2289 w 2305"/>
                <a:gd name="T17" fmla="*/ 908 h 2180"/>
                <a:gd name="T18" fmla="*/ 2305 w 2305"/>
                <a:gd name="T19" fmla="*/ 1088 h 2180"/>
                <a:gd name="T20" fmla="*/ 2289 w 2305"/>
                <a:gd name="T21" fmla="*/ 1267 h 2180"/>
                <a:gd name="T22" fmla="*/ 2243 w 2305"/>
                <a:gd name="T23" fmla="*/ 1443 h 2180"/>
                <a:gd name="T24" fmla="*/ 2166 w 2305"/>
                <a:gd name="T25" fmla="*/ 1606 h 2180"/>
                <a:gd name="T26" fmla="*/ 2064 w 2305"/>
                <a:gd name="T27" fmla="*/ 1758 h 2180"/>
                <a:gd name="T28" fmla="*/ 1935 w 2305"/>
                <a:gd name="T29" fmla="*/ 1890 h 2180"/>
                <a:gd name="T30" fmla="*/ 1785 w 2305"/>
                <a:gd name="T31" fmla="*/ 2002 h 2180"/>
                <a:gd name="T32" fmla="*/ 1617 w 2305"/>
                <a:gd name="T33" fmla="*/ 2087 h 2180"/>
                <a:gd name="T34" fmla="*/ 1437 w 2305"/>
                <a:gd name="T35" fmla="*/ 2146 h 2180"/>
                <a:gd name="T36" fmla="*/ 1249 w 2305"/>
                <a:gd name="T37" fmla="*/ 2176 h 2180"/>
                <a:gd name="T38" fmla="*/ 1059 w 2305"/>
                <a:gd name="T39" fmla="*/ 2176 h 2180"/>
                <a:gd name="T40" fmla="*/ 872 w 2305"/>
                <a:gd name="T41" fmla="*/ 2148 h 2180"/>
                <a:gd name="T42" fmla="*/ 692 w 2305"/>
                <a:gd name="T43" fmla="*/ 2089 h 2180"/>
                <a:gd name="T44" fmla="*/ 524 w 2305"/>
                <a:gd name="T45" fmla="*/ 2004 h 2180"/>
                <a:gd name="T46" fmla="*/ 373 w 2305"/>
                <a:gd name="T47" fmla="*/ 1894 h 2180"/>
                <a:gd name="T48" fmla="*/ 245 w 2305"/>
                <a:gd name="T49" fmla="*/ 1762 h 2180"/>
                <a:gd name="T50" fmla="*/ 140 w 2305"/>
                <a:gd name="T51" fmla="*/ 1610 h 2180"/>
                <a:gd name="T52" fmla="*/ 63 w 2305"/>
                <a:gd name="T53" fmla="*/ 1447 h 2180"/>
                <a:gd name="T54" fmla="*/ 16 w 2305"/>
                <a:gd name="T55" fmla="*/ 1271 h 2180"/>
                <a:gd name="T56" fmla="*/ 0 w 2305"/>
                <a:gd name="T57" fmla="*/ 1092 h 2180"/>
                <a:gd name="T58" fmla="*/ 16 w 2305"/>
                <a:gd name="T59" fmla="*/ 912 h 2180"/>
                <a:gd name="T60" fmla="*/ 63 w 2305"/>
                <a:gd name="T61" fmla="*/ 737 h 2180"/>
                <a:gd name="T62" fmla="*/ 138 w 2305"/>
                <a:gd name="T63" fmla="*/ 573 h 2180"/>
                <a:gd name="T64" fmla="*/ 243 w 2305"/>
                <a:gd name="T65" fmla="*/ 422 h 2180"/>
                <a:gd name="T66" fmla="*/ 371 w 2305"/>
                <a:gd name="T67" fmla="*/ 290 h 2180"/>
                <a:gd name="T68" fmla="*/ 522 w 2305"/>
                <a:gd name="T69" fmla="*/ 179 h 2180"/>
                <a:gd name="T70" fmla="*/ 688 w 2305"/>
                <a:gd name="T71" fmla="*/ 92 h 2180"/>
                <a:gd name="T72" fmla="*/ 868 w 2305"/>
                <a:gd name="T73" fmla="*/ 33 h 2180"/>
                <a:gd name="T74" fmla="*/ 1055 w 2305"/>
                <a:gd name="T75" fmla="*/ 4 h 21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305"/>
                <a:gd name="T115" fmla="*/ 0 h 2180"/>
                <a:gd name="T116" fmla="*/ 2305 w 2305"/>
                <a:gd name="T117" fmla="*/ 2180 h 21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305" h="2180">
                  <a:moveTo>
                    <a:pt x="1150" y="0"/>
                  </a:moveTo>
                  <a:lnTo>
                    <a:pt x="1245" y="4"/>
                  </a:lnTo>
                  <a:lnTo>
                    <a:pt x="1340" y="14"/>
                  </a:lnTo>
                  <a:lnTo>
                    <a:pt x="1433" y="33"/>
                  </a:lnTo>
                  <a:lnTo>
                    <a:pt x="1526" y="59"/>
                  </a:lnTo>
                  <a:lnTo>
                    <a:pt x="1615" y="90"/>
                  </a:lnTo>
                  <a:lnTo>
                    <a:pt x="1700" y="130"/>
                  </a:lnTo>
                  <a:lnTo>
                    <a:pt x="1781" y="175"/>
                  </a:lnTo>
                  <a:lnTo>
                    <a:pt x="1860" y="228"/>
                  </a:lnTo>
                  <a:lnTo>
                    <a:pt x="1931" y="286"/>
                  </a:lnTo>
                  <a:lnTo>
                    <a:pt x="2000" y="351"/>
                  </a:lnTo>
                  <a:lnTo>
                    <a:pt x="2062" y="420"/>
                  </a:lnTo>
                  <a:lnTo>
                    <a:pt x="2117" y="493"/>
                  </a:lnTo>
                  <a:lnTo>
                    <a:pt x="2166" y="569"/>
                  </a:lnTo>
                  <a:lnTo>
                    <a:pt x="2208" y="650"/>
                  </a:lnTo>
                  <a:lnTo>
                    <a:pt x="2242" y="735"/>
                  </a:lnTo>
                  <a:lnTo>
                    <a:pt x="2269" y="820"/>
                  </a:lnTo>
                  <a:lnTo>
                    <a:pt x="2289" y="908"/>
                  </a:lnTo>
                  <a:lnTo>
                    <a:pt x="2301" y="997"/>
                  </a:lnTo>
                  <a:lnTo>
                    <a:pt x="2305" y="1088"/>
                  </a:lnTo>
                  <a:lnTo>
                    <a:pt x="2301" y="1178"/>
                  </a:lnTo>
                  <a:lnTo>
                    <a:pt x="2289" y="1267"/>
                  </a:lnTo>
                  <a:lnTo>
                    <a:pt x="2271" y="1356"/>
                  </a:lnTo>
                  <a:lnTo>
                    <a:pt x="2243" y="1443"/>
                  </a:lnTo>
                  <a:lnTo>
                    <a:pt x="2210" y="1525"/>
                  </a:lnTo>
                  <a:lnTo>
                    <a:pt x="2166" y="1606"/>
                  </a:lnTo>
                  <a:lnTo>
                    <a:pt x="2119" y="1685"/>
                  </a:lnTo>
                  <a:lnTo>
                    <a:pt x="2064" y="1758"/>
                  </a:lnTo>
                  <a:lnTo>
                    <a:pt x="2002" y="1827"/>
                  </a:lnTo>
                  <a:lnTo>
                    <a:pt x="1935" y="1890"/>
                  </a:lnTo>
                  <a:lnTo>
                    <a:pt x="1862" y="1949"/>
                  </a:lnTo>
                  <a:lnTo>
                    <a:pt x="1785" y="2002"/>
                  </a:lnTo>
                  <a:lnTo>
                    <a:pt x="1704" y="2048"/>
                  </a:lnTo>
                  <a:lnTo>
                    <a:pt x="1617" y="2087"/>
                  </a:lnTo>
                  <a:lnTo>
                    <a:pt x="1528" y="2121"/>
                  </a:lnTo>
                  <a:lnTo>
                    <a:pt x="1437" y="2146"/>
                  </a:lnTo>
                  <a:lnTo>
                    <a:pt x="1344" y="2164"/>
                  </a:lnTo>
                  <a:lnTo>
                    <a:pt x="1249" y="2176"/>
                  </a:lnTo>
                  <a:lnTo>
                    <a:pt x="1154" y="2180"/>
                  </a:lnTo>
                  <a:lnTo>
                    <a:pt x="1059" y="2176"/>
                  </a:lnTo>
                  <a:lnTo>
                    <a:pt x="965" y="2166"/>
                  </a:lnTo>
                  <a:lnTo>
                    <a:pt x="872" y="2148"/>
                  </a:lnTo>
                  <a:lnTo>
                    <a:pt x="781" y="2123"/>
                  </a:lnTo>
                  <a:lnTo>
                    <a:pt x="692" y="2089"/>
                  </a:lnTo>
                  <a:lnTo>
                    <a:pt x="607" y="2050"/>
                  </a:lnTo>
                  <a:lnTo>
                    <a:pt x="524" y="2004"/>
                  </a:lnTo>
                  <a:lnTo>
                    <a:pt x="447" y="1951"/>
                  </a:lnTo>
                  <a:lnTo>
                    <a:pt x="373" y="1894"/>
                  </a:lnTo>
                  <a:lnTo>
                    <a:pt x="306" y="1829"/>
                  </a:lnTo>
                  <a:lnTo>
                    <a:pt x="245" y="1762"/>
                  </a:lnTo>
                  <a:lnTo>
                    <a:pt x="190" y="1687"/>
                  </a:lnTo>
                  <a:lnTo>
                    <a:pt x="140" y="1610"/>
                  </a:lnTo>
                  <a:lnTo>
                    <a:pt x="99" y="1529"/>
                  </a:lnTo>
                  <a:lnTo>
                    <a:pt x="63" y="1447"/>
                  </a:lnTo>
                  <a:lnTo>
                    <a:pt x="35" y="1360"/>
                  </a:lnTo>
                  <a:lnTo>
                    <a:pt x="16" y="1271"/>
                  </a:lnTo>
                  <a:lnTo>
                    <a:pt x="4" y="1182"/>
                  </a:lnTo>
                  <a:lnTo>
                    <a:pt x="0" y="1092"/>
                  </a:lnTo>
                  <a:lnTo>
                    <a:pt x="4" y="1001"/>
                  </a:lnTo>
                  <a:lnTo>
                    <a:pt x="16" y="912"/>
                  </a:lnTo>
                  <a:lnTo>
                    <a:pt x="35" y="824"/>
                  </a:lnTo>
                  <a:lnTo>
                    <a:pt x="63" y="737"/>
                  </a:lnTo>
                  <a:lnTo>
                    <a:pt x="97" y="654"/>
                  </a:lnTo>
                  <a:lnTo>
                    <a:pt x="138" y="573"/>
                  </a:lnTo>
                  <a:lnTo>
                    <a:pt x="188" y="495"/>
                  </a:lnTo>
                  <a:lnTo>
                    <a:pt x="243" y="422"/>
                  </a:lnTo>
                  <a:lnTo>
                    <a:pt x="304" y="353"/>
                  </a:lnTo>
                  <a:lnTo>
                    <a:pt x="371" y="290"/>
                  </a:lnTo>
                  <a:lnTo>
                    <a:pt x="443" y="230"/>
                  </a:lnTo>
                  <a:lnTo>
                    <a:pt x="522" y="179"/>
                  </a:lnTo>
                  <a:lnTo>
                    <a:pt x="603" y="132"/>
                  </a:lnTo>
                  <a:lnTo>
                    <a:pt x="688" y="92"/>
                  </a:lnTo>
                  <a:lnTo>
                    <a:pt x="777" y="59"/>
                  </a:lnTo>
                  <a:lnTo>
                    <a:pt x="868" y="33"/>
                  </a:lnTo>
                  <a:lnTo>
                    <a:pt x="961" y="16"/>
                  </a:lnTo>
                  <a:lnTo>
                    <a:pt x="1055" y="4"/>
                  </a:lnTo>
                  <a:lnTo>
                    <a:pt x="115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6" name="Group 27">
            <a:extLst>
              <a:ext uri="{FF2B5EF4-FFF2-40B4-BE49-F238E27FC236}">
                <a16:creationId xmlns:a16="http://schemas.microsoft.com/office/drawing/2014/main" id="{6BA117D5-F09D-6309-2612-19C1CB8E86BD}"/>
              </a:ext>
            </a:extLst>
          </p:cNvPr>
          <p:cNvGrpSpPr>
            <a:grpSpLocks noChangeAspect="1"/>
          </p:cNvGrpSpPr>
          <p:nvPr/>
        </p:nvGrpSpPr>
        <p:grpSpPr bwMode="auto">
          <a:xfrm>
            <a:off x="8566150" y="4865687"/>
            <a:ext cx="1187450" cy="1143506"/>
            <a:chOff x="1217" y="1954"/>
            <a:chExt cx="1134" cy="1092"/>
          </a:xfrm>
        </p:grpSpPr>
        <p:sp>
          <p:nvSpPr>
            <p:cNvPr id="31843" name="Rectangle 28">
              <a:extLst>
                <a:ext uri="{FF2B5EF4-FFF2-40B4-BE49-F238E27FC236}">
                  <a16:creationId xmlns:a16="http://schemas.microsoft.com/office/drawing/2014/main" id="{3F0ABCF0-4BE9-88D9-A546-3237C9E4A118}"/>
                </a:ext>
              </a:extLst>
            </p:cNvPr>
            <p:cNvSpPr>
              <a:spLocks noChangeAspect="1" noChangeArrowheads="1"/>
            </p:cNvSpPr>
            <p:nvPr/>
          </p:nvSpPr>
          <p:spPr bwMode="auto">
            <a:xfrm>
              <a:off x="1666" y="2811"/>
              <a:ext cx="10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3</a:t>
              </a:r>
              <a:endParaRPr lang="en-US" altLang="en-US" sz="1600" b="1">
                <a:latin typeface="Arial" panose="020B0604020202020204" pitchFamily="34" charset="0"/>
              </a:endParaRPr>
            </a:p>
          </p:txBody>
        </p:sp>
        <p:sp>
          <p:nvSpPr>
            <p:cNvPr id="31844" name="Freeform 29">
              <a:extLst>
                <a:ext uri="{FF2B5EF4-FFF2-40B4-BE49-F238E27FC236}">
                  <a16:creationId xmlns:a16="http://schemas.microsoft.com/office/drawing/2014/main" id="{A8FB382C-7A3A-79C3-B0BE-657A22FAC41B}"/>
                </a:ext>
              </a:extLst>
            </p:cNvPr>
            <p:cNvSpPr>
              <a:spLocks noChangeAspect="1"/>
            </p:cNvSpPr>
            <p:nvPr/>
          </p:nvSpPr>
          <p:spPr bwMode="auto">
            <a:xfrm>
              <a:off x="1217" y="1954"/>
              <a:ext cx="1134" cy="909"/>
            </a:xfrm>
            <a:custGeom>
              <a:avLst/>
              <a:gdLst>
                <a:gd name="T0" fmla="*/ 371 w 1134"/>
                <a:gd name="T1" fmla="*/ 142 h 909"/>
                <a:gd name="T2" fmla="*/ 430 w 1134"/>
                <a:gd name="T3" fmla="*/ 108 h 909"/>
                <a:gd name="T4" fmla="*/ 492 w 1134"/>
                <a:gd name="T5" fmla="*/ 79 h 909"/>
                <a:gd name="T6" fmla="*/ 551 w 1134"/>
                <a:gd name="T7" fmla="*/ 53 h 909"/>
                <a:gd name="T8" fmla="*/ 614 w 1134"/>
                <a:gd name="T9" fmla="*/ 32 h 909"/>
                <a:gd name="T10" fmla="*/ 674 w 1134"/>
                <a:gd name="T11" fmla="*/ 16 h 909"/>
                <a:gd name="T12" fmla="*/ 735 w 1134"/>
                <a:gd name="T13" fmla="*/ 6 h 909"/>
                <a:gd name="T14" fmla="*/ 792 w 1134"/>
                <a:gd name="T15" fmla="*/ 0 h 909"/>
                <a:gd name="T16" fmla="*/ 848 w 1134"/>
                <a:gd name="T17" fmla="*/ 0 h 909"/>
                <a:gd name="T18" fmla="*/ 899 w 1134"/>
                <a:gd name="T19" fmla="*/ 4 h 909"/>
                <a:gd name="T20" fmla="*/ 946 w 1134"/>
                <a:gd name="T21" fmla="*/ 14 h 909"/>
                <a:gd name="T22" fmla="*/ 990 w 1134"/>
                <a:gd name="T23" fmla="*/ 30 h 909"/>
                <a:gd name="T24" fmla="*/ 1027 w 1134"/>
                <a:gd name="T25" fmla="*/ 51 h 909"/>
                <a:gd name="T26" fmla="*/ 1061 w 1134"/>
                <a:gd name="T27" fmla="*/ 77 h 909"/>
                <a:gd name="T28" fmla="*/ 1089 w 1134"/>
                <a:gd name="T29" fmla="*/ 107 h 909"/>
                <a:gd name="T30" fmla="*/ 1110 w 1134"/>
                <a:gd name="T31" fmla="*/ 140 h 909"/>
                <a:gd name="T32" fmla="*/ 1124 w 1134"/>
                <a:gd name="T33" fmla="*/ 177 h 909"/>
                <a:gd name="T34" fmla="*/ 1132 w 1134"/>
                <a:gd name="T35" fmla="*/ 217 h 909"/>
                <a:gd name="T36" fmla="*/ 1134 w 1134"/>
                <a:gd name="T37" fmla="*/ 260 h 909"/>
                <a:gd name="T38" fmla="*/ 1128 w 1134"/>
                <a:gd name="T39" fmla="*/ 308 h 909"/>
                <a:gd name="T40" fmla="*/ 1118 w 1134"/>
                <a:gd name="T41" fmla="*/ 355 h 909"/>
                <a:gd name="T42" fmla="*/ 1099 w 1134"/>
                <a:gd name="T43" fmla="*/ 402 h 909"/>
                <a:gd name="T44" fmla="*/ 1075 w 1134"/>
                <a:gd name="T45" fmla="*/ 451 h 909"/>
                <a:gd name="T46" fmla="*/ 1045 w 1134"/>
                <a:gd name="T47" fmla="*/ 501 h 909"/>
                <a:gd name="T48" fmla="*/ 1010 w 1134"/>
                <a:gd name="T49" fmla="*/ 550 h 909"/>
                <a:gd name="T50" fmla="*/ 968 w 1134"/>
                <a:gd name="T51" fmla="*/ 597 h 909"/>
                <a:gd name="T52" fmla="*/ 923 w 1134"/>
                <a:gd name="T53" fmla="*/ 643 h 909"/>
                <a:gd name="T54" fmla="*/ 871 w 1134"/>
                <a:gd name="T55" fmla="*/ 688 h 909"/>
                <a:gd name="T56" fmla="*/ 818 w 1134"/>
                <a:gd name="T57" fmla="*/ 727 h 909"/>
                <a:gd name="T58" fmla="*/ 763 w 1134"/>
                <a:gd name="T59" fmla="*/ 765 h 909"/>
                <a:gd name="T60" fmla="*/ 703 w 1134"/>
                <a:gd name="T61" fmla="*/ 800 h 909"/>
                <a:gd name="T62" fmla="*/ 644 w 1134"/>
                <a:gd name="T63" fmla="*/ 830 h 909"/>
                <a:gd name="T64" fmla="*/ 583 w 1134"/>
                <a:gd name="T65" fmla="*/ 855 h 909"/>
                <a:gd name="T66" fmla="*/ 519 w 1134"/>
                <a:gd name="T67" fmla="*/ 877 h 909"/>
                <a:gd name="T68" fmla="*/ 460 w 1134"/>
                <a:gd name="T69" fmla="*/ 893 h 909"/>
                <a:gd name="T70" fmla="*/ 401 w 1134"/>
                <a:gd name="T71" fmla="*/ 903 h 909"/>
                <a:gd name="T72" fmla="*/ 342 w 1134"/>
                <a:gd name="T73" fmla="*/ 909 h 909"/>
                <a:gd name="T74" fmla="*/ 286 w 1134"/>
                <a:gd name="T75" fmla="*/ 909 h 909"/>
                <a:gd name="T76" fmla="*/ 235 w 1134"/>
                <a:gd name="T77" fmla="*/ 905 h 909"/>
                <a:gd name="T78" fmla="*/ 187 w 1134"/>
                <a:gd name="T79" fmla="*/ 893 h 909"/>
                <a:gd name="T80" fmla="*/ 144 w 1134"/>
                <a:gd name="T81" fmla="*/ 877 h 909"/>
                <a:gd name="T82" fmla="*/ 106 w 1134"/>
                <a:gd name="T83" fmla="*/ 857 h 909"/>
                <a:gd name="T84" fmla="*/ 73 w 1134"/>
                <a:gd name="T85" fmla="*/ 832 h 909"/>
                <a:gd name="T86" fmla="*/ 45 w 1134"/>
                <a:gd name="T87" fmla="*/ 802 h 909"/>
                <a:gd name="T88" fmla="*/ 23 w 1134"/>
                <a:gd name="T89" fmla="*/ 769 h 909"/>
                <a:gd name="T90" fmla="*/ 9 w 1134"/>
                <a:gd name="T91" fmla="*/ 731 h 909"/>
                <a:gd name="T92" fmla="*/ 2 w 1134"/>
                <a:gd name="T93" fmla="*/ 690 h 909"/>
                <a:gd name="T94" fmla="*/ 0 w 1134"/>
                <a:gd name="T95" fmla="*/ 647 h 909"/>
                <a:gd name="T96" fmla="*/ 5 w 1134"/>
                <a:gd name="T97" fmla="*/ 601 h 909"/>
                <a:gd name="T98" fmla="*/ 15 w 1134"/>
                <a:gd name="T99" fmla="*/ 554 h 909"/>
                <a:gd name="T100" fmla="*/ 35 w 1134"/>
                <a:gd name="T101" fmla="*/ 505 h 909"/>
                <a:gd name="T102" fmla="*/ 59 w 1134"/>
                <a:gd name="T103" fmla="*/ 455 h 909"/>
                <a:gd name="T104" fmla="*/ 88 w 1134"/>
                <a:gd name="T105" fmla="*/ 406 h 909"/>
                <a:gd name="T106" fmla="*/ 124 w 1134"/>
                <a:gd name="T107" fmla="*/ 359 h 909"/>
                <a:gd name="T108" fmla="*/ 166 w 1134"/>
                <a:gd name="T109" fmla="*/ 311 h 909"/>
                <a:gd name="T110" fmla="*/ 211 w 1134"/>
                <a:gd name="T111" fmla="*/ 264 h 909"/>
                <a:gd name="T112" fmla="*/ 262 w 1134"/>
                <a:gd name="T113" fmla="*/ 221 h 909"/>
                <a:gd name="T114" fmla="*/ 316 w 1134"/>
                <a:gd name="T115" fmla="*/ 179 h 909"/>
                <a:gd name="T116" fmla="*/ 371 w 1134"/>
                <a:gd name="T117" fmla="*/ 142 h 90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34"/>
                <a:gd name="T178" fmla="*/ 0 h 909"/>
                <a:gd name="T179" fmla="*/ 1134 w 1134"/>
                <a:gd name="T180" fmla="*/ 909 h 90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34" h="909">
                  <a:moveTo>
                    <a:pt x="371" y="142"/>
                  </a:moveTo>
                  <a:lnTo>
                    <a:pt x="430" y="108"/>
                  </a:lnTo>
                  <a:lnTo>
                    <a:pt x="492" y="79"/>
                  </a:lnTo>
                  <a:lnTo>
                    <a:pt x="551" y="53"/>
                  </a:lnTo>
                  <a:lnTo>
                    <a:pt x="614" y="32"/>
                  </a:lnTo>
                  <a:lnTo>
                    <a:pt x="674" y="16"/>
                  </a:lnTo>
                  <a:lnTo>
                    <a:pt x="735" y="6"/>
                  </a:lnTo>
                  <a:lnTo>
                    <a:pt x="792" y="0"/>
                  </a:lnTo>
                  <a:lnTo>
                    <a:pt x="848" y="0"/>
                  </a:lnTo>
                  <a:lnTo>
                    <a:pt x="899" y="4"/>
                  </a:lnTo>
                  <a:lnTo>
                    <a:pt x="946" y="14"/>
                  </a:lnTo>
                  <a:lnTo>
                    <a:pt x="990" y="30"/>
                  </a:lnTo>
                  <a:lnTo>
                    <a:pt x="1027" y="51"/>
                  </a:lnTo>
                  <a:lnTo>
                    <a:pt x="1061" y="77"/>
                  </a:lnTo>
                  <a:lnTo>
                    <a:pt x="1089" y="107"/>
                  </a:lnTo>
                  <a:lnTo>
                    <a:pt x="1110" y="140"/>
                  </a:lnTo>
                  <a:lnTo>
                    <a:pt x="1124" y="177"/>
                  </a:lnTo>
                  <a:lnTo>
                    <a:pt x="1132" y="217"/>
                  </a:lnTo>
                  <a:lnTo>
                    <a:pt x="1134" y="260"/>
                  </a:lnTo>
                  <a:lnTo>
                    <a:pt x="1128" y="308"/>
                  </a:lnTo>
                  <a:lnTo>
                    <a:pt x="1118" y="355"/>
                  </a:lnTo>
                  <a:lnTo>
                    <a:pt x="1099" y="402"/>
                  </a:lnTo>
                  <a:lnTo>
                    <a:pt x="1075" y="451"/>
                  </a:lnTo>
                  <a:lnTo>
                    <a:pt x="1045" y="501"/>
                  </a:lnTo>
                  <a:lnTo>
                    <a:pt x="1010" y="550"/>
                  </a:lnTo>
                  <a:lnTo>
                    <a:pt x="968" y="597"/>
                  </a:lnTo>
                  <a:lnTo>
                    <a:pt x="923" y="643"/>
                  </a:lnTo>
                  <a:lnTo>
                    <a:pt x="871" y="688"/>
                  </a:lnTo>
                  <a:lnTo>
                    <a:pt x="818" y="727"/>
                  </a:lnTo>
                  <a:lnTo>
                    <a:pt x="763" y="765"/>
                  </a:lnTo>
                  <a:lnTo>
                    <a:pt x="703" y="800"/>
                  </a:lnTo>
                  <a:lnTo>
                    <a:pt x="644" y="830"/>
                  </a:lnTo>
                  <a:lnTo>
                    <a:pt x="583" y="855"/>
                  </a:lnTo>
                  <a:lnTo>
                    <a:pt x="519" y="877"/>
                  </a:lnTo>
                  <a:lnTo>
                    <a:pt x="460" y="893"/>
                  </a:lnTo>
                  <a:lnTo>
                    <a:pt x="401" y="903"/>
                  </a:lnTo>
                  <a:lnTo>
                    <a:pt x="342" y="909"/>
                  </a:lnTo>
                  <a:lnTo>
                    <a:pt x="286" y="909"/>
                  </a:lnTo>
                  <a:lnTo>
                    <a:pt x="235" y="905"/>
                  </a:lnTo>
                  <a:lnTo>
                    <a:pt x="187" y="893"/>
                  </a:lnTo>
                  <a:lnTo>
                    <a:pt x="144" y="877"/>
                  </a:lnTo>
                  <a:lnTo>
                    <a:pt x="106" y="857"/>
                  </a:lnTo>
                  <a:lnTo>
                    <a:pt x="73" y="832"/>
                  </a:lnTo>
                  <a:lnTo>
                    <a:pt x="45" y="802"/>
                  </a:lnTo>
                  <a:lnTo>
                    <a:pt x="23" y="769"/>
                  </a:lnTo>
                  <a:lnTo>
                    <a:pt x="9" y="731"/>
                  </a:lnTo>
                  <a:lnTo>
                    <a:pt x="2" y="690"/>
                  </a:lnTo>
                  <a:lnTo>
                    <a:pt x="0" y="647"/>
                  </a:lnTo>
                  <a:lnTo>
                    <a:pt x="5" y="601"/>
                  </a:lnTo>
                  <a:lnTo>
                    <a:pt x="15" y="554"/>
                  </a:lnTo>
                  <a:lnTo>
                    <a:pt x="35" y="505"/>
                  </a:lnTo>
                  <a:lnTo>
                    <a:pt x="59" y="455"/>
                  </a:lnTo>
                  <a:lnTo>
                    <a:pt x="88" y="406"/>
                  </a:lnTo>
                  <a:lnTo>
                    <a:pt x="124" y="359"/>
                  </a:lnTo>
                  <a:lnTo>
                    <a:pt x="166" y="311"/>
                  </a:lnTo>
                  <a:lnTo>
                    <a:pt x="211" y="264"/>
                  </a:lnTo>
                  <a:lnTo>
                    <a:pt x="262" y="221"/>
                  </a:lnTo>
                  <a:lnTo>
                    <a:pt x="316" y="179"/>
                  </a:lnTo>
                  <a:lnTo>
                    <a:pt x="371" y="14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7" name="Group 30">
            <a:extLst>
              <a:ext uri="{FF2B5EF4-FFF2-40B4-BE49-F238E27FC236}">
                <a16:creationId xmlns:a16="http://schemas.microsoft.com/office/drawing/2014/main" id="{F3CAA2EB-8574-CF4C-C258-4534B564593F}"/>
              </a:ext>
            </a:extLst>
          </p:cNvPr>
          <p:cNvGrpSpPr>
            <a:grpSpLocks noChangeAspect="1"/>
          </p:cNvGrpSpPr>
          <p:nvPr/>
        </p:nvGrpSpPr>
        <p:grpSpPr bwMode="auto">
          <a:xfrm>
            <a:off x="8540750" y="4089402"/>
            <a:ext cx="1274762" cy="2041525"/>
            <a:chOff x="1193" y="1212"/>
            <a:chExt cx="1218" cy="1950"/>
          </a:xfrm>
        </p:grpSpPr>
        <p:sp>
          <p:nvSpPr>
            <p:cNvPr id="31841" name="Rectangle 31">
              <a:extLst>
                <a:ext uri="{FF2B5EF4-FFF2-40B4-BE49-F238E27FC236}">
                  <a16:creationId xmlns:a16="http://schemas.microsoft.com/office/drawing/2014/main" id="{1F461E56-B796-E09F-DF98-3DFE3B520F7C}"/>
                </a:ext>
              </a:extLst>
            </p:cNvPr>
            <p:cNvSpPr>
              <a:spLocks noChangeAspect="1" noChangeArrowheads="1"/>
            </p:cNvSpPr>
            <p:nvPr/>
          </p:nvSpPr>
          <p:spPr bwMode="auto">
            <a:xfrm>
              <a:off x="1603" y="1212"/>
              <a:ext cx="10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4</a:t>
              </a:r>
              <a:endParaRPr lang="en-US" altLang="en-US" sz="1600" b="1">
                <a:latin typeface="Arial" panose="020B0604020202020204" pitchFamily="34" charset="0"/>
              </a:endParaRPr>
            </a:p>
          </p:txBody>
        </p:sp>
        <p:sp>
          <p:nvSpPr>
            <p:cNvPr id="31842" name="Freeform 32">
              <a:extLst>
                <a:ext uri="{FF2B5EF4-FFF2-40B4-BE49-F238E27FC236}">
                  <a16:creationId xmlns:a16="http://schemas.microsoft.com/office/drawing/2014/main" id="{C984721F-C407-FF77-1C92-B24508F1BB97}"/>
                </a:ext>
              </a:extLst>
            </p:cNvPr>
            <p:cNvSpPr>
              <a:spLocks noChangeAspect="1"/>
            </p:cNvSpPr>
            <p:nvPr/>
          </p:nvSpPr>
          <p:spPr bwMode="auto">
            <a:xfrm>
              <a:off x="1193" y="1246"/>
              <a:ext cx="1218" cy="1916"/>
            </a:xfrm>
            <a:custGeom>
              <a:avLst/>
              <a:gdLst>
                <a:gd name="T0" fmla="*/ 87 w 1218"/>
                <a:gd name="T1" fmla="*/ 724 h 1916"/>
                <a:gd name="T2" fmla="*/ 148 w 1218"/>
                <a:gd name="T3" fmla="*/ 566 h 1916"/>
                <a:gd name="T4" fmla="*/ 225 w 1218"/>
                <a:gd name="T5" fmla="*/ 420 h 1916"/>
                <a:gd name="T6" fmla="*/ 312 w 1218"/>
                <a:gd name="T7" fmla="*/ 290 h 1916"/>
                <a:gd name="T8" fmla="*/ 409 w 1218"/>
                <a:gd name="T9" fmla="*/ 182 h 1916"/>
                <a:gd name="T10" fmla="*/ 514 w 1218"/>
                <a:gd name="T11" fmla="*/ 97 h 1916"/>
                <a:gd name="T12" fmla="*/ 619 w 1218"/>
                <a:gd name="T13" fmla="*/ 38 h 1916"/>
                <a:gd name="T14" fmla="*/ 725 w 1218"/>
                <a:gd name="T15" fmla="*/ 6 h 1916"/>
                <a:gd name="T16" fmla="*/ 826 w 1218"/>
                <a:gd name="T17" fmla="*/ 4 h 1916"/>
                <a:gd name="T18" fmla="*/ 923 w 1218"/>
                <a:gd name="T19" fmla="*/ 30 h 1916"/>
                <a:gd name="T20" fmla="*/ 1008 w 1218"/>
                <a:gd name="T21" fmla="*/ 85 h 1916"/>
                <a:gd name="T22" fmla="*/ 1081 w 1218"/>
                <a:gd name="T23" fmla="*/ 168 h 1916"/>
                <a:gd name="T24" fmla="*/ 1142 w 1218"/>
                <a:gd name="T25" fmla="*/ 272 h 1916"/>
                <a:gd name="T26" fmla="*/ 1184 w 1218"/>
                <a:gd name="T27" fmla="*/ 399 h 1916"/>
                <a:gd name="T28" fmla="*/ 1212 w 1218"/>
                <a:gd name="T29" fmla="*/ 543 h 1916"/>
                <a:gd name="T30" fmla="*/ 1218 w 1218"/>
                <a:gd name="T31" fmla="*/ 698 h 1916"/>
                <a:gd name="T32" fmla="*/ 1208 w 1218"/>
                <a:gd name="T33" fmla="*/ 862 h 1916"/>
                <a:gd name="T34" fmla="*/ 1178 w 1218"/>
                <a:gd name="T35" fmla="*/ 1029 h 1916"/>
                <a:gd name="T36" fmla="*/ 1133 w 1218"/>
                <a:gd name="T37" fmla="*/ 1193 h 1916"/>
                <a:gd name="T38" fmla="*/ 1069 w 1218"/>
                <a:gd name="T39" fmla="*/ 1351 h 1916"/>
                <a:gd name="T40" fmla="*/ 992 w 1218"/>
                <a:gd name="T41" fmla="*/ 1496 h 1916"/>
                <a:gd name="T42" fmla="*/ 905 w 1218"/>
                <a:gd name="T43" fmla="*/ 1627 h 1916"/>
                <a:gd name="T44" fmla="*/ 808 w 1218"/>
                <a:gd name="T45" fmla="*/ 1735 h 1916"/>
                <a:gd name="T46" fmla="*/ 706 w 1218"/>
                <a:gd name="T47" fmla="*/ 1820 h 1916"/>
                <a:gd name="T48" fmla="*/ 599 w 1218"/>
                <a:gd name="T49" fmla="*/ 1879 h 1916"/>
                <a:gd name="T50" fmla="*/ 494 w 1218"/>
                <a:gd name="T51" fmla="*/ 1910 h 1916"/>
                <a:gd name="T52" fmla="*/ 391 w 1218"/>
                <a:gd name="T53" fmla="*/ 1912 h 1916"/>
                <a:gd name="T54" fmla="*/ 296 w 1218"/>
                <a:gd name="T55" fmla="*/ 1887 h 1916"/>
                <a:gd name="T56" fmla="*/ 209 w 1218"/>
                <a:gd name="T57" fmla="*/ 1832 h 1916"/>
                <a:gd name="T58" fmla="*/ 136 w 1218"/>
                <a:gd name="T59" fmla="*/ 1751 h 1916"/>
                <a:gd name="T60" fmla="*/ 77 w 1218"/>
                <a:gd name="T61" fmla="*/ 1644 h 1916"/>
                <a:gd name="T62" fmla="*/ 33 w 1218"/>
                <a:gd name="T63" fmla="*/ 1518 h 1916"/>
                <a:gd name="T64" fmla="*/ 8 w 1218"/>
                <a:gd name="T65" fmla="*/ 1374 h 1916"/>
                <a:gd name="T66" fmla="*/ 0 w 1218"/>
                <a:gd name="T67" fmla="*/ 1219 h 1916"/>
                <a:gd name="T68" fmla="*/ 12 w 1218"/>
                <a:gd name="T69" fmla="*/ 1055 h 1916"/>
                <a:gd name="T70" fmla="*/ 39 w 1218"/>
                <a:gd name="T71" fmla="*/ 887 h 19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18"/>
                <a:gd name="T109" fmla="*/ 0 h 1916"/>
                <a:gd name="T110" fmla="*/ 1218 w 1218"/>
                <a:gd name="T111" fmla="*/ 1916 h 19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18" h="1916">
                  <a:moveTo>
                    <a:pt x="61" y="805"/>
                  </a:moveTo>
                  <a:lnTo>
                    <a:pt x="87" y="724"/>
                  </a:lnTo>
                  <a:lnTo>
                    <a:pt x="116" y="643"/>
                  </a:lnTo>
                  <a:lnTo>
                    <a:pt x="148" y="566"/>
                  </a:lnTo>
                  <a:lnTo>
                    <a:pt x="186" y="491"/>
                  </a:lnTo>
                  <a:lnTo>
                    <a:pt x="225" y="420"/>
                  </a:lnTo>
                  <a:lnTo>
                    <a:pt x="267" y="353"/>
                  </a:lnTo>
                  <a:lnTo>
                    <a:pt x="312" y="290"/>
                  </a:lnTo>
                  <a:lnTo>
                    <a:pt x="360" y="233"/>
                  </a:lnTo>
                  <a:lnTo>
                    <a:pt x="409" y="182"/>
                  </a:lnTo>
                  <a:lnTo>
                    <a:pt x="460" y="136"/>
                  </a:lnTo>
                  <a:lnTo>
                    <a:pt x="514" y="97"/>
                  </a:lnTo>
                  <a:lnTo>
                    <a:pt x="565" y="64"/>
                  </a:lnTo>
                  <a:lnTo>
                    <a:pt x="619" y="38"/>
                  </a:lnTo>
                  <a:lnTo>
                    <a:pt x="672" y="18"/>
                  </a:lnTo>
                  <a:lnTo>
                    <a:pt x="725" y="6"/>
                  </a:lnTo>
                  <a:lnTo>
                    <a:pt x="777" y="0"/>
                  </a:lnTo>
                  <a:lnTo>
                    <a:pt x="826" y="4"/>
                  </a:lnTo>
                  <a:lnTo>
                    <a:pt x="876" y="14"/>
                  </a:lnTo>
                  <a:lnTo>
                    <a:pt x="923" y="30"/>
                  </a:lnTo>
                  <a:lnTo>
                    <a:pt x="966" y="54"/>
                  </a:lnTo>
                  <a:lnTo>
                    <a:pt x="1008" y="85"/>
                  </a:lnTo>
                  <a:lnTo>
                    <a:pt x="1048" y="123"/>
                  </a:lnTo>
                  <a:lnTo>
                    <a:pt x="1081" y="168"/>
                  </a:lnTo>
                  <a:lnTo>
                    <a:pt x="1113" y="217"/>
                  </a:lnTo>
                  <a:lnTo>
                    <a:pt x="1142" y="272"/>
                  </a:lnTo>
                  <a:lnTo>
                    <a:pt x="1166" y="334"/>
                  </a:lnTo>
                  <a:lnTo>
                    <a:pt x="1184" y="399"/>
                  </a:lnTo>
                  <a:lnTo>
                    <a:pt x="1200" y="470"/>
                  </a:lnTo>
                  <a:lnTo>
                    <a:pt x="1212" y="543"/>
                  </a:lnTo>
                  <a:lnTo>
                    <a:pt x="1218" y="619"/>
                  </a:lnTo>
                  <a:lnTo>
                    <a:pt x="1218" y="698"/>
                  </a:lnTo>
                  <a:lnTo>
                    <a:pt x="1216" y="779"/>
                  </a:lnTo>
                  <a:lnTo>
                    <a:pt x="1208" y="862"/>
                  </a:lnTo>
                  <a:lnTo>
                    <a:pt x="1196" y="947"/>
                  </a:lnTo>
                  <a:lnTo>
                    <a:pt x="1178" y="1029"/>
                  </a:lnTo>
                  <a:lnTo>
                    <a:pt x="1156" y="1112"/>
                  </a:lnTo>
                  <a:lnTo>
                    <a:pt x="1133" y="1193"/>
                  </a:lnTo>
                  <a:lnTo>
                    <a:pt x="1103" y="1274"/>
                  </a:lnTo>
                  <a:lnTo>
                    <a:pt x="1069" y="1351"/>
                  </a:lnTo>
                  <a:lnTo>
                    <a:pt x="1034" y="1426"/>
                  </a:lnTo>
                  <a:lnTo>
                    <a:pt x="992" y="1496"/>
                  </a:lnTo>
                  <a:lnTo>
                    <a:pt x="951" y="1563"/>
                  </a:lnTo>
                  <a:lnTo>
                    <a:pt x="905" y="1627"/>
                  </a:lnTo>
                  <a:lnTo>
                    <a:pt x="858" y="1684"/>
                  </a:lnTo>
                  <a:lnTo>
                    <a:pt x="808" y="1735"/>
                  </a:lnTo>
                  <a:lnTo>
                    <a:pt x="757" y="1780"/>
                  </a:lnTo>
                  <a:lnTo>
                    <a:pt x="706" y="1820"/>
                  </a:lnTo>
                  <a:lnTo>
                    <a:pt x="652" y="1853"/>
                  </a:lnTo>
                  <a:lnTo>
                    <a:pt x="599" y="1879"/>
                  </a:lnTo>
                  <a:lnTo>
                    <a:pt x="545" y="1899"/>
                  </a:lnTo>
                  <a:lnTo>
                    <a:pt x="494" y="1910"/>
                  </a:lnTo>
                  <a:lnTo>
                    <a:pt x="443" y="1916"/>
                  </a:lnTo>
                  <a:lnTo>
                    <a:pt x="391" y="1912"/>
                  </a:lnTo>
                  <a:lnTo>
                    <a:pt x="342" y="1902"/>
                  </a:lnTo>
                  <a:lnTo>
                    <a:pt x="296" y="1887"/>
                  </a:lnTo>
                  <a:lnTo>
                    <a:pt x="251" y="1863"/>
                  </a:lnTo>
                  <a:lnTo>
                    <a:pt x="209" y="1832"/>
                  </a:lnTo>
                  <a:lnTo>
                    <a:pt x="172" y="1794"/>
                  </a:lnTo>
                  <a:lnTo>
                    <a:pt x="136" y="1751"/>
                  </a:lnTo>
                  <a:lnTo>
                    <a:pt x="105" y="1699"/>
                  </a:lnTo>
                  <a:lnTo>
                    <a:pt x="77" y="1644"/>
                  </a:lnTo>
                  <a:lnTo>
                    <a:pt x="53" y="1583"/>
                  </a:lnTo>
                  <a:lnTo>
                    <a:pt x="33" y="1518"/>
                  </a:lnTo>
                  <a:lnTo>
                    <a:pt x="18" y="1449"/>
                  </a:lnTo>
                  <a:lnTo>
                    <a:pt x="8" y="1374"/>
                  </a:lnTo>
                  <a:lnTo>
                    <a:pt x="2" y="1297"/>
                  </a:lnTo>
                  <a:lnTo>
                    <a:pt x="0" y="1219"/>
                  </a:lnTo>
                  <a:lnTo>
                    <a:pt x="4" y="1138"/>
                  </a:lnTo>
                  <a:lnTo>
                    <a:pt x="12" y="1055"/>
                  </a:lnTo>
                  <a:lnTo>
                    <a:pt x="24" y="972"/>
                  </a:lnTo>
                  <a:lnTo>
                    <a:pt x="39" y="887"/>
                  </a:lnTo>
                  <a:lnTo>
                    <a:pt x="61" y="805"/>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sp>
        <p:nvSpPr>
          <p:cNvPr id="31755" name="Text Box 33">
            <a:extLst>
              <a:ext uri="{FF2B5EF4-FFF2-40B4-BE49-F238E27FC236}">
                <a16:creationId xmlns:a16="http://schemas.microsoft.com/office/drawing/2014/main" id="{ED74A2FC-01B7-532F-9975-E6E61090C731}"/>
              </a:ext>
            </a:extLst>
          </p:cNvPr>
          <p:cNvSpPr txBox="1">
            <a:spLocks noChangeArrowheads="1"/>
          </p:cNvSpPr>
          <p:nvPr/>
        </p:nvSpPr>
        <p:spPr bwMode="auto">
          <a:xfrm>
            <a:off x="4941887" y="2133600"/>
            <a:ext cx="1676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latin typeface="Arial" panose="020B0604020202020204" pitchFamily="34" charset="0"/>
              </a:rPr>
              <a:t>MIN</a:t>
            </a:r>
          </a:p>
        </p:txBody>
      </p:sp>
      <p:sp>
        <p:nvSpPr>
          <p:cNvPr id="31756" name="Text Box 34">
            <a:extLst>
              <a:ext uri="{FF2B5EF4-FFF2-40B4-BE49-F238E27FC236}">
                <a16:creationId xmlns:a16="http://schemas.microsoft.com/office/drawing/2014/main" id="{5EA53236-1D98-EEEF-3A93-556107992BF8}"/>
              </a:ext>
            </a:extLst>
          </p:cNvPr>
          <p:cNvSpPr txBox="1">
            <a:spLocks noChangeArrowheads="1"/>
          </p:cNvSpPr>
          <p:nvPr/>
        </p:nvSpPr>
        <p:spPr bwMode="auto">
          <a:xfrm>
            <a:off x="6846887" y="2133600"/>
            <a:ext cx="1752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latin typeface="Arial" panose="020B0604020202020204" pitchFamily="34" charset="0"/>
              </a:rPr>
              <a:t>MAX</a:t>
            </a:r>
          </a:p>
        </p:txBody>
      </p:sp>
      <p:grpSp>
        <p:nvGrpSpPr>
          <p:cNvPr id="31757" name="Group 35">
            <a:extLst>
              <a:ext uri="{FF2B5EF4-FFF2-40B4-BE49-F238E27FC236}">
                <a16:creationId xmlns:a16="http://schemas.microsoft.com/office/drawing/2014/main" id="{AD493A5A-502F-0891-8D59-A4A8645ABA48}"/>
              </a:ext>
            </a:extLst>
          </p:cNvPr>
          <p:cNvGrpSpPr>
            <a:grpSpLocks noChangeAspect="1"/>
          </p:cNvGrpSpPr>
          <p:nvPr/>
        </p:nvGrpSpPr>
        <p:grpSpPr bwMode="auto">
          <a:xfrm>
            <a:off x="2508252" y="4044952"/>
            <a:ext cx="1980067" cy="1797507"/>
            <a:chOff x="438" y="1309"/>
            <a:chExt cx="1939" cy="1759"/>
          </a:xfrm>
        </p:grpSpPr>
        <p:sp>
          <p:nvSpPr>
            <p:cNvPr id="31829" name="Freeform 36">
              <a:extLst>
                <a:ext uri="{FF2B5EF4-FFF2-40B4-BE49-F238E27FC236}">
                  <a16:creationId xmlns:a16="http://schemas.microsoft.com/office/drawing/2014/main" id="{DC823CC9-0ECF-6E34-BC95-CB820CEAB5A0}"/>
                </a:ext>
              </a:extLst>
            </p:cNvPr>
            <p:cNvSpPr>
              <a:spLocks noChangeAspect="1"/>
            </p:cNvSpPr>
            <p:nvPr/>
          </p:nvSpPr>
          <p:spPr bwMode="auto">
            <a:xfrm>
              <a:off x="1038" y="2002"/>
              <a:ext cx="88" cy="87"/>
            </a:xfrm>
            <a:custGeom>
              <a:avLst/>
              <a:gdLst>
                <a:gd name="T0" fmla="*/ 0 w 88"/>
                <a:gd name="T1" fmla="*/ 43 h 87"/>
                <a:gd name="T2" fmla="*/ 4 w 88"/>
                <a:gd name="T3" fmla="*/ 26 h 87"/>
                <a:gd name="T4" fmla="*/ 13 w 88"/>
                <a:gd name="T5" fmla="*/ 13 h 87"/>
                <a:gd name="T6" fmla="*/ 28 w 88"/>
                <a:gd name="T7" fmla="*/ 2 h 87"/>
                <a:gd name="T8" fmla="*/ 45 w 88"/>
                <a:gd name="T9" fmla="*/ 0 h 87"/>
                <a:gd name="T10" fmla="*/ 62 w 88"/>
                <a:gd name="T11" fmla="*/ 2 h 87"/>
                <a:gd name="T12" fmla="*/ 75 w 88"/>
                <a:gd name="T13" fmla="*/ 13 h 87"/>
                <a:gd name="T14" fmla="*/ 86 w 88"/>
                <a:gd name="T15" fmla="*/ 26 h 87"/>
                <a:gd name="T16" fmla="*/ 88 w 88"/>
                <a:gd name="T17" fmla="*/ 43 h 87"/>
                <a:gd name="T18" fmla="*/ 86 w 88"/>
                <a:gd name="T19" fmla="*/ 61 h 87"/>
                <a:gd name="T20" fmla="*/ 75 w 88"/>
                <a:gd name="T21" fmla="*/ 74 h 87"/>
                <a:gd name="T22" fmla="*/ 62 w 88"/>
                <a:gd name="T23" fmla="*/ 84 h 87"/>
                <a:gd name="T24" fmla="*/ 45 w 88"/>
                <a:gd name="T25" fmla="*/ 87 h 87"/>
                <a:gd name="T26" fmla="*/ 28 w 88"/>
                <a:gd name="T27" fmla="*/ 84 h 87"/>
                <a:gd name="T28" fmla="*/ 13 w 88"/>
                <a:gd name="T29" fmla="*/ 74 h 87"/>
                <a:gd name="T30" fmla="*/ 4 w 88"/>
                <a:gd name="T31" fmla="*/ 61 h 87"/>
                <a:gd name="T32" fmla="*/ 0 w 88"/>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7"/>
                <a:gd name="T53" fmla="*/ 88 w 88"/>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7">
                  <a:moveTo>
                    <a:pt x="0" y="43"/>
                  </a:moveTo>
                  <a:lnTo>
                    <a:pt x="4" y="26"/>
                  </a:lnTo>
                  <a:lnTo>
                    <a:pt x="13" y="13"/>
                  </a:lnTo>
                  <a:lnTo>
                    <a:pt x="28" y="2"/>
                  </a:lnTo>
                  <a:lnTo>
                    <a:pt x="45" y="0"/>
                  </a:lnTo>
                  <a:lnTo>
                    <a:pt x="62" y="2"/>
                  </a:lnTo>
                  <a:lnTo>
                    <a:pt x="75" y="13"/>
                  </a:lnTo>
                  <a:lnTo>
                    <a:pt x="86" y="26"/>
                  </a:lnTo>
                  <a:lnTo>
                    <a:pt x="88" y="43"/>
                  </a:lnTo>
                  <a:lnTo>
                    <a:pt x="86" y="61"/>
                  </a:lnTo>
                  <a:lnTo>
                    <a:pt x="75" y="74"/>
                  </a:lnTo>
                  <a:lnTo>
                    <a:pt x="62" y="84"/>
                  </a:lnTo>
                  <a:lnTo>
                    <a:pt x="45" y="87"/>
                  </a:lnTo>
                  <a:lnTo>
                    <a:pt x="28" y="84"/>
                  </a:lnTo>
                  <a:lnTo>
                    <a:pt x="13" y="74"/>
                  </a:lnTo>
                  <a:lnTo>
                    <a:pt x="4" y="61"/>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0" name="Freeform 37">
              <a:extLst>
                <a:ext uri="{FF2B5EF4-FFF2-40B4-BE49-F238E27FC236}">
                  <a16:creationId xmlns:a16="http://schemas.microsoft.com/office/drawing/2014/main" id="{61D1BA01-A808-EEDE-8E99-05649DDCF8EB}"/>
                </a:ext>
              </a:extLst>
            </p:cNvPr>
            <p:cNvSpPr>
              <a:spLocks noChangeAspect="1"/>
            </p:cNvSpPr>
            <p:nvPr/>
          </p:nvSpPr>
          <p:spPr bwMode="auto">
            <a:xfrm>
              <a:off x="1860" y="1361"/>
              <a:ext cx="89" cy="88"/>
            </a:xfrm>
            <a:custGeom>
              <a:avLst/>
              <a:gdLst>
                <a:gd name="T0" fmla="*/ 0 w 89"/>
                <a:gd name="T1" fmla="*/ 43 h 88"/>
                <a:gd name="T2" fmla="*/ 4 w 89"/>
                <a:gd name="T3" fmla="*/ 26 h 88"/>
                <a:gd name="T4" fmla="*/ 13 w 89"/>
                <a:gd name="T5" fmla="*/ 13 h 88"/>
                <a:gd name="T6" fmla="*/ 28 w 89"/>
                <a:gd name="T7" fmla="*/ 2 h 88"/>
                <a:gd name="T8" fmla="*/ 45 w 89"/>
                <a:gd name="T9" fmla="*/ 0 h 88"/>
                <a:gd name="T10" fmla="*/ 63 w 89"/>
                <a:gd name="T11" fmla="*/ 2 h 88"/>
                <a:gd name="T12" fmla="*/ 76 w 89"/>
                <a:gd name="T13" fmla="*/ 13 h 88"/>
                <a:gd name="T14" fmla="*/ 86 w 89"/>
                <a:gd name="T15" fmla="*/ 26 h 88"/>
                <a:gd name="T16" fmla="*/ 89 w 89"/>
                <a:gd name="T17" fmla="*/ 43 h 88"/>
                <a:gd name="T18" fmla="*/ 86 w 89"/>
                <a:gd name="T19" fmla="*/ 60 h 88"/>
                <a:gd name="T20" fmla="*/ 76 w 89"/>
                <a:gd name="T21" fmla="*/ 76 h 88"/>
                <a:gd name="T22" fmla="*/ 63 w 89"/>
                <a:gd name="T23" fmla="*/ 84 h 88"/>
                <a:gd name="T24" fmla="*/ 45 w 89"/>
                <a:gd name="T25" fmla="*/ 88 h 88"/>
                <a:gd name="T26" fmla="*/ 28 w 89"/>
                <a:gd name="T27" fmla="*/ 84 h 88"/>
                <a:gd name="T28" fmla="*/ 13 w 89"/>
                <a:gd name="T29" fmla="*/ 76 h 88"/>
                <a:gd name="T30" fmla="*/ 4 w 89"/>
                <a:gd name="T31" fmla="*/ 60 h 88"/>
                <a:gd name="T32" fmla="*/ 0 w 89"/>
                <a:gd name="T33" fmla="*/ 43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3"/>
                  </a:moveTo>
                  <a:lnTo>
                    <a:pt x="4" y="26"/>
                  </a:lnTo>
                  <a:lnTo>
                    <a:pt x="13" y="13"/>
                  </a:lnTo>
                  <a:lnTo>
                    <a:pt x="28" y="2"/>
                  </a:lnTo>
                  <a:lnTo>
                    <a:pt x="45" y="0"/>
                  </a:lnTo>
                  <a:lnTo>
                    <a:pt x="63" y="2"/>
                  </a:lnTo>
                  <a:lnTo>
                    <a:pt x="76" y="13"/>
                  </a:lnTo>
                  <a:lnTo>
                    <a:pt x="86" y="26"/>
                  </a:lnTo>
                  <a:lnTo>
                    <a:pt x="89" y="43"/>
                  </a:lnTo>
                  <a:lnTo>
                    <a:pt x="86" y="60"/>
                  </a:lnTo>
                  <a:lnTo>
                    <a:pt x="76" y="76"/>
                  </a:lnTo>
                  <a:lnTo>
                    <a:pt x="63" y="84"/>
                  </a:lnTo>
                  <a:lnTo>
                    <a:pt x="45" y="88"/>
                  </a:lnTo>
                  <a:lnTo>
                    <a:pt x="28" y="84"/>
                  </a:lnTo>
                  <a:lnTo>
                    <a:pt x="13" y="76"/>
                  </a:lnTo>
                  <a:lnTo>
                    <a:pt x="4" y="60"/>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1" name="Freeform 38">
              <a:extLst>
                <a:ext uri="{FF2B5EF4-FFF2-40B4-BE49-F238E27FC236}">
                  <a16:creationId xmlns:a16="http://schemas.microsoft.com/office/drawing/2014/main" id="{630AD5E1-1A9A-5B19-50FF-2D93845A1912}"/>
                </a:ext>
              </a:extLst>
            </p:cNvPr>
            <p:cNvSpPr>
              <a:spLocks noChangeAspect="1"/>
            </p:cNvSpPr>
            <p:nvPr/>
          </p:nvSpPr>
          <p:spPr bwMode="auto">
            <a:xfrm>
              <a:off x="1260" y="2875"/>
              <a:ext cx="89" cy="88"/>
            </a:xfrm>
            <a:custGeom>
              <a:avLst/>
              <a:gdLst>
                <a:gd name="T0" fmla="*/ 0 w 89"/>
                <a:gd name="T1" fmla="*/ 45 h 88"/>
                <a:gd name="T2" fmla="*/ 5 w 89"/>
                <a:gd name="T3" fmla="*/ 28 h 88"/>
                <a:gd name="T4" fmla="*/ 13 w 89"/>
                <a:gd name="T5" fmla="*/ 12 h 88"/>
                <a:gd name="T6" fmla="*/ 29 w 89"/>
                <a:gd name="T7" fmla="*/ 4 h 88"/>
                <a:gd name="T8" fmla="*/ 46 w 89"/>
                <a:gd name="T9" fmla="*/ 0 h 88"/>
                <a:gd name="T10" fmla="*/ 63 w 89"/>
                <a:gd name="T11" fmla="*/ 4 h 88"/>
                <a:gd name="T12" fmla="*/ 76 w 89"/>
                <a:gd name="T13" fmla="*/ 12 h 88"/>
                <a:gd name="T14" fmla="*/ 87 w 89"/>
                <a:gd name="T15" fmla="*/ 28 h 88"/>
                <a:gd name="T16" fmla="*/ 89 w 89"/>
                <a:gd name="T17" fmla="*/ 45 h 88"/>
                <a:gd name="T18" fmla="*/ 87 w 89"/>
                <a:gd name="T19" fmla="*/ 62 h 88"/>
                <a:gd name="T20" fmla="*/ 76 w 89"/>
                <a:gd name="T21" fmla="*/ 75 h 88"/>
                <a:gd name="T22" fmla="*/ 63 w 89"/>
                <a:gd name="T23" fmla="*/ 86 h 88"/>
                <a:gd name="T24" fmla="*/ 46 w 89"/>
                <a:gd name="T25" fmla="*/ 88 h 88"/>
                <a:gd name="T26" fmla="*/ 29 w 89"/>
                <a:gd name="T27" fmla="*/ 86 h 88"/>
                <a:gd name="T28" fmla="*/ 13 w 89"/>
                <a:gd name="T29" fmla="*/ 75 h 88"/>
                <a:gd name="T30" fmla="*/ 5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5" y="28"/>
                  </a:lnTo>
                  <a:lnTo>
                    <a:pt x="13" y="12"/>
                  </a:lnTo>
                  <a:lnTo>
                    <a:pt x="29" y="4"/>
                  </a:lnTo>
                  <a:lnTo>
                    <a:pt x="46" y="0"/>
                  </a:lnTo>
                  <a:lnTo>
                    <a:pt x="63" y="4"/>
                  </a:lnTo>
                  <a:lnTo>
                    <a:pt x="76" y="12"/>
                  </a:lnTo>
                  <a:lnTo>
                    <a:pt x="87" y="28"/>
                  </a:lnTo>
                  <a:lnTo>
                    <a:pt x="89" y="45"/>
                  </a:lnTo>
                  <a:lnTo>
                    <a:pt x="87" y="62"/>
                  </a:lnTo>
                  <a:lnTo>
                    <a:pt x="76" y="75"/>
                  </a:lnTo>
                  <a:lnTo>
                    <a:pt x="63" y="86"/>
                  </a:lnTo>
                  <a:lnTo>
                    <a:pt x="46" y="88"/>
                  </a:lnTo>
                  <a:lnTo>
                    <a:pt x="29" y="86"/>
                  </a:lnTo>
                  <a:lnTo>
                    <a:pt x="13" y="75"/>
                  </a:lnTo>
                  <a:lnTo>
                    <a:pt x="5"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2" name="Freeform 39">
              <a:extLst>
                <a:ext uri="{FF2B5EF4-FFF2-40B4-BE49-F238E27FC236}">
                  <a16:creationId xmlns:a16="http://schemas.microsoft.com/office/drawing/2014/main" id="{51AD152B-44D0-55F4-4D83-D32A971D3054}"/>
                </a:ext>
              </a:extLst>
            </p:cNvPr>
            <p:cNvSpPr>
              <a:spLocks noChangeAspect="1"/>
            </p:cNvSpPr>
            <p:nvPr/>
          </p:nvSpPr>
          <p:spPr bwMode="auto">
            <a:xfrm>
              <a:off x="438" y="1875"/>
              <a:ext cx="87" cy="88"/>
            </a:xfrm>
            <a:custGeom>
              <a:avLst/>
              <a:gdLst>
                <a:gd name="T0" fmla="*/ 0 w 87"/>
                <a:gd name="T1" fmla="*/ 45 h 88"/>
                <a:gd name="T2" fmla="*/ 2 w 87"/>
                <a:gd name="T3" fmla="*/ 28 h 88"/>
                <a:gd name="T4" fmla="*/ 11 w 87"/>
                <a:gd name="T5" fmla="*/ 13 h 88"/>
                <a:gd name="T6" fmla="*/ 26 w 87"/>
                <a:gd name="T7" fmla="*/ 4 h 88"/>
                <a:gd name="T8" fmla="*/ 44 w 87"/>
                <a:gd name="T9" fmla="*/ 0 h 88"/>
                <a:gd name="T10" fmla="*/ 61 w 87"/>
                <a:gd name="T11" fmla="*/ 4 h 88"/>
                <a:gd name="T12" fmla="*/ 74 w 87"/>
                <a:gd name="T13" fmla="*/ 13 h 88"/>
                <a:gd name="T14" fmla="*/ 85 w 87"/>
                <a:gd name="T15" fmla="*/ 28 h 88"/>
                <a:gd name="T16" fmla="*/ 87 w 87"/>
                <a:gd name="T17" fmla="*/ 45 h 88"/>
                <a:gd name="T18" fmla="*/ 85 w 87"/>
                <a:gd name="T19" fmla="*/ 62 h 88"/>
                <a:gd name="T20" fmla="*/ 74 w 87"/>
                <a:gd name="T21" fmla="*/ 75 h 88"/>
                <a:gd name="T22" fmla="*/ 61 w 87"/>
                <a:gd name="T23" fmla="*/ 86 h 88"/>
                <a:gd name="T24" fmla="*/ 44 w 87"/>
                <a:gd name="T25" fmla="*/ 88 h 88"/>
                <a:gd name="T26" fmla="*/ 26 w 87"/>
                <a:gd name="T27" fmla="*/ 86 h 88"/>
                <a:gd name="T28" fmla="*/ 11 w 87"/>
                <a:gd name="T29" fmla="*/ 75 h 88"/>
                <a:gd name="T30" fmla="*/ 2 w 87"/>
                <a:gd name="T31" fmla="*/ 62 h 88"/>
                <a:gd name="T32" fmla="*/ 0 w 87"/>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8"/>
                <a:gd name="T53" fmla="*/ 87 w 87"/>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8">
                  <a:moveTo>
                    <a:pt x="0" y="45"/>
                  </a:moveTo>
                  <a:lnTo>
                    <a:pt x="2" y="28"/>
                  </a:lnTo>
                  <a:lnTo>
                    <a:pt x="11" y="13"/>
                  </a:lnTo>
                  <a:lnTo>
                    <a:pt x="26" y="4"/>
                  </a:lnTo>
                  <a:lnTo>
                    <a:pt x="44" y="0"/>
                  </a:lnTo>
                  <a:lnTo>
                    <a:pt x="61" y="4"/>
                  </a:lnTo>
                  <a:lnTo>
                    <a:pt x="74" y="13"/>
                  </a:lnTo>
                  <a:lnTo>
                    <a:pt x="85" y="28"/>
                  </a:lnTo>
                  <a:lnTo>
                    <a:pt x="87" y="45"/>
                  </a:lnTo>
                  <a:lnTo>
                    <a:pt x="85" y="62"/>
                  </a:lnTo>
                  <a:lnTo>
                    <a:pt x="74" y="75"/>
                  </a:lnTo>
                  <a:lnTo>
                    <a:pt x="61" y="86"/>
                  </a:lnTo>
                  <a:lnTo>
                    <a:pt x="44" y="88"/>
                  </a:lnTo>
                  <a:lnTo>
                    <a:pt x="26" y="86"/>
                  </a:lnTo>
                  <a:lnTo>
                    <a:pt x="11" y="75"/>
                  </a:lnTo>
                  <a:lnTo>
                    <a:pt x="2"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3" name="Freeform 40">
              <a:extLst>
                <a:ext uri="{FF2B5EF4-FFF2-40B4-BE49-F238E27FC236}">
                  <a16:creationId xmlns:a16="http://schemas.microsoft.com/office/drawing/2014/main" id="{9BE76B7A-27E6-24D3-C3DE-3568BF25AB64}"/>
                </a:ext>
              </a:extLst>
            </p:cNvPr>
            <p:cNvSpPr>
              <a:spLocks noChangeAspect="1"/>
            </p:cNvSpPr>
            <p:nvPr/>
          </p:nvSpPr>
          <p:spPr bwMode="auto">
            <a:xfrm>
              <a:off x="1617" y="2309"/>
              <a:ext cx="89" cy="88"/>
            </a:xfrm>
            <a:custGeom>
              <a:avLst/>
              <a:gdLst>
                <a:gd name="T0" fmla="*/ 0 w 89"/>
                <a:gd name="T1" fmla="*/ 45 h 88"/>
                <a:gd name="T2" fmla="*/ 5 w 89"/>
                <a:gd name="T3" fmla="*/ 28 h 88"/>
                <a:gd name="T4" fmla="*/ 13 w 89"/>
                <a:gd name="T5" fmla="*/ 13 h 88"/>
                <a:gd name="T6" fmla="*/ 29 w 89"/>
                <a:gd name="T7" fmla="*/ 4 h 88"/>
                <a:gd name="T8" fmla="*/ 46 w 89"/>
                <a:gd name="T9" fmla="*/ 0 h 88"/>
                <a:gd name="T10" fmla="*/ 61 w 89"/>
                <a:gd name="T11" fmla="*/ 4 h 88"/>
                <a:gd name="T12" fmla="*/ 76 w 89"/>
                <a:gd name="T13" fmla="*/ 13 h 88"/>
                <a:gd name="T14" fmla="*/ 85 w 89"/>
                <a:gd name="T15" fmla="*/ 28 h 88"/>
                <a:gd name="T16" fmla="*/ 89 w 89"/>
                <a:gd name="T17" fmla="*/ 45 h 88"/>
                <a:gd name="T18" fmla="*/ 85 w 89"/>
                <a:gd name="T19" fmla="*/ 62 h 88"/>
                <a:gd name="T20" fmla="*/ 76 w 89"/>
                <a:gd name="T21" fmla="*/ 75 h 88"/>
                <a:gd name="T22" fmla="*/ 61 w 89"/>
                <a:gd name="T23" fmla="*/ 86 h 88"/>
                <a:gd name="T24" fmla="*/ 46 w 89"/>
                <a:gd name="T25" fmla="*/ 88 h 88"/>
                <a:gd name="T26" fmla="*/ 29 w 89"/>
                <a:gd name="T27" fmla="*/ 86 h 88"/>
                <a:gd name="T28" fmla="*/ 13 w 89"/>
                <a:gd name="T29" fmla="*/ 75 h 88"/>
                <a:gd name="T30" fmla="*/ 5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5" y="28"/>
                  </a:lnTo>
                  <a:lnTo>
                    <a:pt x="13" y="13"/>
                  </a:lnTo>
                  <a:lnTo>
                    <a:pt x="29" y="4"/>
                  </a:lnTo>
                  <a:lnTo>
                    <a:pt x="46" y="0"/>
                  </a:lnTo>
                  <a:lnTo>
                    <a:pt x="61" y="4"/>
                  </a:lnTo>
                  <a:lnTo>
                    <a:pt x="76" y="13"/>
                  </a:lnTo>
                  <a:lnTo>
                    <a:pt x="85" y="28"/>
                  </a:lnTo>
                  <a:lnTo>
                    <a:pt x="89" y="45"/>
                  </a:lnTo>
                  <a:lnTo>
                    <a:pt x="85" y="62"/>
                  </a:lnTo>
                  <a:lnTo>
                    <a:pt x="76" y="75"/>
                  </a:lnTo>
                  <a:lnTo>
                    <a:pt x="61" y="86"/>
                  </a:lnTo>
                  <a:lnTo>
                    <a:pt x="46" y="88"/>
                  </a:lnTo>
                  <a:lnTo>
                    <a:pt x="29" y="86"/>
                  </a:lnTo>
                  <a:lnTo>
                    <a:pt x="13" y="75"/>
                  </a:lnTo>
                  <a:lnTo>
                    <a:pt x="5"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4" name="Freeform 41">
              <a:extLst>
                <a:ext uri="{FF2B5EF4-FFF2-40B4-BE49-F238E27FC236}">
                  <a16:creationId xmlns:a16="http://schemas.microsoft.com/office/drawing/2014/main" id="{7855FEE4-5750-DB41-4C4C-3551B9FF8F5A}"/>
                </a:ext>
              </a:extLst>
            </p:cNvPr>
            <p:cNvSpPr>
              <a:spLocks noChangeAspect="1"/>
            </p:cNvSpPr>
            <p:nvPr/>
          </p:nvSpPr>
          <p:spPr bwMode="auto">
            <a:xfrm>
              <a:off x="2100" y="2369"/>
              <a:ext cx="89" cy="89"/>
            </a:xfrm>
            <a:custGeom>
              <a:avLst/>
              <a:gdLst>
                <a:gd name="T0" fmla="*/ 0 w 89"/>
                <a:gd name="T1" fmla="*/ 43 h 89"/>
                <a:gd name="T2" fmla="*/ 4 w 89"/>
                <a:gd name="T3" fmla="*/ 26 h 89"/>
                <a:gd name="T4" fmla="*/ 13 w 89"/>
                <a:gd name="T5" fmla="*/ 13 h 89"/>
                <a:gd name="T6" fmla="*/ 28 w 89"/>
                <a:gd name="T7" fmla="*/ 2 h 89"/>
                <a:gd name="T8" fmla="*/ 45 w 89"/>
                <a:gd name="T9" fmla="*/ 0 h 89"/>
                <a:gd name="T10" fmla="*/ 63 w 89"/>
                <a:gd name="T11" fmla="*/ 2 h 89"/>
                <a:gd name="T12" fmla="*/ 76 w 89"/>
                <a:gd name="T13" fmla="*/ 13 h 89"/>
                <a:gd name="T14" fmla="*/ 87 w 89"/>
                <a:gd name="T15" fmla="*/ 26 h 89"/>
                <a:gd name="T16" fmla="*/ 89 w 89"/>
                <a:gd name="T17" fmla="*/ 43 h 89"/>
                <a:gd name="T18" fmla="*/ 87 w 89"/>
                <a:gd name="T19" fmla="*/ 61 h 89"/>
                <a:gd name="T20" fmla="*/ 76 w 89"/>
                <a:gd name="T21" fmla="*/ 76 h 89"/>
                <a:gd name="T22" fmla="*/ 63 w 89"/>
                <a:gd name="T23" fmla="*/ 84 h 89"/>
                <a:gd name="T24" fmla="*/ 45 w 89"/>
                <a:gd name="T25" fmla="*/ 89 h 89"/>
                <a:gd name="T26" fmla="*/ 28 w 89"/>
                <a:gd name="T27" fmla="*/ 84 h 89"/>
                <a:gd name="T28" fmla="*/ 13 w 89"/>
                <a:gd name="T29" fmla="*/ 76 h 89"/>
                <a:gd name="T30" fmla="*/ 4 w 89"/>
                <a:gd name="T31" fmla="*/ 61 h 89"/>
                <a:gd name="T32" fmla="*/ 0 w 89"/>
                <a:gd name="T33" fmla="*/ 43 h 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9"/>
                <a:gd name="T53" fmla="*/ 89 w 89"/>
                <a:gd name="T54" fmla="*/ 89 h 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9">
                  <a:moveTo>
                    <a:pt x="0" y="43"/>
                  </a:moveTo>
                  <a:lnTo>
                    <a:pt x="4" y="26"/>
                  </a:lnTo>
                  <a:lnTo>
                    <a:pt x="13" y="13"/>
                  </a:lnTo>
                  <a:lnTo>
                    <a:pt x="28" y="2"/>
                  </a:lnTo>
                  <a:lnTo>
                    <a:pt x="45" y="0"/>
                  </a:lnTo>
                  <a:lnTo>
                    <a:pt x="63" y="2"/>
                  </a:lnTo>
                  <a:lnTo>
                    <a:pt x="76" y="13"/>
                  </a:lnTo>
                  <a:lnTo>
                    <a:pt x="87" y="26"/>
                  </a:lnTo>
                  <a:lnTo>
                    <a:pt x="89" y="43"/>
                  </a:lnTo>
                  <a:lnTo>
                    <a:pt x="87" y="61"/>
                  </a:lnTo>
                  <a:lnTo>
                    <a:pt x="76" y="76"/>
                  </a:lnTo>
                  <a:lnTo>
                    <a:pt x="63" y="84"/>
                  </a:lnTo>
                  <a:lnTo>
                    <a:pt x="45" y="89"/>
                  </a:lnTo>
                  <a:lnTo>
                    <a:pt x="28" y="84"/>
                  </a:lnTo>
                  <a:lnTo>
                    <a:pt x="13" y="76"/>
                  </a:lnTo>
                  <a:lnTo>
                    <a:pt x="4" y="61"/>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35" name="Rectangle 42">
              <a:extLst>
                <a:ext uri="{FF2B5EF4-FFF2-40B4-BE49-F238E27FC236}">
                  <a16:creationId xmlns:a16="http://schemas.microsoft.com/office/drawing/2014/main" id="{494582ED-8D41-5217-02EF-DA48AD667FB2}"/>
                </a:ext>
              </a:extLst>
            </p:cNvPr>
            <p:cNvSpPr>
              <a:spLocks noChangeAspect="1" noChangeArrowheads="1"/>
            </p:cNvSpPr>
            <p:nvPr/>
          </p:nvSpPr>
          <p:spPr bwMode="auto">
            <a:xfrm>
              <a:off x="1971" y="1309"/>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1</a:t>
              </a:r>
              <a:endParaRPr lang="en-US" altLang="en-US" sz="1600" b="1">
                <a:latin typeface="Arial" panose="020B0604020202020204" pitchFamily="34" charset="0"/>
              </a:endParaRPr>
            </a:p>
          </p:txBody>
        </p:sp>
        <p:sp>
          <p:nvSpPr>
            <p:cNvPr id="31836" name="Rectangle 43">
              <a:extLst>
                <a:ext uri="{FF2B5EF4-FFF2-40B4-BE49-F238E27FC236}">
                  <a16:creationId xmlns:a16="http://schemas.microsoft.com/office/drawing/2014/main" id="{FC2C92EE-753D-6803-9945-8009B22D21DA}"/>
                </a:ext>
              </a:extLst>
            </p:cNvPr>
            <p:cNvSpPr>
              <a:spLocks noChangeAspect="1" noChangeArrowheads="1"/>
            </p:cNvSpPr>
            <p:nvPr/>
          </p:nvSpPr>
          <p:spPr bwMode="auto">
            <a:xfrm>
              <a:off x="1155" y="1945"/>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2</a:t>
              </a:r>
              <a:endParaRPr lang="en-US" altLang="en-US" sz="1600" b="1">
                <a:latin typeface="Arial" panose="020B0604020202020204" pitchFamily="34" charset="0"/>
              </a:endParaRPr>
            </a:p>
          </p:txBody>
        </p:sp>
        <p:sp>
          <p:nvSpPr>
            <p:cNvPr id="31837" name="Rectangle 44">
              <a:extLst>
                <a:ext uri="{FF2B5EF4-FFF2-40B4-BE49-F238E27FC236}">
                  <a16:creationId xmlns:a16="http://schemas.microsoft.com/office/drawing/2014/main" id="{A82E5BFB-519B-129B-27FC-051B9CA47EC1}"/>
                </a:ext>
              </a:extLst>
            </p:cNvPr>
            <p:cNvSpPr>
              <a:spLocks noChangeAspect="1" noChangeArrowheads="1"/>
            </p:cNvSpPr>
            <p:nvPr/>
          </p:nvSpPr>
          <p:spPr bwMode="auto">
            <a:xfrm>
              <a:off x="1775" y="2262"/>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3</a:t>
              </a:r>
              <a:endParaRPr lang="en-US" altLang="en-US" sz="1600" b="1">
                <a:latin typeface="Arial" panose="020B0604020202020204" pitchFamily="34" charset="0"/>
              </a:endParaRPr>
            </a:p>
          </p:txBody>
        </p:sp>
        <p:sp>
          <p:nvSpPr>
            <p:cNvPr id="31838" name="Rectangle 45">
              <a:extLst>
                <a:ext uri="{FF2B5EF4-FFF2-40B4-BE49-F238E27FC236}">
                  <a16:creationId xmlns:a16="http://schemas.microsoft.com/office/drawing/2014/main" id="{3281717B-263A-31BB-8010-0074F2E38666}"/>
                </a:ext>
              </a:extLst>
            </p:cNvPr>
            <p:cNvSpPr>
              <a:spLocks noChangeAspect="1" noChangeArrowheads="1"/>
            </p:cNvSpPr>
            <p:nvPr/>
          </p:nvSpPr>
          <p:spPr bwMode="auto">
            <a:xfrm>
              <a:off x="1388" y="2827"/>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4</a:t>
              </a:r>
              <a:endParaRPr lang="en-US" altLang="en-US" sz="1600" b="1">
                <a:latin typeface="Arial" panose="020B0604020202020204" pitchFamily="34" charset="0"/>
              </a:endParaRPr>
            </a:p>
          </p:txBody>
        </p:sp>
        <p:sp>
          <p:nvSpPr>
            <p:cNvPr id="31839" name="Rectangle 46">
              <a:extLst>
                <a:ext uri="{FF2B5EF4-FFF2-40B4-BE49-F238E27FC236}">
                  <a16:creationId xmlns:a16="http://schemas.microsoft.com/office/drawing/2014/main" id="{4DA4A10A-EBD5-9269-989E-86ACD007DC1D}"/>
                </a:ext>
              </a:extLst>
            </p:cNvPr>
            <p:cNvSpPr>
              <a:spLocks noChangeAspect="1" noChangeArrowheads="1"/>
            </p:cNvSpPr>
            <p:nvPr/>
          </p:nvSpPr>
          <p:spPr bwMode="auto">
            <a:xfrm>
              <a:off x="572" y="1817"/>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5</a:t>
              </a:r>
              <a:endParaRPr lang="en-US" altLang="en-US" sz="1600" b="1">
                <a:latin typeface="Arial" panose="020B0604020202020204" pitchFamily="34" charset="0"/>
              </a:endParaRPr>
            </a:p>
          </p:txBody>
        </p:sp>
        <p:sp>
          <p:nvSpPr>
            <p:cNvPr id="31840" name="Rectangle 47">
              <a:extLst>
                <a:ext uri="{FF2B5EF4-FFF2-40B4-BE49-F238E27FC236}">
                  <a16:creationId xmlns:a16="http://schemas.microsoft.com/office/drawing/2014/main" id="{AEC68FDF-102A-5222-B5F5-1E20C1418846}"/>
                </a:ext>
              </a:extLst>
            </p:cNvPr>
            <p:cNvSpPr>
              <a:spLocks noChangeAspect="1" noChangeArrowheads="1"/>
            </p:cNvSpPr>
            <p:nvPr/>
          </p:nvSpPr>
          <p:spPr bwMode="auto">
            <a:xfrm>
              <a:off x="2275" y="2316"/>
              <a:ext cx="10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6</a:t>
              </a:r>
              <a:endParaRPr lang="en-US" altLang="en-US" sz="1600" b="1">
                <a:latin typeface="Arial" panose="020B0604020202020204" pitchFamily="34" charset="0"/>
              </a:endParaRPr>
            </a:p>
          </p:txBody>
        </p:sp>
      </p:grpSp>
      <p:grpSp>
        <p:nvGrpSpPr>
          <p:cNvPr id="9" name="Group 48">
            <a:extLst>
              <a:ext uri="{FF2B5EF4-FFF2-40B4-BE49-F238E27FC236}">
                <a16:creationId xmlns:a16="http://schemas.microsoft.com/office/drawing/2014/main" id="{443C3345-38C8-C900-3804-32AB72923589}"/>
              </a:ext>
            </a:extLst>
          </p:cNvPr>
          <p:cNvGrpSpPr>
            <a:grpSpLocks noChangeAspect="1"/>
          </p:cNvGrpSpPr>
          <p:nvPr/>
        </p:nvGrpSpPr>
        <p:grpSpPr bwMode="auto">
          <a:xfrm>
            <a:off x="3630614" y="4951414"/>
            <a:ext cx="917575" cy="619582"/>
            <a:chOff x="1537" y="2197"/>
            <a:chExt cx="898" cy="606"/>
          </a:xfrm>
        </p:grpSpPr>
        <p:sp>
          <p:nvSpPr>
            <p:cNvPr id="31827" name="Freeform 49">
              <a:extLst>
                <a:ext uri="{FF2B5EF4-FFF2-40B4-BE49-F238E27FC236}">
                  <a16:creationId xmlns:a16="http://schemas.microsoft.com/office/drawing/2014/main" id="{3E0B8D68-C4F7-CBB2-AC03-7D0110B98856}"/>
                </a:ext>
              </a:extLst>
            </p:cNvPr>
            <p:cNvSpPr>
              <a:spLocks noChangeAspect="1"/>
            </p:cNvSpPr>
            <p:nvPr/>
          </p:nvSpPr>
          <p:spPr bwMode="auto">
            <a:xfrm>
              <a:off x="1537" y="2197"/>
              <a:ext cx="898" cy="375"/>
            </a:xfrm>
            <a:custGeom>
              <a:avLst/>
              <a:gdLst>
                <a:gd name="T0" fmla="*/ 450 w 898"/>
                <a:gd name="T1" fmla="*/ 0 h 375"/>
                <a:gd name="T2" fmla="*/ 511 w 898"/>
                <a:gd name="T3" fmla="*/ 2 h 375"/>
                <a:gd name="T4" fmla="*/ 572 w 898"/>
                <a:gd name="T5" fmla="*/ 6 h 375"/>
                <a:gd name="T6" fmla="*/ 630 w 898"/>
                <a:gd name="T7" fmla="*/ 15 h 375"/>
                <a:gd name="T8" fmla="*/ 684 w 898"/>
                <a:gd name="T9" fmla="*/ 28 h 375"/>
                <a:gd name="T10" fmla="*/ 734 w 898"/>
                <a:gd name="T11" fmla="*/ 43 h 375"/>
                <a:gd name="T12" fmla="*/ 779 w 898"/>
                <a:gd name="T13" fmla="*/ 60 h 375"/>
                <a:gd name="T14" fmla="*/ 818 w 898"/>
                <a:gd name="T15" fmla="*/ 79 h 375"/>
                <a:gd name="T16" fmla="*/ 851 w 898"/>
                <a:gd name="T17" fmla="*/ 101 h 375"/>
                <a:gd name="T18" fmla="*/ 875 w 898"/>
                <a:gd name="T19" fmla="*/ 125 h 375"/>
                <a:gd name="T20" fmla="*/ 892 w 898"/>
                <a:gd name="T21" fmla="*/ 149 h 375"/>
                <a:gd name="T22" fmla="*/ 898 w 898"/>
                <a:gd name="T23" fmla="*/ 174 h 375"/>
                <a:gd name="T24" fmla="*/ 898 w 898"/>
                <a:gd name="T25" fmla="*/ 200 h 375"/>
                <a:gd name="T26" fmla="*/ 892 w 898"/>
                <a:gd name="T27" fmla="*/ 226 h 375"/>
                <a:gd name="T28" fmla="*/ 875 w 898"/>
                <a:gd name="T29" fmla="*/ 250 h 375"/>
                <a:gd name="T30" fmla="*/ 851 w 898"/>
                <a:gd name="T31" fmla="*/ 274 h 375"/>
                <a:gd name="T32" fmla="*/ 818 w 898"/>
                <a:gd name="T33" fmla="*/ 295 h 375"/>
                <a:gd name="T34" fmla="*/ 779 w 898"/>
                <a:gd name="T35" fmla="*/ 315 h 375"/>
                <a:gd name="T36" fmla="*/ 734 w 898"/>
                <a:gd name="T37" fmla="*/ 332 h 375"/>
                <a:gd name="T38" fmla="*/ 684 w 898"/>
                <a:gd name="T39" fmla="*/ 347 h 375"/>
                <a:gd name="T40" fmla="*/ 630 w 898"/>
                <a:gd name="T41" fmla="*/ 360 h 375"/>
                <a:gd name="T42" fmla="*/ 572 w 898"/>
                <a:gd name="T43" fmla="*/ 369 h 375"/>
                <a:gd name="T44" fmla="*/ 511 w 898"/>
                <a:gd name="T45" fmla="*/ 373 h 375"/>
                <a:gd name="T46" fmla="*/ 450 w 898"/>
                <a:gd name="T47" fmla="*/ 375 h 375"/>
                <a:gd name="T48" fmla="*/ 390 w 898"/>
                <a:gd name="T49" fmla="*/ 373 h 375"/>
                <a:gd name="T50" fmla="*/ 329 w 898"/>
                <a:gd name="T51" fmla="*/ 369 h 375"/>
                <a:gd name="T52" fmla="*/ 271 w 898"/>
                <a:gd name="T53" fmla="*/ 360 h 375"/>
                <a:gd name="T54" fmla="*/ 217 w 898"/>
                <a:gd name="T55" fmla="*/ 347 h 375"/>
                <a:gd name="T56" fmla="*/ 167 w 898"/>
                <a:gd name="T57" fmla="*/ 332 h 375"/>
                <a:gd name="T58" fmla="*/ 122 w 898"/>
                <a:gd name="T59" fmla="*/ 315 h 375"/>
                <a:gd name="T60" fmla="*/ 83 w 898"/>
                <a:gd name="T61" fmla="*/ 295 h 375"/>
                <a:gd name="T62" fmla="*/ 50 w 898"/>
                <a:gd name="T63" fmla="*/ 274 h 375"/>
                <a:gd name="T64" fmla="*/ 26 w 898"/>
                <a:gd name="T65" fmla="*/ 250 h 375"/>
                <a:gd name="T66" fmla="*/ 9 w 898"/>
                <a:gd name="T67" fmla="*/ 226 h 375"/>
                <a:gd name="T68" fmla="*/ 0 w 898"/>
                <a:gd name="T69" fmla="*/ 200 h 375"/>
                <a:gd name="T70" fmla="*/ 0 w 898"/>
                <a:gd name="T71" fmla="*/ 174 h 375"/>
                <a:gd name="T72" fmla="*/ 9 w 898"/>
                <a:gd name="T73" fmla="*/ 149 h 375"/>
                <a:gd name="T74" fmla="*/ 26 w 898"/>
                <a:gd name="T75" fmla="*/ 125 h 375"/>
                <a:gd name="T76" fmla="*/ 50 w 898"/>
                <a:gd name="T77" fmla="*/ 101 h 375"/>
                <a:gd name="T78" fmla="*/ 83 w 898"/>
                <a:gd name="T79" fmla="*/ 79 h 375"/>
                <a:gd name="T80" fmla="*/ 122 w 898"/>
                <a:gd name="T81" fmla="*/ 60 h 375"/>
                <a:gd name="T82" fmla="*/ 167 w 898"/>
                <a:gd name="T83" fmla="*/ 43 h 375"/>
                <a:gd name="T84" fmla="*/ 217 w 898"/>
                <a:gd name="T85" fmla="*/ 28 h 375"/>
                <a:gd name="T86" fmla="*/ 271 w 898"/>
                <a:gd name="T87" fmla="*/ 15 h 375"/>
                <a:gd name="T88" fmla="*/ 329 w 898"/>
                <a:gd name="T89" fmla="*/ 6 h 375"/>
                <a:gd name="T90" fmla="*/ 390 w 898"/>
                <a:gd name="T91" fmla="*/ 2 h 375"/>
                <a:gd name="T92" fmla="*/ 450 w 898"/>
                <a:gd name="T93" fmla="*/ 0 h 3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8"/>
                <a:gd name="T142" fmla="*/ 0 h 375"/>
                <a:gd name="T143" fmla="*/ 898 w 898"/>
                <a:gd name="T144" fmla="*/ 375 h 3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8" h="375">
                  <a:moveTo>
                    <a:pt x="450" y="0"/>
                  </a:moveTo>
                  <a:lnTo>
                    <a:pt x="511" y="2"/>
                  </a:lnTo>
                  <a:lnTo>
                    <a:pt x="572" y="6"/>
                  </a:lnTo>
                  <a:lnTo>
                    <a:pt x="630" y="15"/>
                  </a:lnTo>
                  <a:lnTo>
                    <a:pt x="684" y="28"/>
                  </a:lnTo>
                  <a:lnTo>
                    <a:pt x="734" y="43"/>
                  </a:lnTo>
                  <a:lnTo>
                    <a:pt x="779" y="60"/>
                  </a:lnTo>
                  <a:lnTo>
                    <a:pt x="818" y="79"/>
                  </a:lnTo>
                  <a:lnTo>
                    <a:pt x="851" y="101"/>
                  </a:lnTo>
                  <a:lnTo>
                    <a:pt x="875" y="125"/>
                  </a:lnTo>
                  <a:lnTo>
                    <a:pt x="892" y="149"/>
                  </a:lnTo>
                  <a:lnTo>
                    <a:pt x="898" y="174"/>
                  </a:lnTo>
                  <a:lnTo>
                    <a:pt x="898" y="200"/>
                  </a:lnTo>
                  <a:lnTo>
                    <a:pt x="892" y="226"/>
                  </a:lnTo>
                  <a:lnTo>
                    <a:pt x="875" y="250"/>
                  </a:lnTo>
                  <a:lnTo>
                    <a:pt x="851" y="274"/>
                  </a:lnTo>
                  <a:lnTo>
                    <a:pt x="818" y="295"/>
                  </a:lnTo>
                  <a:lnTo>
                    <a:pt x="779" y="315"/>
                  </a:lnTo>
                  <a:lnTo>
                    <a:pt x="734" y="332"/>
                  </a:lnTo>
                  <a:lnTo>
                    <a:pt x="684" y="347"/>
                  </a:lnTo>
                  <a:lnTo>
                    <a:pt x="630" y="360"/>
                  </a:lnTo>
                  <a:lnTo>
                    <a:pt x="572" y="369"/>
                  </a:lnTo>
                  <a:lnTo>
                    <a:pt x="511" y="373"/>
                  </a:lnTo>
                  <a:lnTo>
                    <a:pt x="450" y="375"/>
                  </a:lnTo>
                  <a:lnTo>
                    <a:pt x="390" y="373"/>
                  </a:lnTo>
                  <a:lnTo>
                    <a:pt x="329" y="369"/>
                  </a:lnTo>
                  <a:lnTo>
                    <a:pt x="271" y="360"/>
                  </a:lnTo>
                  <a:lnTo>
                    <a:pt x="217" y="347"/>
                  </a:lnTo>
                  <a:lnTo>
                    <a:pt x="167" y="332"/>
                  </a:lnTo>
                  <a:lnTo>
                    <a:pt x="122" y="315"/>
                  </a:lnTo>
                  <a:lnTo>
                    <a:pt x="83" y="295"/>
                  </a:lnTo>
                  <a:lnTo>
                    <a:pt x="50" y="274"/>
                  </a:lnTo>
                  <a:lnTo>
                    <a:pt x="26" y="250"/>
                  </a:lnTo>
                  <a:lnTo>
                    <a:pt x="9" y="226"/>
                  </a:lnTo>
                  <a:lnTo>
                    <a:pt x="0" y="200"/>
                  </a:lnTo>
                  <a:lnTo>
                    <a:pt x="0" y="174"/>
                  </a:lnTo>
                  <a:lnTo>
                    <a:pt x="9" y="149"/>
                  </a:lnTo>
                  <a:lnTo>
                    <a:pt x="26" y="125"/>
                  </a:lnTo>
                  <a:lnTo>
                    <a:pt x="50" y="101"/>
                  </a:lnTo>
                  <a:lnTo>
                    <a:pt x="83" y="79"/>
                  </a:lnTo>
                  <a:lnTo>
                    <a:pt x="122" y="60"/>
                  </a:lnTo>
                  <a:lnTo>
                    <a:pt x="167" y="43"/>
                  </a:lnTo>
                  <a:lnTo>
                    <a:pt x="217" y="28"/>
                  </a:lnTo>
                  <a:lnTo>
                    <a:pt x="271" y="15"/>
                  </a:lnTo>
                  <a:lnTo>
                    <a:pt x="329" y="6"/>
                  </a:lnTo>
                  <a:lnTo>
                    <a:pt x="390" y="2"/>
                  </a:lnTo>
                  <a:lnTo>
                    <a:pt x="45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28" name="Rectangle 50">
              <a:extLst>
                <a:ext uri="{FF2B5EF4-FFF2-40B4-BE49-F238E27FC236}">
                  <a16:creationId xmlns:a16="http://schemas.microsoft.com/office/drawing/2014/main" id="{FC37EF5E-6C01-5672-3CDD-FD8D55EB42B6}"/>
                </a:ext>
              </a:extLst>
            </p:cNvPr>
            <p:cNvSpPr>
              <a:spLocks noChangeAspect="1" noChangeArrowheads="1"/>
            </p:cNvSpPr>
            <p:nvPr/>
          </p:nvSpPr>
          <p:spPr bwMode="auto">
            <a:xfrm>
              <a:off x="1910" y="2562"/>
              <a:ext cx="11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1</a:t>
              </a:r>
              <a:endParaRPr lang="en-US" altLang="en-US" sz="1600" b="1">
                <a:latin typeface="Arial" panose="020B0604020202020204" pitchFamily="34" charset="0"/>
              </a:endParaRPr>
            </a:p>
          </p:txBody>
        </p:sp>
      </p:grpSp>
      <p:grpSp>
        <p:nvGrpSpPr>
          <p:cNvPr id="10" name="Group 51">
            <a:extLst>
              <a:ext uri="{FF2B5EF4-FFF2-40B4-BE49-F238E27FC236}">
                <a16:creationId xmlns:a16="http://schemas.microsoft.com/office/drawing/2014/main" id="{0C8978D4-4A91-5C5B-06CC-C0AF1E10C949}"/>
              </a:ext>
            </a:extLst>
          </p:cNvPr>
          <p:cNvGrpSpPr>
            <a:grpSpLocks noChangeAspect="1"/>
          </p:cNvGrpSpPr>
          <p:nvPr/>
        </p:nvGrpSpPr>
        <p:grpSpPr bwMode="auto">
          <a:xfrm>
            <a:off x="2447925" y="4322763"/>
            <a:ext cx="1035050" cy="582612"/>
            <a:chOff x="380" y="1581"/>
            <a:chExt cx="1012" cy="570"/>
          </a:xfrm>
        </p:grpSpPr>
        <p:sp>
          <p:nvSpPr>
            <p:cNvPr id="31825" name="Freeform 52">
              <a:extLst>
                <a:ext uri="{FF2B5EF4-FFF2-40B4-BE49-F238E27FC236}">
                  <a16:creationId xmlns:a16="http://schemas.microsoft.com/office/drawing/2014/main" id="{D13B0C0B-C4F6-9DF2-85F4-8A64092F463F}"/>
                </a:ext>
              </a:extLst>
            </p:cNvPr>
            <p:cNvSpPr>
              <a:spLocks noChangeAspect="1"/>
            </p:cNvSpPr>
            <p:nvPr/>
          </p:nvSpPr>
          <p:spPr bwMode="auto">
            <a:xfrm>
              <a:off x="380" y="1760"/>
              <a:ext cx="1012" cy="391"/>
            </a:xfrm>
            <a:custGeom>
              <a:avLst/>
              <a:gdLst>
                <a:gd name="T0" fmla="*/ 523 w 1012"/>
                <a:gd name="T1" fmla="*/ 5 h 391"/>
                <a:gd name="T2" fmla="*/ 586 w 1012"/>
                <a:gd name="T3" fmla="*/ 11 h 391"/>
                <a:gd name="T4" fmla="*/ 649 w 1012"/>
                <a:gd name="T5" fmla="*/ 22 h 391"/>
                <a:gd name="T6" fmla="*/ 707 w 1012"/>
                <a:gd name="T7" fmla="*/ 35 h 391"/>
                <a:gd name="T8" fmla="*/ 766 w 1012"/>
                <a:gd name="T9" fmla="*/ 50 h 391"/>
                <a:gd name="T10" fmla="*/ 818 w 1012"/>
                <a:gd name="T11" fmla="*/ 67 h 391"/>
                <a:gd name="T12" fmla="*/ 865 w 1012"/>
                <a:gd name="T13" fmla="*/ 87 h 391"/>
                <a:gd name="T14" fmla="*/ 906 w 1012"/>
                <a:gd name="T15" fmla="*/ 108 h 391"/>
                <a:gd name="T16" fmla="*/ 943 w 1012"/>
                <a:gd name="T17" fmla="*/ 130 h 391"/>
                <a:gd name="T18" fmla="*/ 971 w 1012"/>
                <a:gd name="T19" fmla="*/ 154 h 391"/>
                <a:gd name="T20" fmla="*/ 993 w 1012"/>
                <a:gd name="T21" fmla="*/ 180 h 391"/>
                <a:gd name="T22" fmla="*/ 1006 w 1012"/>
                <a:gd name="T23" fmla="*/ 203 h 391"/>
                <a:gd name="T24" fmla="*/ 1012 w 1012"/>
                <a:gd name="T25" fmla="*/ 227 h 391"/>
                <a:gd name="T26" fmla="*/ 1010 w 1012"/>
                <a:gd name="T27" fmla="*/ 251 h 391"/>
                <a:gd name="T28" fmla="*/ 999 w 1012"/>
                <a:gd name="T29" fmla="*/ 275 h 391"/>
                <a:gd name="T30" fmla="*/ 982 w 1012"/>
                <a:gd name="T31" fmla="*/ 296 h 391"/>
                <a:gd name="T32" fmla="*/ 956 w 1012"/>
                <a:gd name="T33" fmla="*/ 318 h 391"/>
                <a:gd name="T34" fmla="*/ 924 w 1012"/>
                <a:gd name="T35" fmla="*/ 335 h 391"/>
                <a:gd name="T36" fmla="*/ 885 w 1012"/>
                <a:gd name="T37" fmla="*/ 352 h 391"/>
                <a:gd name="T38" fmla="*/ 842 w 1012"/>
                <a:gd name="T39" fmla="*/ 365 h 391"/>
                <a:gd name="T40" fmla="*/ 790 w 1012"/>
                <a:gd name="T41" fmla="*/ 376 h 391"/>
                <a:gd name="T42" fmla="*/ 736 w 1012"/>
                <a:gd name="T43" fmla="*/ 385 h 391"/>
                <a:gd name="T44" fmla="*/ 677 w 1012"/>
                <a:gd name="T45" fmla="*/ 389 h 391"/>
                <a:gd name="T46" fmla="*/ 616 w 1012"/>
                <a:gd name="T47" fmla="*/ 391 h 391"/>
                <a:gd name="T48" fmla="*/ 554 w 1012"/>
                <a:gd name="T49" fmla="*/ 391 h 391"/>
                <a:gd name="T50" fmla="*/ 489 w 1012"/>
                <a:gd name="T51" fmla="*/ 387 h 391"/>
                <a:gd name="T52" fmla="*/ 426 w 1012"/>
                <a:gd name="T53" fmla="*/ 380 h 391"/>
                <a:gd name="T54" fmla="*/ 363 w 1012"/>
                <a:gd name="T55" fmla="*/ 370 h 391"/>
                <a:gd name="T56" fmla="*/ 305 w 1012"/>
                <a:gd name="T57" fmla="*/ 357 h 391"/>
                <a:gd name="T58" fmla="*/ 249 w 1012"/>
                <a:gd name="T59" fmla="*/ 342 h 391"/>
                <a:gd name="T60" fmla="*/ 195 w 1012"/>
                <a:gd name="T61" fmla="*/ 324 h 391"/>
                <a:gd name="T62" fmla="*/ 147 w 1012"/>
                <a:gd name="T63" fmla="*/ 305 h 391"/>
                <a:gd name="T64" fmla="*/ 106 w 1012"/>
                <a:gd name="T65" fmla="*/ 283 h 391"/>
                <a:gd name="T66" fmla="*/ 69 w 1012"/>
                <a:gd name="T67" fmla="*/ 262 h 391"/>
                <a:gd name="T68" fmla="*/ 41 w 1012"/>
                <a:gd name="T69" fmla="*/ 238 h 391"/>
                <a:gd name="T70" fmla="*/ 19 w 1012"/>
                <a:gd name="T71" fmla="*/ 212 h 391"/>
                <a:gd name="T72" fmla="*/ 6 w 1012"/>
                <a:gd name="T73" fmla="*/ 188 h 391"/>
                <a:gd name="T74" fmla="*/ 0 w 1012"/>
                <a:gd name="T75" fmla="*/ 164 h 391"/>
                <a:gd name="T76" fmla="*/ 2 w 1012"/>
                <a:gd name="T77" fmla="*/ 139 h 391"/>
                <a:gd name="T78" fmla="*/ 13 w 1012"/>
                <a:gd name="T79" fmla="*/ 117 h 391"/>
                <a:gd name="T80" fmla="*/ 30 w 1012"/>
                <a:gd name="T81" fmla="*/ 95 h 391"/>
                <a:gd name="T82" fmla="*/ 56 w 1012"/>
                <a:gd name="T83" fmla="*/ 74 h 391"/>
                <a:gd name="T84" fmla="*/ 89 w 1012"/>
                <a:gd name="T85" fmla="*/ 57 h 391"/>
                <a:gd name="T86" fmla="*/ 128 w 1012"/>
                <a:gd name="T87" fmla="*/ 39 h 391"/>
                <a:gd name="T88" fmla="*/ 171 w 1012"/>
                <a:gd name="T89" fmla="*/ 26 h 391"/>
                <a:gd name="T90" fmla="*/ 223 w 1012"/>
                <a:gd name="T91" fmla="*/ 16 h 391"/>
                <a:gd name="T92" fmla="*/ 277 w 1012"/>
                <a:gd name="T93" fmla="*/ 7 h 391"/>
                <a:gd name="T94" fmla="*/ 335 w 1012"/>
                <a:gd name="T95" fmla="*/ 3 h 391"/>
                <a:gd name="T96" fmla="*/ 396 w 1012"/>
                <a:gd name="T97" fmla="*/ 0 h 391"/>
                <a:gd name="T98" fmla="*/ 459 w 1012"/>
                <a:gd name="T99" fmla="*/ 0 h 391"/>
                <a:gd name="T100" fmla="*/ 523 w 1012"/>
                <a:gd name="T101" fmla="*/ 5 h 3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12"/>
                <a:gd name="T154" fmla="*/ 0 h 391"/>
                <a:gd name="T155" fmla="*/ 1012 w 1012"/>
                <a:gd name="T156" fmla="*/ 391 h 3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12" h="391">
                  <a:moveTo>
                    <a:pt x="523" y="5"/>
                  </a:moveTo>
                  <a:lnTo>
                    <a:pt x="586" y="11"/>
                  </a:lnTo>
                  <a:lnTo>
                    <a:pt x="649" y="22"/>
                  </a:lnTo>
                  <a:lnTo>
                    <a:pt x="707" y="35"/>
                  </a:lnTo>
                  <a:lnTo>
                    <a:pt x="766" y="50"/>
                  </a:lnTo>
                  <a:lnTo>
                    <a:pt x="818" y="67"/>
                  </a:lnTo>
                  <a:lnTo>
                    <a:pt x="865" y="87"/>
                  </a:lnTo>
                  <a:lnTo>
                    <a:pt x="906" y="108"/>
                  </a:lnTo>
                  <a:lnTo>
                    <a:pt x="943" y="130"/>
                  </a:lnTo>
                  <a:lnTo>
                    <a:pt x="971" y="154"/>
                  </a:lnTo>
                  <a:lnTo>
                    <a:pt x="993" y="180"/>
                  </a:lnTo>
                  <a:lnTo>
                    <a:pt x="1006" y="203"/>
                  </a:lnTo>
                  <a:lnTo>
                    <a:pt x="1012" y="227"/>
                  </a:lnTo>
                  <a:lnTo>
                    <a:pt x="1010" y="251"/>
                  </a:lnTo>
                  <a:lnTo>
                    <a:pt x="999" y="275"/>
                  </a:lnTo>
                  <a:lnTo>
                    <a:pt x="982" y="296"/>
                  </a:lnTo>
                  <a:lnTo>
                    <a:pt x="956" y="318"/>
                  </a:lnTo>
                  <a:lnTo>
                    <a:pt x="924" y="335"/>
                  </a:lnTo>
                  <a:lnTo>
                    <a:pt x="885" y="352"/>
                  </a:lnTo>
                  <a:lnTo>
                    <a:pt x="842" y="365"/>
                  </a:lnTo>
                  <a:lnTo>
                    <a:pt x="790" y="376"/>
                  </a:lnTo>
                  <a:lnTo>
                    <a:pt x="736" y="385"/>
                  </a:lnTo>
                  <a:lnTo>
                    <a:pt x="677" y="389"/>
                  </a:lnTo>
                  <a:lnTo>
                    <a:pt x="616" y="391"/>
                  </a:lnTo>
                  <a:lnTo>
                    <a:pt x="554" y="391"/>
                  </a:lnTo>
                  <a:lnTo>
                    <a:pt x="489" y="387"/>
                  </a:lnTo>
                  <a:lnTo>
                    <a:pt x="426" y="380"/>
                  </a:lnTo>
                  <a:lnTo>
                    <a:pt x="363" y="370"/>
                  </a:lnTo>
                  <a:lnTo>
                    <a:pt x="305" y="357"/>
                  </a:lnTo>
                  <a:lnTo>
                    <a:pt x="249" y="342"/>
                  </a:lnTo>
                  <a:lnTo>
                    <a:pt x="195" y="324"/>
                  </a:lnTo>
                  <a:lnTo>
                    <a:pt x="147" y="305"/>
                  </a:lnTo>
                  <a:lnTo>
                    <a:pt x="106" y="283"/>
                  </a:lnTo>
                  <a:lnTo>
                    <a:pt x="69" y="262"/>
                  </a:lnTo>
                  <a:lnTo>
                    <a:pt x="41" y="238"/>
                  </a:lnTo>
                  <a:lnTo>
                    <a:pt x="19" y="212"/>
                  </a:lnTo>
                  <a:lnTo>
                    <a:pt x="6" y="188"/>
                  </a:lnTo>
                  <a:lnTo>
                    <a:pt x="0" y="164"/>
                  </a:lnTo>
                  <a:lnTo>
                    <a:pt x="2" y="139"/>
                  </a:lnTo>
                  <a:lnTo>
                    <a:pt x="13" y="117"/>
                  </a:lnTo>
                  <a:lnTo>
                    <a:pt x="30" y="95"/>
                  </a:lnTo>
                  <a:lnTo>
                    <a:pt x="56" y="74"/>
                  </a:lnTo>
                  <a:lnTo>
                    <a:pt x="89" y="57"/>
                  </a:lnTo>
                  <a:lnTo>
                    <a:pt x="128" y="39"/>
                  </a:lnTo>
                  <a:lnTo>
                    <a:pt x="171" y="26"/>
                  </a:lnTo>
                  <a:lnTo>
                    <a:pt x="223" y="16"/>
                  </a:lnTo>
                  <a:lnTo>
                    <a:pt x="277" y="7"/>
                  </a:lnTo>
                  <a:lnTo>
                    <a:pt x="335" y="3"/>
                  </a:lnTo>
                  <a:lnTo>
                    <a:pt x="396" y="0"/>
                  </a:lnTo>
                  <a:lnTo>
                    <a:pt x="459" y="0"/>
                  </a:lnTo>
                  <a:lnTo>
                    <a:pt x="523" y="5"/>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26" name="Rectangle 53">
              <a:extLst>
                <a:ext uri="{FF2B5EF4-FFF2-40B4-BE49-F238E27FC236}">
                  <a16:creationId xmlns:a16="http://schemas.microsoft.com/office/drawing/2014/main" id="{B814686A-7924-0E50-949A-6372A45941E6}"/>
                </a:ext>
              </a:extLst>
            </p:cNvPr>
            <p:cNvSpPr>
              <a:spLocks noChangeAspect="1" noChangeArrowheads="1"/>
            </p:cNvSpPr>
            <p:nvPr/>
          </p:nvSpPr>
          <p:spPr bwMode="auto">
            <a:xfrm>
              <a:off x="914" y="1581"/>
              <a:ext cx="11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2</a:t>
              </a:r>
              <a:endParaRPr lang="en-US" altLang="en-US" sz="1600" b="1">
                <a:latin typeface="Arial" panose="020B0604020202020204" pitchFamily="34" charset="0"/>
              </a:endParaRPr>
            </a:p>
          </p:txBody>
        </p:sp>
      </p:grpSp>
      <p:grpSp>
        <p:nvGrpSpPr>
          <p:cNvPr id="11" name="Group 54">
            <a:extLst>
              <a:ext uri="{FF2B5EF4-FFF2-40B4-BE49-F238E27FC236}">
                <a16:creationId xmlns:a16="http://schemas.microsoft.com/office/drawing/2014/main" id="{8A6D274E-42AE-3B38-594D-60E8D17D81DD}"/>
              </a:ext>
            </a:extLst>
          </p:cNvPr>
          <p:cNvGrpSpPr>
            <a:grpSpLocks noChangeAspect="1"/>
          </p:cNvGrpSpPr>
          <p:nvPr/>
        </p:nvGrpSpPr>
        <p:grpSpPr bwMode="auto">
          <a:xfrm>
            <a:off x="2222500" y="3886200"/>
            <a:ext cx="2578100" cy="2286000"/>
            <a:chOff x="159" y="1154"/>
            <a:chExt cx="2523" cy="2237"/>
          </a:xfrm>
        </p:grpSpPr>
        <p:sp>
          <p:nvSpPr>
            <p:cNvPr id="31823" name="Rectangle 55">
              <a:extLst>
                <a:ext uri="{FF2B5EF4-FFF2-40B4-BE49-F238E27FC236}">
                  <a16:creationId xmlns:a16="http://schemas.microsoft.com/office/drawing/2014/main" id="{63DF845F-53ED-A927-D196-0C93599263F5}"/>
                </a:ext>
              </a:extLst>
            </p:cNvPr>
            <p:cNvSpPr>
              <a:spLocks noChangeAspect="1" noChangeArrowheads="1"/>
            </p:cNvSpPr>
            <p:nvPr/>
          </p:nvSpPr>
          <p:spPr bwMode="auto">
            <a:xfrm>
              <a:off x="2186" y="1166"/>
              <a:ext cx="11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5</a:t>
              </a:r>
              <a:endParaRPr lang="en-US" altLang="en-US" sz="1600" b="1">
                <a:latin typeface="Arial" panose="020B0604020202020204" pitchFamily="34" charset="0"/>
              </a:endParaRPr>
            </a:p>
          </p:txBody>
        </p:sp>
        <p:sp>
          <p:nvSpPr>
            <p:cNvPr id="31824" name="Freeform 56">
              <a:extLst>
                <a:ext uri="{FF2B5EF4-FFF2-40B4-BE49-F238E27FC236}">
                  <a16:creationId xmlns:a16="http://schemas.microsoft.com/office/drawing/2014/main" id="{D39DEC50-7B3A-A088-A38A-60C35BED3D84}"/>
                </a:ext>
              </a:extLst>
            </p:cNvPr>
            <p:cNvSpPr>
              <a:spLocks noChangeAspect="1"/>
            </p:cNvSpPr>
            <p:nvPr/>
          </p:nvSpPr>
          <p:spPr bwMode="auto">
            <a:xfrm>
              <a:off x="159" y="1154"/>
              <a:ext cx="2523" cy="2237"/>
            </a:xfrm>
            <a:custGeom>
              <a:avLst/>
              <a:gdLst>
                <a:gd name="T0" fmla="*/ 1363 w 2523"/>
                <a:gd name="T1" fmla="*/ 2 h 2237"/>
                <a:gd name="T2" fmla="*/ 1569 w 2523"/>
                <a:gd name="T3" fmla="*/ 32 h 2237"/>
                <a:gd name="T4" fmla="*/ 1766 w 2523"/>
                <a:gd name="T5" fmla="*/ 93 h 2237"/>
                <a:gd name="T6" fmla="*/ 1950 w 2523"/>
                <a:gd name="T7" fmla="*/ 179 h 2237"/>
                <a:gd name="T8" fmla="*/ 2114 w 2523"/>
                <a:gd name="T9" fmla="*/ 293 h 2237"/>
                <a:gd name="T10" fmla="*/ 2255 w 2523"/>
                <a:gd name="T11" fmla="*/ 429 h 2237"/>
                <a:gd name="T12" fmla="*/ 2369 w 2523"/>
                <a:gd name="T13" fmla="*/ 583 h 2237"/>
                <a:gd name="T14" fmla="*/ 2454 w 2523"/>
                <a:gd name="T15" fmla="*/ 753 h 2237"/>
                <a:gd name="T16" fmla="*/ 2506 w 2523"/>
                <a:gd name="T17" fmla="*/ 930 h 2237"/>
                <a:gd name="T18" fmla="*/ 2523 w 2523"/>
                <a:gd name="T19" fmla="*/ 1116 h 2237"/>
                <a:gd name="T20" fmla="*/ 2506 w 2523"/>
                <a:gd name="T21" fmla="*/ 1299 h 2237"/>
                <a:gd name="T22" fmla="*/ 2454 w 2523"/>
                <a:gd name="T23" fmla="*/ 1479 h 2237"/>
                <a:gd name="T24" fmla="*/ 2372 w 2523"/>
                <a:gd name="T25" fmla="*/ 1647 h 2237"/>
                <a:gd name="T26" fmla="*/ 2257 w 2523"/>
                <a:gd name="T27" fmla="*/ 1803 h 2237"/>
                <a:gd name="T28" fmla="*/ 2116 w 2523"/>
                <a:gd name="T29" fmla="*/ 1939 h 2237"/>
                <a:gd name="T30" fmla="*/ 1952 w 2523"/>
                <a:gd name="T31" fmla="*/ 2053 h 2237"/>
                <a:gd name="T32" fmla="*/ 1770 w 2523"/>
                <a:gd name="T33" fmla="*/ 2142 h 2237"/>
                <a:gd name="T34" fmla="*/ 1573 w 2523"/>
                <a:gd name="T35" fmla="*/ 2202 h 2237"/>
                <a:gd name="T36" fmla="*/ 1368 w 2523"/>
                <a:gd name="T37" fmla="*/ 2232 h 2237"/>
                <a:gd name="T38" fmla="*/ 1160 w 2523"/>
                <a:gd name="T39" fmla="*/ 2232 h 2237"/>
                <a:gd name="T40" fmla="*/ 954 w 2523"/>
                <a:gd name="T41" fmla="*/ 2202 h 2237"/>
                <a:gd name="T42" fmla="*/ 757 w 2523"/>
                <a:gd name="T43" fmla="*/ 2144 h 2237"/>
                <a:gd name="T44" fmla="*/ 574 w 2523"/>
                <a:gd name="T45" fmla="*/ 2055 h 2237"/>
                <a:gd name="T46" fmla="*/ 409 w 2523"/>
                <a:gd name="T47" fmla="*/ 1943 h 2237"/>
                <a:gd name="T48" fmla="*/ 268 w 2523"/>
                <a:gd name="T49" fmla="*/ 1807 h 2237"/>
                <a:gd name="T50" fmla="*/ 154 w 2523"/>
                <a:gd name="T51" fmla="*/ 1651 h 2237"/>
                <a:gd name="T52" fmla="*/ 69 w 2523"/>
                <a:gd name="T53" fmla="*/ 1483 h 2237"/>
                <a:gd name="T54" fmla="*/ 17 w 2523"/>
                <a:gd name="T55" fmla="*/ 1304 h 2237"/>
                <a:gd name="T56" fmla="*/ 0 w 2523"/>
                <a:gd name="T57" fmla="*/ 1120 h 2237"/>
                <a:gd name="T58" fmla="*/ 17 w 2523"/>
                <a:gd name="T59" fmla="*/ 935 h 2237"/>
                <a:gd name="T60" fmla="*/ 69 w 2523"/>
                <a:gd name="T61" fmla="*/ 755 h 2237"/>
                <a:gd name="T62" fmla="*/ 152 w 2523"/>
                <a:gd name="T63" fmla="*/ 587 h 2237"/>
                <a:gd name="T64" fmla="*/ 266 w 2523"/>
                <a:gd name="T65" fmla="*/ 431 h 2237"/>
                <a:gd name="T66" fmla="*/ 407 w 2523"/>
                <a:gd name="T67" fmla="*/ 295 h 2237"/>
                <a:gd name="T68" fmla="*/ 571 w 2523"/>
                <a:gd name="T69" fmla="*/ 183 h 2237"/>
                <a:gd name="T70" fmla="*/ 753 w 2523"/>
                <a:gd name="T71" fmla="*/ 95 h 2237"/>
                <a:gd name="T72" fmla="*/ 950 w 2523"/>
                <a:gd name="T73" fmla="*/ 34 h 2237"/>
                <a:gd name="T74" fmla="*/ 1156 w 2523"/>
                <a:gd name="T75" fmla="*/ 4 h 2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23"/>
                <a:gd name="T115" fmla="*/ 0 h 2237"/>
                <a:gd name="T116" fmla="*/ 2523 w 2523"/>
                <a:gd name="T117" fmla="*/ 2237 h 223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23" h="2237">
                  <a:moveTo>
                    <a:pt x="1259" y="0"/>
                  </a:moveTo>
                  <a:lnTo>
                    <a:pt x="1363" y="2"/>
                  </a:lnTo>
                  <a:lnTo>
                    <a:pt x="1467" y="15"/>
                  </a:lnTo>
                  <a:lnTo>
                    <a:pt x="1569" y="32"/>
                  </a:lnTo>
                  <a:lnTo>
                    <a:pt x="1668" y="58"/>
                  </a:lnTo>
                  <a:lnTo>
                    <a:pt x="1766" y="93"/>
                  </a:lnTo>
                  <a:lnTo>
                    <a:pt x="1861" y="134"/>
                  </a:lnTo>
                  <a:lnTo>
                    <a:pt x="1950" y="179"/>
                  </a:lnTo>
                  <a:lnTo>
                    <a:pt x="2034" y="233"/>
                  </a:lnTo>
                  <a:lnTo>
                    <a:pt x="2114" y="293"/>
                  </a:lnTo>
                  <a:lnTo>
                    <a:pt x="2188" y="358"/>
                  </a:lnTo>
                  <a:lnTo>
                    <a:pt x="2255" y="429"/>
                  </a:lnTo>
                  <a:lnTo>
                    <a:pt x="2315" y="505"/>
                  </a:lnTo>
                  <a:lnTo>
                    <a:pt x="2369" y="583"/>
                  </a:lnTo>
                  <a:lnTo>
                    <a:pt x="2415" y="667"/>
                  </a:lnTo>
                  <a:lnTo>
                    <a:pt x="2454" y="753"/>
                  </a:lnTo>
                  <a:lnTo>
                    <a:pt x="2484" y="842"/>
                  </a:lnTo>
                  <a:lnTo>
                    <a:pt x="2506" y="930"/>
                  </a:lnTo>
                  <a:lnTo>
                    <a:pt x="2519" y="1023"/>
                  </a:lnTo>
                  <a:lnTo>
                    <a:pt x="2523" y="1116"/>
                  </a:lnTo>
                  <a:lnTo>
                    <a:pt x="2519" y="1209"/>
                  </a:lnTo>
                  <a:lnTo>
                    <a:pt x="2506" y="1299"/>
                  </a:lnTo>
                  <a:lnTo>
                    <a:pt x="2484" y="1390"/>
                  </a:lnTo>
                  <a:lnTo>
                    <a:pt x="2454" y="1479"/>
                  </a:lnTo>
                  <a:lnTo>
                    <a:pt x="2417" y="1565"/>
                  </a:lnTo>
                  <a:lnTo>
                    <a:pt x="2372" y="1647"/>
                  </a:lnTo>
                  <a:lnTo>
                    <a:pt x="2317" y="1727"/>
                  </a:lnTo>
                  <a:lnTo>
                    <a:pt x="2257" y="1803"/>
                  </a:lnTo>
                  <a:lnTo>
                    <a:pt x="2190" y="1874"/>
                  </a:lnTo>
                  <a:lnTo>
                    <a:pt x="2116" y="1939"/>
                  </a:lnTo>
                  <a:lnTo>
                    <a:pt x="2038" y="1999"/>
                  </a:lnTo>
                  <a:lnTo>
                    <a:pt x="1952" y="2053"/>
                  </a:lnTo>
                  <a:lnTo>
                    <a:pt x="1863" y="2101"/>
                  </a:lnTo>
                  <a:lnTo>
                    <a:pt x="1770" y="2142"/>
                  </a:lnTo>
                  <a:lnTo>
                    <a:pt x="1673" y="2174"/>
                  </a:lnTo>
                  <a:lnTo>
                    <a:pt x="1573" y="2202"/>
                  </a:lnTo>
                  <a:lnTo>
                    <a:pt x="1471" y="2221"/>
                  </a:lnTo>
                  <a:lnTo>
                    <a:pt x="1368" y="2232"/>
                  </a:lnTo>
                  <a:lnTo>
                    <a:pt x="1264" y="2237"/>
                  </a:lnTo>
                  <a:lnTo>
                    <a:pt x="1160" y="2232"/>
                  </a:lnTo>
                  <a:lnTo>
                    <a:pt x="1056" y="2221"/>
                  </a:lnTo>
                  <a:lnTo>
                    <a:pt x="954" y="2202"/>
                  </a:lnTo>
                  <a:lnTo>
                    <a:pt x="855" y="2176"/>
                  </a:lnTo>
                  <a:lnTo>
                    <a:pt x="757" y="2144"/>
                  </a:lnTo>
                  <a:lnTo>
                    <a:pt x="662" y="2103"/>
                  </a:lnTo>
                  <a:lnTo>
                    <a:pt x="574" y="2055"/>
                  </a:lnTo>
                  <a:lnTo>
                    <a:pt x="489" y="2001"/>
                  </a:lnTo>
                  <a:lnTo>
                    <a:pt x="409" y="1943"/>
                  </a:lnTo>
                  <a:lnTo>
                    <a:pt x="336" y="1876"/>
                  </a:lnTo>
                  <a:lnTo>
                    <a:pt x="268" y="1807"/>
                  </a:lnTo>
                  <a:lnTo>
                    <a:pt x="208" y="1731"/>
                  </a:lnTo>
                  <a:lnTo>
                    <a:pt x="154" y="1651"/>
                  </a:lnTo>
                  <a:lnTo>
                    <a:pt x="108" y="1569"/>
                  </a:lnTo>
                  <a:lnTo>
                    <a:pt x="69" y="1483"/>
                  </a:lnTo>
                  <a:lnTo>
                    <a:pt x="39" y="1394"/>
                  </a:lnTo>
                  <a:lnTo>
                    <a:pt x="17" y="1304"/>
                  </a:lnTo>
                  <a:lnTo>
                    <a:pt x="4" y="1213"/>
                  </a:lnTo>
                  <a:lnTo>
                    <a:pt x="0" y="1120"/>
                  </a:lnTo>
                  <a:lnTo>
                    <a:pt x="4" y="1027"/>
                  </a:lnTo>
                  <a:lnTo>
                    <a:pt x="17" y="935"/>
                  </a:lnTo>
                  <a:lnTo>
                    <a:pt x="39" y="846"/>
                  </a:lnTo>
                  <a:lnTo>
                    <a:pt x="69" y="755"/>
                  </a:lnTo>
                  <a:lnTo>
                    <a:pt x="106" y="671"/>
                  </a:lnTo>
                  <a:lnTo>
                    <a:pt x="152" y="587"/>
                  </a:lnTo>
                  <a:lnTo>
                    <a:pt x="206" y="507"/>
                  </a:lnTo>
                  <a:lnTo>
                    <a:pt x="266" y="431"/>
                  </a:lnTo>
                  <a:lnTo>
                    <a:pt x="333" y="362"/>
                  </a:lnTo>
                  <a:lnTo>
                    <a:pt x="407" y="295"/>
                  </a:lnTo>
                  <a:lnTo>
                    <a:pt x="485" y="237"/>
                  </a:lnTo>
                  <a:lnTo>
                    <a:pt x="571" y="183"/>
                  </a:lnTo>
                  <a:lnTo>
                    <a:pt x="660" y="136"/>
                  </a:lnTo>
                  <a:lnTo>
                    <a:pt x="753" y="95"/>
                  </a:lnTo>
                  <a:lnTo>
                    <a:pt x="850" y="60"/>
                  </a:lnTo>
                  <a:lnTo>
                    <a:pt x="950" y="34"/>
                  </a:lnTo>
                  <a:lnTo>
                    <a:pt x="1052" y="15"/>
                  </a:lnTo>
                  <a:lnTo>
                    <a:pt x="1156" y="4"/>
                  </a:lnTo>
                  <a:lnTo>
                    <a:pt x="1259"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12" name="Group 57">
            <a:extLst>
              <a:ext uri="{FF2B5EF4-FFF2-40B4-BE49-F238E27FC236}">
                <a16:creationId xmlns:a16="http://schemas.microsoft.com/office/drawing/2014/main" id="{E3F90BFA-E9C6-F3F8-5388-BF49A5FA245A}"/>
              </a:ext>
            </a:extLst>
          </p:cNvPr>
          <p:cNvGrpSpPr>
            <a:grpSpLocks noChangeAspect="1"/>
          </p:cNvGrpSpPr>
          <p:nvPr/>
        </p:nvGrpSpPr>
        <p:grpSpPr bwMode="auto">
          <a:xfrm>
            <a:off x="3219450" y="4837113"/>
            <a:ext cx="1357312" cy="1052512"/>
            <a:chOff x="1135" y="2084"/>
            <a:chExt cx="1328" cy="1030"/>
          </a:xfrm>
        </p:grpSpPr>
        <p:sp>
          <p:nvSpPr>
            <p:cNvPr id="31821" name="Rectangle 58">
              <a:extLst>
                <a:ext uri="{FF2B5EF4-FFF2-40B4-BE49-F238E27FC236}">
                  <a16:creationId xmlns:a16="http://schemas.microsoft.com/office/drawing/2014/main" id="{D676D344-6C43-23C7-6633-9F6103EED0A0}"/>
                </a:ext>
              </a:extLst>
            </p:cNvPr>
            <p:cNvSpPr>
              <a:spLocks noChangeAspect="1" noChangeArrowheads="1"/>
            </p:cNvSpPr>
            <p:nvPr/>
          </p:nvSpPr>
          <p:spPr bwMode="auto">
            <a:xfrm>
              <a:off x="1135" y="2451"/>
              <a:ext cx="11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3</a:t>
              </a:r>
              <a:endParaRPr lang="en-US" altLang="en-US" sz="1600" b="1">
                <a:latin typeface="Arial" panose="020B0604020202020204" pitchFamily="34" charset="0"/>
              </a:endParaRPr>
            </a:p>
          </p:txBody>
        </p:sp>
        <p:sp>
          <p:nvSpPr>
            <p:cNvPr id="31822" name="Freeform 59">
              <a:extLst>
                <a:ext uri="{FF2B5EF4-FFF2-40B4-BE49-F238E27FC236}">
                  <a16:creationId xmlns:a16="http://schemas.microsoft.com/office/drawing/2014/main" id="{51A401BC-D26D-93CB-D3E4-706841E8411A}"/>
                </a:ext>
              </a:extLst>
            </p:cNvPr>
            <p:cNvSpPr>
              <a:spLocks noChangeAspect="1"/>
            </p:cNvSpPr>
            <p:nvPr/>
          </p:nvSpPr>
          <p:spPr bwMode="auto">
            <a:xfrm>
              <a:off x="1178" y="2084"/>
              <a:ext cx="1285" cy="1030"/>
            </a:xfrm>
            <a:custGeom>
              <a:avLst/>
              <a:gdLst>
                <a:gd name="T0" fmla="*/ 422 w 1285"/>
                <a:gd name="T1" fmla="*/ 162 h 1030"/>
                <a:gd name="T2" fmla="*/ 487 w 1285"/>
                <a:gd name="T3" fmla="*/ 123 h 1030"/>
                <a:gd name="T4" fmla="*/ 556 w 1285"/>
                <a:gd name="T5" fmla="*/ 89 h 1030"/>
                <a:gd name="T6" fmla="*/ 626 w 1285"/>
                <a:gd name="T7" fmla="*/ 61 h 1030"/>
                <a:gd name="T8" fmla="*/ 695 w 1285"/>
                <a:gd name="T9" fmla="*/ 37 h 1030"/>
                <a:gd name="T10" fmla="*/ 764 w 1285"/>
                <a:gd name="T11" fmla="*/ 18 h 1030"/>
                <a:gd name="T12" fmla="*/ 831 w 1285"/>
                <a:gd name="T13" fmla="*/ 7 h 1030"/>
                <a:gd name="T14" fmla="*/ 896 w 1285"/>
                <a:gd name="T15" fmla="*/ 0 h 1030"/>
                <a:gd name="T16" fmla="*/ 959 w 1285"/>
                <a:gd name="T17" fmla="*/ 0 h 1030"/>
                <a:gd name="T18" fmla="*/ 1017 w 1285"/>
                <a:gd name="T19" fmla="*/ 7 h 1030"/>
                <a:gd name="T20" fmla="*/ 1071 w 1285"/>
                <a:gd name="T21" fmla="*/ 18 h 1030"/>
                <a:gd name="T22" fmla="*/ 1121 w 1285"/>
                <a:gd name="T23" fmla="*/ 35 h 1030"/>
                <a:gd name="T24" fmla="*/ 1164 w 1285"/>
                <a:gd name="T25" fmla="*/ 59 h 1030"/>
                <a:gd name="T26" fmla="*/ 1203 w 1285"/>
                <a:gd name="T27" fmla="*/ 87 h 1030"/>
                <a:gd name="T28" fmla="*/ 1234 w 1285"/>
                <a:gd name="T29" fmla="*/ 121 h 1030"/>
                <a:gd name="T30" fmla="*/ 1257 w 1285"/>
                <a:gd name="T31" fmla="*/ 160 h 1030"/>
                <a:gd name="T32" fmla="*/ 1275 w 1285"/>
                <a:gd name="T33" fmla="*/ 201 h 1030"/>
                <a:gd name="T34" fmla="*/ 1283 w 1285"/>
                <a:gd name="T35" fmla="*/ 249 h 1030"/>
                <a:gd name="T36" fmla="*/ 1285 w 1285"/>
                <a:gd name="T37" fmla="*/ 298 h 1030"/>
                <a:gd name="T38" fmla="*/ 1279 w 1285"/>
                <a:gd name="T39" fmla="*/ 350 h 1030"/>
                <a:gd name="T40" fmla="*/ 1266 w 1285"/>
                <a:gd name="T41" fmla="*/ 404 h 1030"/>
                <a:gd name="T42" fmla="*/ 1247 w 1285"/>
                <a:gd name="T43" fmla="*/ 458 h 1030"/>
                <a:gd name="T44" fmla="*/ 1218 w 1285"/>
                <a:gd name="T45" fmla="*/ 514 h 1030"/>
                <a:gd name="T46" fmla="*/ 1184 w 1285"/>
                <a:gd name="T47" fmla="*/ 570 h 1030"/>
                <a:gd name="T48" fmla="*/ 1145 w 1285"/>
                <a:gd name="T49" fmla="*/ 624 h 1030"/>
                <a:gd name="T50" fmla="*/ 1097 w 1285"/>
                <a:gd name="T51" fmla="*/ 678 h 1030"/>
                <a:gd name="T52" fmla="*/ 1045 w 1285"/>
                <a:gd name="T53" fmla="*/ 730 h 1030"/>
                <a:gd name="T54" fmla="*/ 989 w 1285"/>
                <a:gd name="T55" fmla="*/ 780 h 1030"/>
                <a:gd name="T56" fmla="*/ 928 w 1285"/>
                <a:gd name="T57" fmla="*/ 827 h 1030"/>
                <a:gd name="T58" fmla="*/ 866 w 1285"/>
                <a:gd name="T59" fmla="*/ 870 h 1030"/>
                <a:gd name="T60" fmla="*/ 799 w 1285"/>
                <a:gd name="T61" fmla="*/ 907 h 1030"/>
                <a:gd name="T62" fmla="*/ 729 w 1285"/>
                <a:gd name="T63" fmla="*/ 942 h 1030"/>
                <a:gd name="T64" fmla="*/ 660 w 1285"/>
                <a:gd name="T65" fmla="*/ 972 h 1030"/>
                <a:gd name="T66" fmla="*/ 591 w 1285"/>
                <a:gd name="T67" fmla="*/ 996 h 1030"/>
                <a:gd name="T68" fmla="*/ 522 w 1285"/>
                <a:gd name="T69" fmla="*/ 1013 h 1030"/>
                <a:gd name="T70" fmla="*/ 455 w 1285"/>
                <a:gd name="T71" fmla="*/ 1026 h 1030"/>
                <a:gd name="T72" fmla="*/ 390 w 1285"/>
                <a:gd name="T73" fmla="*/ 1030 h 1030"/>
                <a:gd name="T74" fmla="*/ 327 w 1285"/>
                <a:gd name="T75" fmla="*/ 1030 h 1030"/>
                <a:gd name="T76" fmla="*/ 269 w 1285"/>
                <a:gd name="T77" fmla="*/ 1026 h 1030"/>
                <a:gd name="T78" fmla="*/ 214 w 1285"/>
                <a:gd name="T79" fmla="*/ 1013 h 1030"/>
                <a:gd name="T80" fmla="*/ 165 w 1285"/>
                <a:gd name="T81" fmla="*/ 996 h 1030"/>
                <a:gd name="T82" fmla="*/ 121 w 1285"/>
                <a:gd name="T83" fmla="*/ 972 h 1030"/>
                <a:gd name="T84" fmla="*/ 85 w 1285"/>
                <a:gd name="T85" fmla="*/ 944 h 1030"/>
                <a:gd name="T86" fmla="*/ 52 w 1285"/>
                <a:gd name="T87" fmla="*/ 909 h 1030"/>
                <a:gd name="T88" fmla="*/ 28 w 1285"/>
                <a:gd name="T89" fmla="*/ 873 h 1030"/>
                <a:gd name="T90" fmla="*/ 13 w 1285"/>
                <a:gd name="T91" fmla="*/ 829 h 1030"/>
                <a:gd name="T92" fmla="*/ 2 w 1285"/>
                <a:gd name="T93" fmla="*/ 784 h 1030"/>
                <a:gd name="T94" fmla="*/ 0 w 1285"/>
                <a:gd name="T95" fmla="*/ 734 h 1030"/>
                <a:gd name="T96" fmla="*/ 7 w 1285"/>
                <a:gd name="T97" fmla="*/ 683 h 1030"/>
                <a:gd name="T98" fmla="*/ 20 w 1285"/>
                <a:gd name="T99" fmla="*/ 629 h 1030"/>
                <a:gd name="T100" fmla="*/ 39 w 1285"/>
                <a:gd name="T101" fmla="*/ 572 h 1030"/>
                <a:gd name="T102" fmla="*/ 67 w 1285"/>
                <a:gd name="T103" fmla="*/ 516 h 1030"/>
                <a:gd name="T104" fmla="*/ 102 w 1285"/>
                <a:gd name="T105" fmla="*/ 462 h 1030"/>
                <a:gd name="T106" fmla="*/ 143 w 1285"/>
                <a:gd name="T107" fmla="*/ 406 h 1030"/>
                <a:gd name="T108" fmla="*/ 188 w 1285"/>
                <a:gd name="T109" fmla="*/ 352 h 1030"/>
                <a:gd name="T110" fmla="*/ 240 w 1285"/>
                <a:gd name="T111" fmla="*/ 300 h 1030"/>
                <a:gd name="T112" fmla="*/ 297 w 1285"/>
                <a:gd name="T113" fmla="*/ 251 h 1030"/>
                <a:gd name="T114" fmla="*/ 357 w 1285"/>
                <a:gd name="T115" fmla="*/ 205 h 1030"/>
                <a:gd name="T116" fmla="*/ 422 w 1285"/>
                <a:gd name="T117" fmla="*/ 162 h 10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285"/>
                <a:gd name="T178" fmla="*/ 0 h 1030"/>
                <a:gd name="T179" fmla="*/ 1285 w 1285"/>
                <a:gd name="T180" fmla="*/ 1030 h 103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285" h="1030">
                  <a:moveTo>
                    <a:pt x="422" y="162"/>
                  </a:moveTo>
                  <a:lnTo>
                    <a:pt x="487" y="123"/>
                  </a:lnTo>
                  <a:lnTo>
                    <a:pt x="556" y="89"/>
                  </a:lnTo>
                  <a:lnTo>
                    <a:pt x="626" y="61"/>
                  </a:lnTo>
                  <a:lnTo>
                    <a:pt x="695" y="37"/>
                  </a:lnTo>
                  <a:lnTo>
                    <a:pt x="764" y="18"/>
                  </a:lnTo>
                  <a:lnTo>
                    <a:pt x="831" y="7"/>
                  </a:lnTo>
                  <a:lnTo>
                    <a:pt x="896" y="0"/>
                  </a:lnTo>
                  <a:lnTo>
                    <a:pt x="959" y="0"/>
                  </a:lnTo>
                  <a:lnTo>
                    <a:pt x="1017" y="7"/>
                  </a:lnTo>
                  <a:lnTo>
                    <a:pt x="1071" y="18"/>
                  </a:lnTo>
                  <a:lnTo>
                    <a:pt x="1121" y="35"/>
                  </a:lnTo>
                  <a:lnTo>
                    <a:pt x="1164" y="59"/>
                  </a:lnTo>
                  <a:lnTo>
                    <a:pt x="1203" y="87"/>
                  </a:lnTo>
                  <a:lnTo>
                    <a:pt x="1234" y="121"/>
                  </a:lnTo>
                  <a:lnTo>
                    <a:pt x="1257" y="160"/>
                  </a:lnTo>
                  <a:lnTo>
                    <a:pt x="1275" y="201"/>
                  </a:lnTo>
                  <a:lnTo>
                    <a:pt x="1283" y="249"/>
                  </a:lnTo>
                  <a:lnTo>
                    <a:pt x="1285" y="298"/>
                  </a:lnTo>
                  <a:lnTo>
                    <a:pt x="1279" y="350"/>
                  </a:lnTo>
                  <a:lnTo>
                    <a:pt x="1266" y="404"/>
                  </a:lnTo>
                  <a:lnTo>
                    <a:pt x="1247" y="458"/>
                  </a:lnTo>
                  <a:lnTo>
                    <a:pt x="1218" y="514"/>
                  </a:lnTo>
                  <a:lnTo>
                    <a:pt x="1184" y="570"/>
                  </a:lnTo>
                  <a:lnTo>
                    <a:pt x="1145" y="624"/>
                  </a:lnTo>
                  <a:lnTo>
                    <a:pt x="1097" y="678"/>
                  </a:lnTo>
                  <a:lnTo>
                    <a:pt x="1045" y="730"/>
                  </a:lnTo>
                  <a:lnTo>
                    <a:pt x="989" y="780"/>
                  </a:lnTo>
                  <a:lnTo>
                    <a:pt x="928" y="827"/>
                  </a:lnTo>
                  <a:lnTo>
                    <a:pt x="866" y="870"/>
                  </a:lnTo>
                  <a:lnTo>
                    <a:pt x="799" y="907"/>
                  </a:lnTo>
                  <a:lnTo>
                    <a:pt x="729" y="942"/>
                  </a:lnTo>
                  <a:lnTo>
                    <a:pt x="660" y="972"/>
                  </a:lnTo>
                  <a:lnTo>
                    <a:pt x="591" y="996"/>
                  </a:lnTo>
                  <a:lnTo>
                    <a:pt x="522" y="1013"/>
                  </a:lnTo>
                  <a:lnTo>
                    <a:pt x="455" y="1026"/>
                  </a:lnTo>
                  <a:lnTo>
                    <a:pt x="390" y="1030"/>
                  </a:lnTo>
                  <a:lnTo>
                    <a:pt x="327" y="1030"/>
                  </a:lnTo>
                  <a:lnTo>
                    <a:pt x="269" y="1026"/>
                  </a:lnTo>
                  <a:lnTo>
                    <a:pt x="214" y="1013"/>
                  </a:lnTo>
                  <a:lnTo>
                    <a:pt x="165" y="996"/>
                  </a:lnTo>
                  <a:lnTo>
                    <a:pt x="121" y="972"/>
                  </a:lnTo>
                  <a:lnTo>
                    <a:pt x="85" y="944"/>
                  </a:lnTo>
                  <a:lnTo>
                    <a:pt x="52" y="909"/>
                  </a:lnTo>
                  <a:lnTo>
                    <a:pt x="28" y="873"/>
                  </a:lnTo>
                  <a:lnTo>
                    <a:pt x="13" y="829"/>
                  </a:lnTo>
                  <a:lnTo>
                    <a:pt x="2" y="784"/>
                  </a:lnTo>
                  <a:lnTo>
                    <a:pt x="0" y="734"/>
                  </a:lnTo>
                  <a:lnTo>
                    <a:pt x="7" y="683"/>
                  </a:lnTo>
                  <a:lnTo>
                    <a:pt x="20" y="629"/>
                  </a:lnTo>
                  <a:lnTo>
                    <a:pt x="39" y="572"/>
                  </a:lnTo>
                  <a:lnTo>
                    <a:pt x="67" y="516"/>
                  </a:lnTo>
                  <a:lnTo>
                    <a:pt x="102" y="462"/>
                  </a:lnTo>
                  <a:lnTo>
                    <a:pt x="143" y="406"/>
                  </a:lnTo>
                  <a:lnTo>
                    <a:pt x="188" y="352"/>
                  </a:lnTo>
                  <a:lnTo>
                    <a:pt x="240" y="300"/>
                  </a:lnTo>
                  <a:lnTo>
                    <a:pt x="297" y="251"/>
                  </a:lnTo>
                  <a:lnTo>
                    <a:pt x="357" y="205"/>
                  </a:lnTo>
                  <a:lnTo>
                    <a:pt x="422" y="16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13" name="Group 60">
            <a:extLst>
              <a:ext uri="{FF2B5EF4-FFF2-40B4-BE49-F238E27FC236}">
                <a16:creationId xmlns:a16="http://schemas.microsoft.com/office/drawing/2014/main" id="{78E2FE28-D1C1-1196-955D-F43739B8E08B}"/>
              </a:ext>
            </a:extLst>
          </p:cNvPr>
          <p:cNvGrpSpPr>
            <a:grpSpLocks noChangeAspect="1"/>
          </p:cNvGrpSpPr>
          <p:nvPr/>
        </p:nvGrpSpPr>
        <p:grpSpPr bwMode="auto">
          <a:xfrm>
            <a:off x="2251075" y="4168777"/>
            <a:ext cx="2432050" cy="1789113"/>
            <a:chOff x="187" y="1430"/>
            <a:chExt cx="2380" cy="1751"/>
          </a:xfrm>
        </p:grpSpPr>
        <p:sp>
          <p:nvSpPr>
            <p:cNvPr id="31819" name="Rectangle 61">
              <a:extLst>
                <a:ext uri="{FF2B5EF4-FFF2-40B4-BE49-F238E27FC236}">
                  <a16:creationId xmlns:a16="http://schemas.microsoft.com/office/drawing/2014/main" id="{036B0966-C28A-BB16-4F8B-0F980D75D606}"/>
                </a:ext>
              </a:extLst>
            </p:cNvPr>
            <p:cNvSpPr>
              <a:spLocks noChangeAspect="1" noChangeArrowheads="1"/>
            </p:cNvSpPr>
            <p:nvPr/>
          </p:nvSpPr>
          <p:spPr bwMode="auto">
            <a:xfrm>
              <a:off x="417" y="2643"/>
              <a:ext cx="11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4</a:t>
              </a:r>
              <a:endParaRPr lang="en-US" altLang="en-US" sz="1600" b="1">
                <a:latin typeface="Arial" panose="020B0604020202020204" pitchFamily="34" charset="0"/>
              </a:endParaRPr>
            </a:p>
          </p:txBody>
        </p:sp>
        <p:sp>
          <p:nvSpPr>
            <p:cNvPr id="31820" name="Freeform 62">
              <a:extLst>
                <a:ext uri="{FF2B5EF4-FFF2-40B4-BE49-F238E27FC236}">
                  <a16:creationId xmlns:a16="http://schemas.microsoft.com/office/drawing/2014/main" id="{A7FC6006-0C4D-A5A8-99DB-FD58266C9AA3}"/>
                </a:ext>
              </a:extLst>
            </p:cNvPr>
            <p:cNvSpPr>
              <a:spLocks noChangeAspect="1"/>
            </p:cNvSpPr>
            <p:nvPr/>
          </p:nvSpPr>
          <p:spPr bwMode="auto">
            <a:xfrm>
              <a:off x="187" y="1430"/>
              <a:ext cx="2380" cy="1751"/>
            </a:xfrm>
            <a:custGeom>
              <a:avLst/>
              <a:gdLst>
                <a:gd name="T0" fmla="*/ 1275 w 2380"/>
                <a:gd name="T1" fmla="*/ 0 h 1751"/>
                <a:gd name="T2" fmla="*/ 1474 w 2380"/>
                <a:gd name="T3" fmla="*/ 22 h 1751"/>
                <a:gd name="T4" fmla="*/ 1664 w 2380"/>
                <a:gd name="T5" fmla="*/ 67 h 1751"/>
                <a:gd name="T6" fmla="*/ 1842 w 2380"/>
                <a:gd name="T7" fmla="*/ 136 h 1751"/>
                <a:gd name="T8" fmla="*/ 2002 w 2380"/>
                <a:gd name="T9" fmla="*/ 227 h 1751"/>
                <a:gd name="T10" fmla="*/ 2138 w 2380"/>
                <a:gd name="T11" fmla="*/ 335 h 1751"/>
                <a:gd name="T12" fmla="*/ 2246 w 2380"/>
                <a:gd name="T13" fmla="*/ 460 h 1751"/>
                <a:gd name="T14" fmla="*/ 2324 w 2380"/>
                <a:gd name="T15" fmla="*/ 596 h 1751"/>
                <a:gd name="T16" fmla="*/ 2370 w 2380"/>
                <a:gd name="T17" fmla="*/ 741 h 1751"/>
                <a:gd name="T18" fmla="*/ 2380 w 2380"/>
                <a:gd name="T19" fmla="*/ 887 h 1751"/>
                <a:gd name="T20" fmla="*/ 2359 w 2380"/>
                <a:gd name="T21" fmla="*/ 1036 h 1751"/>
                <a:gd name="T22" fmla="*/ 2302 w 2380"/>
                <a:gd name="T23" fmla="*/ 1179 h 1751"/>
                <a:gd name="T24" fmla="*/ 2214 w 2380"/>
                <a:gd name="T25" fmla="*/ 1313 h 1751"/>
                <a:gd name="T26" fmla="*/ 2097 w 2380"/>
                <a:gd name="T27" fmla="*/ 1436 h 1751"/>
                <a:gd name="T28" fmla="*/ 1954 w 2380"/>
                <a:gd name="T29" fmla="*/ 1542 h 1751"/>
                <a:gd name="T30" fmla="*/ 1787 w 2380"/>
                <a:gd name="T31" fmla="*/ 1628 h 1751"/>
                <a:gd name="T32" fmla="*/ 1606 w 2380"/>
                <a:gd name="T33" fmla="*/ 1693 h 1751"/>
                <a:gd name="T34" fmla="*/ 1411 w 2380"/>
                <a:gd name="T35" fmla="*/ 1736 h 1751"/>
                <a:gd name="T36" fmla="*/ 1210 w 2380"/>
                <a:gd name="T37" fmla="*/ 1751 h 1751"/>
                <a:gd name="T38" fmla="*/ 1009 w 2380"/>
                <a:gd name="T39" fmla="*/ 1742 h 1751"/>
                <a:gd name="T40" fmla="*/ 812 w 2380"/>
                <a:gd name="T41" fmla="*/ 1710 h 1751"/>
                <a:gd name="T42" fmla="*/ 626 w 2380"/>
                <a:gd name="T43" fmla="*/ 1652 h 1751"/>
                <a:gd name="T44" fmla="*/ 457 w 2380"/>
                <a:gd name="T45" fmla="*/ 1572 h 1751"/>
                <a:gd name="T46" fmla="*/ 310 w 2380"/>
                <a:gd name="T47" fmla="*/ 1473 h 1751"/>
                <a:gd name="T48" fmla="*/ 186 w 2380"/>
                <a:gd name="T49" fmla="*/ 1356 h 1751"/>
                <a:gd name="T50" fmla="*/ 93 w 2380"/>
                <a:gd name="T51" fmla="*/ 1226 h 1751"/>
                <a:gd name="T52" fmla="*/ 31 w 2380"/>
                <a:gd name="T53" fmla="*/ 1084 h 1751"/>
                <a:gd name="T54" fmla="*/ 2 w 2380"/>
                <a:gd name="T55" fmla="*/ 937 h 1751"/>
                <a:gd name="T56" fmla="*/ 9 w 2380"/>
                <a:gd name="T57" fmla="*/ 788 h 1751"/>
                <a:gd name="T58" fmla="*/ 48 w 2380"/>
                <a:gd name="T59" fmla="*/ 643 h 1751"/>
                <a:gd name="T60" fmla="*/ 119 w 2380"/>
                <a:gd name="T61" fmla="*/ 503 h 1751"/>
                <a:gd name="T62" fmla="*/ 223 w 2380"/>
                <a:gd name="T63" fmla="*/ 374 h 1751"/>
                <a:gd name="T64" fmla="*/ 355 w 2380"/>
                <a:gd name="T65" fmla="*/ 259 h 1751"/>
                <a:gd name="T66" fmla="*/ 509 w 2380"/>
                <a:gd name="T67" fmla="*/ 164 h 1751"/>
                <a:gd name="T68" fmla="*/ 684 w 2380"/>
                <a:gd name="T69" fmla="*/ 86 h 1751"/>
                <a:gd name="T70" fmla="*/ 874 w 2380"/>
                <a:gd name="T71" fmla="*/ 35 h 1751"/>
                <a:gd name="T72" fmla="*/ 1071 w 2380"/>
                <a:gd name="T73" fmla="*/ 4 h 175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80"/>
                <a:gd name="T112" fmla="*/ 0 h 1751"/>
                <a:gd name="T113" fmla="*/ 2380 w 2380"/>
                <a:gd name="T114" fmla="*/ 1751 h 175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80" h="1751">
                  <a:moveTo>
                    <a:pt x="1173" y="0"/>
                  </a:moveTo>
                  <a:lnTo>
                    <a:pt x="1275" y="0"/>
                  </a:lnTo>
                  <a:lnTo>
                    <a:pt x="1374" y="9"/>
                  </a:lnTo>
                  <a:lnTo>
                    <a:pt x="1474" y="22"/>
                  </a:lnTo>
                  <a:lnTo>
                    <a:pt x="1571" y="41"/>
                  </a:lnTo>
                  <a:lnTo>
                    <a:pt x="1664" y="67"/>
                  </a:lnTo>
                  <a:lnTo>
                    <a:pt x="1755" y="99"/>
                  </a:lnTo>
                  <a:lnTo>
                    <a:pt x="1842" y="136"/>
                  </a:lnTo>
                  <a:lnTo>
                    <a:pt x="1924" y="179"/>
                  </a:lnTo>
                  <a:lnTo>
                    <a:pt x="2002" y="227"/>
                  </a:lnTo>
                  <a:lnTo>
                    <a:pt x="2073" y="279"/>
                  </a:lnTo>
                  <a:lnTo>
                    <a:pt x="2138" y="335"/>
                  </a:lnTo>
                  <a:lnTo>
                    <a:pt x="2194" y="395"/>
                  </a:lnTo>
                  <a:lnTo>
                    <a:pt x="2246" y="460"/>
                  </a:lnTo>
                  <a:lnTo>
                    <a:pt x="2289" y="527"/>
                  </a:lnTo>
                  <a:lnTo>
                    <a:pt x="2324" y="596"/>
                  </a:lnTo>
                  <a:lnTo>
                    <a:pt x="2350" y="667"/>
                  </a:lnTo>
                  <a:lnTo>
                    <a:pt x="2370" y="741"/>
                  </a:lnTo>
                  <a:lnTo>
                    <a:pt x="2380" y="814"/>
                  </a:lnTo>
                  <a:lnTo>
                    <a:pt x="2380" y="887"/>
                  </a:lnTo>
                  <a:lnTo>
                    <a:pt x="2374" y="963"/>
                  </a:lnTo>
                  <a:lnTo>
                    <a:pt x="2359" y="1036"/>
                  </a:lnTo>
                  <a:lnTo>
                    <a:pt x="2335" y="1108"/>
                  </a:lnTo>
                  <a:lnTo>
                    <a:pt x="2302" y="1179"/>
                  </a:lnTo>
                  <a:lnTo>
                    <a:pt x="2261" y="1248"/>
                  </a:lnTo>
                  <a:lnTo>
                    <a:pt x="2214" y="1313"/>
                  </a:lnTo>
                  <a:lnTo>
                    <a:pt x="2160" y="1378"/>
                  </a:lnTo>
                  <a:lnTo>
                    <a:pt x="2097" y="1436"/>
                  </a:lnTo>
                  <a:lnTo>
                    <a:pt x="2028" y="1492"/>
                  </a:lnTo>
                  <a:lnTo>
                    <a:pt x="1954" y="1542"/>
                  </a:lnTo>
                  <a:lnTo>
                    <a:pt x="1872" y="1587"/>
                  </a:lnTo>
                  <a:lnTo>
                    <a:pt x="1787" y="1628"/>
                  </a:lnTo>
                  <a:lnTo>
                    <a:pt x="1699" y="1665"/>
                  </a:lnTo>
                  <a:lnTo>
                    <a:pt x="1606" y="1693"/>
                  </a:lnTo>
                  <a:lnTo>
                    <a:pt x="1508" y="1717"/>
                  </a:lnTo>
                  <a:lnTo>
                    <a:pt x="1411" y="1736"/>
                  </a:lnTo>
                  <a:lnTo>
                    <a:pt x="1309" y="1747"/>
                  </a:lnTo>
                  <a:lnTo>
                    <a:pt x="1210" y="1751"/>
                  </a:lnTo>
                  <a:lnTo>
                    <a:pt x="1108" y="1751"/>
                  </a:lnTo>
                  <a:lnTo>
                    <a:pt x="1009" y="1742"/>
                  </a:lnTo>
                  <a:lnTo>
                    <a:pt x="909" y="1730"/>
                  </a:lnTo>
                  <a:lnTo>
                    <a:pt x="812" y="1710"/>
                  </a:lnTo>
                  <a:lnTo>
                    <a:pt x="719" y="1684"/>
                  </a:lnTo>
                  <a:lnTo>
                    <a:pt x="626" y="1652"/>
                  </a:lnTo>
                  <a:lnTo>
                    <a:pt x="539" y="1615"/>
                  </a:lnTo>
                  <a:lnTo>
                    <a:pt x="457" y="1572"/>
                  </a:lnTo>
                  <a:lnTo>
                    <a:pt x="381" y="1524"/>
                  </a:lnTo>
                  <a:lnTo>
                    <a:pt x="310" y="1473"/>
                  </a:lnTo>
                  <a:lnTo>
                    <a:pt x="245" y="1416"/>
                  </a:lnTo>
                  <a:lnTo>
                    <a:pt x="186" y="1356"/>
                  </a:lnTo>
                  <a:lnTo>
                    <a:pt x="137" y="1291"/>
                  </a:lnTo>
                  <a:lnTo>
                    <a:pt x="93" y="1226"/>
                  </a:lnTo>
                  <a:lnTo>
                    <a:pt x="59" y="1155"/>
                  </a:lnTo>
                  <a:lnTo>
                    <a:pt x="31" y="1084"/>
                  </a:lnTo>
                  <a:lnTo>
                    <a:pt x="13" y="1011"/>
                  </a:lnTo>
                  <a:lnTo>
                    <a:pt x="2" y="937"/>
                  </a:lnTo>
                  <a:lnTo>
                    <a:pt x="0" y="864"/>
                  </a:lnTo>
                  <a:lnTo>
                    <a:pt x="9" y="788"/>
                  </a:lnTo>
                  <a:lnTo>
                    <a:pt x="24" y="715"/>
                  </a:lnTo>
                  <a:lnTo>
                    <a:pt x="48" y="643"/>
                  </a:lnTo>
                  <a:lnTo>
                    <a:pt x="80" y="572"/>
                  </a:lnTo>
                  <a:lnTo>
                    <a:pt x="119" y="503"/>
                  </a:lnTo>
                  <a:lnTo>
                    <a:pt x="167" y="438"/>
                  </a:lnTo>
                  <a:lnTo>
                    <a:pt x="223" y="374"/>
                  </a:lnTo>
                  <a:lnTo>
                    <a:pt x="286" y="315"/>
                  </a:lnTo>
                  <a:lnTo>
                    <a:pt x="355" y="259"/>
                  </a:lnTo>
                  <a:lnTo>
                    <a:pt x="429" y="209"/>
                  </a:lnTo>
                  <a:lnTo>
                    <a:pt x="509" y="164"/>
                  </a:lnTo>
                  <a:lnTo>
                    <a:pt x="595" y="123"/>
                  </a:lnTo>
                  <a:lnTo>
                    <a:pt x="684" y="86"/>
                  </a:lnTo>
                  <a:lnTo>
                    <a:pt x="777" y="58"/>
                  </a:lnTo>
                  <a:lnTo>
                    <a:pt x="874" y="35"/>
                  </a:lnTo>
                  <a:lnTo>
                    <a:pt x="972" y="15"/>
                  </a:lnTo>
                  <a:lnTo>
                    <a:pt x="1071" y="4"/>
                  </a:lnTo>
                  <a:lnTo>
                    <a:pt x="1173"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31763" name="Group 63">
            <a:extLst>
              <a:ext uri="{FF2B5EF4-FFF2-40B4-BE49-F238E27FC236}">
                <a16:creationId xmlns:a16="http://schemas.microsoft.com/office/drawing/2014/main" id="{09734CF6-FA58-85AF-11C8-166D7A90C802}"/>
              </a:ext>
            </a:extLst>
          </p:cNvPr>
          <p:cNvGrpSpPr>
            <a:grpSpLocks noChangeAspect="1"/>
          </p:cNvGrpSpPr>
          <p:nvPr/>
        </p:nvGrpSpPr>
        <p:grpSpPr bwMode="auto">
          <a:xfrm>
            <a:off x="7712075" y="1452565"/>
            <a:ext cx="1981694" cy="1799131"/>
            <a:chOff x="383" y="1437"/>
            <a:chExt cx="1904" cy="1729"/>
          </a:xfrm>
        </p:grpSpPr>
        <p:sp>
          <p:nvSpPr>
            <p:cNvPr id="31807" name="Freeform 64">
              <a:extLst>
                <a:ext uri="{FF2B5EF4-FFF2-40B4-BE49-F238E27FC236}">
                  <a16:creationId xmlns:a16="http://schemas.microsoft.com/office/drawing/2014/main" id="{DF2EDF5A-DE29-AA79-EA50-A6B14D47F1B9}"/>
                </a:ext>
              </a:extLst>
            </p:cNvPr>
            <p:cNvSpPr>
              <a:spLocks noChangeAspect="1"/>
            </p:cNvSpPr>
            <p:nvPr/>
          </p:nvSpPr>
          <p:spPr bwMode="auto">
            <a:xfrm>
              <a:off x="974" y="2118"/>
              <a:ext cx="87" cy="87"/>
            </a:xfrm>
            <a:custGeom>
              <a:avLst/>
              <a:gdLst>
                <a:gd name="T0" fmla="*/ 0 w 87"/>
                <a:gd name="T1" fmla="*/ 43 h 87"/>
                <a:gd name="T2" fmla="*/ 4 w 87"/>
                <a:gd name="T3" fmla="*/ 26 h 87"/>
                <a:gd name="T4" fmla="*/ 13 w 87"/>
                <a:gd name="T5" fmla="*/ 13 h 87"/>
                <a:gd name="T6" fmla="*/ 28 w 87"/>
                <a:gd name="T7" fmla="*/ 2 h 87"/>
                <a:gd name="T8" fmla="*/ 45 w 87"/>
                <a:gd name="T9" fmla="*/ 0 h 87"/>
                <a:gd name="T10" fmla="*/ 62 w 87"/>
                <a:gd name="T11" fmla="*/ 2 h 87"/>
                <a:gd name="T12" fmla="*/ 75 w 87"/>
                <a:gd name="T13" fmla="*/ 13 h 87"/>
                <a:gd name="T14" fmla="*/ 85 w 87"/>
                <a:gd name="T15" fmla="*/ 26 h 87"/>
                <a:gd name="T16" fmla="*/ 87 w 87"/>
                <a:gd name="T17" fmla="*/ 43 h 87"/>
                <a:gd name="T18" fmla="*/ 85 w 87"/>
                <a:gd name="T19" fmla="*/ 60 h 87"/>
                <a:gd name="T20" fmla="*/ 75 w 87"/>
                <a:gd name="T21" fmla="*/ 75 h 87"/>
                <a:gd name="T22" fmla="*/ 62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2"/>
                  </a:lnTo>
                  <a:lnTo>
                    <a:pt x="45" y="0"/>
                  </a:lnTo>
                  <a:lnTo>
                    <a:pt x="62" y="2"/>
                  </a:lnTo>
                  <a:lnTo>
                    <a:pt x="75" y="13"/>
                  </a:lnTo>
                  <a:lnTo>
                    <a:pt x="85" y="26"/>
                  </a:lnTo>
                  <a:lnTo>
                    <a:pt x="87" y="43"/>
                  </a:lnTo>
                  <a:lnTo>
                    <a:pt x="85" y="60"/>
                  </a:lnTo>
                  <a:lnTo>
                    <a:pt x="75" y="75"/>
                  </a:lnTo>
                  <a:lnTo>
                    <a:pt x="62"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08" name="Freeform 65">
              <a:extLst>
                <a:ext uri="{FF2B5EF4-FFF2-40B4-BE49-F238E27FC236}">
                  <a16:creationId xmlns:a16="http://schemas.microsoft.com/office/drawing/2014/main" id="{F08CFEBD-4BDF-CFF4-91B2-D4F464481FB2}"/>
                </a:ext>
              </a:extLst>
            </p:cNvPr>
            <p:cNvSpPr>
              <a:spLocks noChangeAspect="1"/>
            </p:cNvSpPr>
            <p:nvPr/>
          </p:nvSpPr>
          <p:spPr bwMode="auto">
            <a:xfrm>
              <a:off x="1782" y="1488"/>
              <a:ext cx="87" cy="87"/>
            </a:xfrm>
            <a:custGeom>
              <a:avLst/>
              <a:gdLst>
                <a:gd name="T0" fmla="*/ 0 w 87"/>
                <a:gd name="T1" fmla="*/ 43 h 87"/>
                <a:gd name="T2" fmla="*/ 4 w 87"/>
                <a:gd name="T3" fmla="*/ 26 h 87"/>
                <a:gd name="T4" fmla="*/ 13 w 87"/>
                <a:gd name="T5" fmla="*/ 13 h 87"/>
                <a:gd name="T6" fmla="*/ 28 w 87"/>
                <a:gd name="T7" fmla="*/ 3 h 87"/>
                <a:gd name="T8" fmla="*/ 45 w 87"/>
                <a:gd name="T9" fmla="*/ 0 h 87"/>
                <a:gd name="T10" fmla="*/ 60 w 87"/>
                <a:gd name="T11" fmla="*/ 3 h 87"/>
                <a:gd name="T12" fmla="*/ 74 w 87"/>
                <a:gd name="T13" fmla="*/ 13 h 87"/>
                <a:gd name="T14" fmla="*/ 85 w 87"/>
                <a:gd name="T15" fmla="*/ 26 h 87"/>
                <a:gd name="T16" fmla="*/ 87 w 87"/>
                <a:gd name="T17" fmla="*/ 43 h 87"/>
                <a:gd name="T18" fmla="*/ 85 w 87"/>
                <a:gd name="T19" fmla="*/ 60 h 87"/>
                <a:gd name="T20" fmla="*/ 74 w 87"/>
                <a:gd name="T21" fmla="*/ 75 h 87"/>
                <a:gd name="T22" fmla="*/ 60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3"/>
                  </a:lnTo>
                  <a:lnTo>
                    <a:pt x="45" y="0"/>
                  </a:lnTo>
                  <a:lnTo>
                    <a:pt x="60" y="3"/>
                  </a:lnTo>
                  <a:lnTo>
                    <a:pt x="74" y="13"/>
                  </a:lnTo>
                  <a:lnTo>
                    <a:pt x="85" y="26"/>
                  </a:lnTo>
                  <a:lnTo>
                    <a:pt x="87" y="43"/>
                  </a:lnTo>
                  <a:lnTo>
                    <a:pt x="85" y="60"/>
                  </a:lnTo>
                  <a:lnTo>
                    <a:pt x="74" y="75"/>
                  </a:lnTo>
                  <a:lnTo>
                    <a:pt x="60"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09" name="Freeform 66">
              <a:extLst>
                <a:ext uri="{FF2B5EF4-FFF2-40B4-BE49-F238E27FC236}">
                  <a16:creationId xmlns:a16="http://schemas.microsoft.com/office/drawing/2014/main" id="{D5BDF237-A897-1986-4A42-E2F8B6324E3C}"/>
                </a:ext>
              </a:extLst>
            </p:cNvPr>
            <p:cNvSpPr>
              <a:spLocks noChangeAspect="1"/>
            </p:cNvSpPr>
            <p:nvPr/>
          </p:nvSpPr>
          <p:spPr bwMode="auto">
            <a:xfrm>
              <a:off x="1193" y="2975"/>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5 w 87"/>
                <a:gd name="T13" fmla="*/ 13 h 87"/>
                <a:gd name="T14" fmla="*/ 85 w 87"/>
                <a:gd name="T15" fmla="*/ 28 h 87"/>
                <a:gd name="T16" fmla="*/ 87 w 87"/>
                <a:gd name="T17" fmla="*/ 45 h 87"/>
                <a:gd name="T18" fmla="*/ 85 w 87"/>
                <a:gd name="T19" fmla="*/ 62 h 87"/>
                <a:gd name="T20" fmla="*/ 75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5" y="13"/>
                  </a:lnTo>
                  <a:lnTo>
                    <a:pt x="85" y="28"/>
                  </a:lnTo>
                  <a:lnTo>
                    <a:pt x="87" y="45"/>
                  </a:lnTo>
                  <a:lnTo>
                    <a:pt x="85" y="62"/>
                  </a:lnTo>
                  <a:lnTo>
                    <a:pt x="75"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10" name="Freeform 67">
              <a:extLst>
                <a:ext uri="{FF2B5EF4-FFF2-40B4-BE49-F238E27FC236}">
                  <a16:creationId xmlns:a16="http://schemas.microsoft.com/office/drawing/2014/main" id="{B330E536-C000-E788-97C5-0AB369800B69}"/>
                </a:ext>
              </a:extLst>
            </p:cNvPr>
            <p:cNvSpPr>
              <a:spLocks noChangeAspect="1"/>
            </p:cNvSpPr>
            <p:nvPr/>
          </p:nvSpPr>
          <p:spPr bwMode="auto">
            <a:xfrm>
              <a:off x="383" y="1993"/>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4 w 87"/>
                <a:gd name="T13" fmla="*/ 13 h 87"/>
                <a:gd name="T14" fmla="*/ 85 w 87"/>
                <a:gd name="T15" fmla="*/ 28 h 87"/>
                <a:gd name="T16" fmla="*/ 87 w 87"/>
                <a:gd name="T17" fmla="*/ 45 h 87"/>
                <a:gd name="T18" fmla="*/ 85 w 87"/>
                <a:gd name="T19" fmla="*/ 62 h 87"/>
                <a:gd name="T20" fmla="*/ 74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4" y="13"/>
                  </a:lnTo>
                  <a:lnTo>
                    <a:pt x="85" y="28"/>
                  </a:lnTo>
                  <a:lnTo>
                    <a:pt x="87" y="45"/>
                  </a:lnTo>
                  <a:lnTo>
                    <a:pt x="85" y="62"/>
                  </a:lnTo>
                  <a:lnTo>
                    <a:pt x="74"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11" name="Freeform 68">
              <a:extLst>
                <a:ext uri="{FF2B5EF4-FFF2-40B4-BE49-F238E27FC236}">
                  <a16:creationId xmlns:a16="http://schemas.microsoft.com/office/drawing/2014/main" id="{E7C91F71-56C6-3DB6-CEF5-A3FFF0366856}"/>
                </a:ext>
              </a:extLst>
            </p:cNvPr>
            <p:cNvSpPr>
              <a:spLocks noChangeAspect="1"/>
            </p:cNvSpPr>
            <p:nvPr/>
          </p:nvSpPr>
          <p:spPr bwMode="auto">
            <a:xfrm>
              <a:off x="1544" y="2419"/>
              <a:ext cx="87" cy="87"/>
            </a:xfrm>
            <a:custGeom>
              <a:avLst/>
              <a:gdLst>
                <a:gd name="T0" fmla="*/ 0 w 87"/>
                <a:gd name="T1" fmla="*/ 45 h 87"/>
                <a:gd name="T2" fmla="*/ 4 w 87"/>
                <a:gd name="T3" fmla="*/ 28 h 87"/>
                <a:gd name="T4" fmla="*/ 13 w 87"/>
                <a:gd name="T5" fmla="*/ 13 h 87"/>
                <a:gd name="T6" fmla="*/ 28 w 87"/>
                <a:gd name="T7" fmla="*/ 5 h 87"/>
                <a:gd name="T8" fmla="*/ 42 w 87"/>
                <a:gd name="T9" fmla="*/ 0 h 87"/>
                <a:gd name="T10" fmla="*/ 59 w 87"/>
                <a:gd name="T11" fmla="*/ 5 h 87"/>
                <a:gd name="T12" fmla="*/ 74 w 87"/>
                <a:gd name="T13" fmla="*/ 13 h 87"/>
                <a:gd name="T14" fmla="*/ 83 w 87"/>
                <a:gd name="T15" fmla="*/ 28 h 87"/>
                <a:gd name="T16" fmla="*/ 87 w 87"/>
                <a:gd name="T17" fmla="*/ 45 h 87"/>
                <a:gd name="T18" fmla="*/ 83 w 87"/>
                <a:gd name="T19" fmla="*/ 62 h 87"/>
                <a:gd name="T20" fmla="*/ 74 w 87"/>
                <a:gd name="T21" fmla="*/ 75 h 87"/>
                <a:gd name="T22" fmla="*/ 59 w 87"/>
                <a:gd name="T23" fmla="*/ 85 h 87"/>
                <a:gd name="T24" fmla="*/ 42 w 87"/>
                <a:gd name="T25" fmla="*/ 87 h 87"/>
                <a:gd name="T26" fmla="*/ 28 w 87"/>
                <a:gd name="T27" fmla="*/ 85 h 87"/>
                <a:gd name="T28" fmla="*/ 13 w 87"/>
                <a:gd name="T29" fmla="*/ 75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5"/>
                  </a:lnTo>
                  <a:lnTo>
                    <a:pt x="42" y="0"/>
                  </a:lnTo>
                  <a:lnTo>
                    <a:pt x="59" y="5"/>
                  </a:lnTo>
                  <a:lnTo>
                    <a:pt x="74" y="13"/>
                  </a:lnTo>
                  <a:lnTo>
                    <a:pt x="83" y="28"/>
                  </a:lnTo>
                  <a:lnTo>
                    <a:pt x="87" y="45"/>
                  </a:lnTo>
                  <a:lnTo>
                    <a:pt x="83" y="62"/>
                  </a:lnTo>
                  <a:lnTo>
                    <a:pt x="74" y="75"/>
                  </a:lnTo>
                  <a:lnTo>
                    <a:pt x="59" y="85"/>
                  </a:lnTo>
                  <a:lnTo>
                    <a:pt x="42" y="87"/>
                  </a:lnTo>
                  <a:lnTo>
                    <a:pt x="28" y="85"/>
                  </a:lnTo>
                  <a:lnTo>
                    <a:pt x="13" y="75"/>
                  </a:lnTo>
                  <a:lnTo>
                    <a:pt x="4"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12" name="Freeform 69">
              <a:extLst>
                <a:ext uri="{FF2B5EF4-FFF2-40B4-BE49-F238E27FC236}">
                  <a16:creationId xmlns:a16="http://schemas.microsoft.com/office/drawing/2014/main" id="{DA5A94F3-7381-ABE4-1A95-D0066A05D22D}"/>
                </a:ext>
              </a:extLst>
            </p:cNvPr>
            <p:cNvSpPr>
              <a:spLocks noChangeAspect="1"/>
            </p:cNvSpPr>
            <p:nvPr/>
          </p:nvSpPr>
          <p:spPr bwMode="auto">
            <a:xfrm>
              <a:off x="2018" y="2479"/>
              <a:ext cx="87" cy="87"/>
            </a:xfrm>
            <a:custGeom>
              <a:avLst/>
              <a:gdLst>
                <a:gd name="T0" fmla="*/ 0 w 87"/>
                <a:gd name="T1" fmla="*/ 42 h 87"/>
                <a:gd name="T2" fmla="*/ 4 w 87"/>
                <a:gd name="T3" fmla="*/ 25 h 87"/>
                <a:gd name="T4" fmla="*/ 13 w 87"/>
                <a:gd name="T5" fmla="*/ 13 h 87"/>
                <a:gd name="T6" fmla="*/ 28 w 87"/>
                <a:gd name="T7" fmla="*/ 2 h 87"/>
                <a:gd name="T8" fmla="*/ 45 w 87"/>
                <a:gd name="T9" fmla="*/ 0 h 87"/>
                <a:gd name="T10" fmla="*/ 62 w 87"/>
                <a:gd name="T11" fmla="*/ 2 h 87"/>
                <a:gd name="T12" fmla="*/ 74 w 87"/>
                <a:gd name="T13" fmla="*/ 13 h 87"/>
                <a:gd name="T14" fmla="*/ 85 w 87"/>
                <a:gd name="T15" fmla="*/ 25 h 87"/>
                <a:gd name="T16" fmla="*/ 87 w 87"/>
                <a:gd name="T17" fmla="*/ 42 h 87"/>
                <a:gd name="T18" fmla="*/ 85 w 87"/>
                <a:gd name="T19" fmla="*/ 59 h 87"/>
                <a:gd name="T20" fmla="*/ 74 w 87"/>
                <a:gd name="T21" fmla="*/ 74 h 87"/>
                <a:gd name="T22" fmla="*/ 62 w 87"/>
                <a:gd name="T23" fmla="*/ 83 h 87"/>
                <a:gd name="T24" fmla="*/ 45 w 87"/>
                <a:gd name="T25" fmla="*/ 87 h 87"/>
                <a:gd name="T26" fmla="*/ 28 w 87"/>
                <a:gd name="T27" fmla="*/ 83 h 87"/>
                <a:gd name="T28" fmla="*/ 13 w 87"/>
                <a:gd name="T29" fmla="*/ 74 h 87"/>
                <a:gd name="T30" fmla="*/ 4 w 87"/>
                <a:gd name="T31" fmla="*/ 59 h 87"/>
                <a:gd name="T32" fmla="*/ 0 w 87"/>
                <a:gd name="T33" fmla="*/ 42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2"/>
                  </a:moveTo>
                  <a:lnTo>
                    <a:pt x="4" y="25"/>
                  </a:lnTo>
                  <a:lnTo>
                    <a:pt x="13" y="13"/>
                  </a:lnTo>
                  <a:lnTo>
                    <a:pt x="28" y="2"/>
                  </a:lnTo>
                  <a:lnTo>
                    <a:pt x="45" y="0"/>
                  </a:lnTo>
                  <a:lnTo>
                    <a:pt x="62" y="2"/>
                  </a:lnTo>
                  <a:lnTo>
                    <a:pt x="74" y="13"/>
                  </a:lnTo>
                  <a:lnTo>
                    <a:pt x="85" y="25"/>
                  </a:lnTo>
                  <a:lnTo>
                    <a:pt x="87" y="42"/>
                  </a:lnTo>
                  <a:lnTo>
                    <a:pt x="85" y="59"/>
                  </a:lnTo>
                  <a:lnTo>
                    <a:pt x="74" y="74"/>
                  </a:lnTo>
                  <a:lnTo>
                    <a:pt x="62" y="83"/>
                  </a:lnTo>
                  <a:lnTo>
                    <a:pt x="45" y="87"/>
                  </a:lnTo>
                  <a:lnTo>
                    <a:pt x="28" y="83"/>
                  </a:lnTo>
                  <a:lnTo>
                    <a:pt x="13" y="74"/>
                  </a:lnTo>
                  <a:lnTo>
                    <a:pt x="4" y="59"/>
                  </a:lnTo>
                  <a:lnTo>
                    <a:pt x="0" y="42"/>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13" name="Rectangle 70">
              <a:extLst>
                <a:ext uri="{FF2B5EF4-FFF2-40B4-BE49-F238E27FC236}">
                  <a16:creationId xmlns:a16="http://schemas.microsoft.com/office/drawing/2014/main" id="{1DA08EEB-4AAD-9051-C3F3-592EF2B52CE1}"/>
                </a:ext>
              </a:extLst>
            </p:cNvPr>
            <p:cNvSpPr>
              <a:spLocks noChangeAspect="1" noChangeArrowheads="1"/>
            </p:cNvSpPr>
            <p:nvPr/>
          </p:nvSpPr>
          <p:spPr bwMode="auto">
            <a:xfrm>
              <a:off x="1890" y="1437"/>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1</a:t>
              </a:r>
              <a:endParaRPr lang="en-US" altLang="en-US" sz="1600" b="1">
                <a:latin typeface="Arial" panose="020B0604020202020204" pitchFamily="34" charset="0"/>
              </a:endParaRPr>
            </a:p>
          </p:txBody>
        </p:sp>
        <p:sp>
          <p:nvSpPr>
            <p:cNvPr id="31814" name="Rectangle 71">
              <a:extLst>
                <a:ext uri="{FF2B5EF4-FFF2-40B4-BE49-F238E27FC236}">
                  <a16:creationId xmlns:a16="http://schemas.microsoft.com/office/drawing/2014/main" id="{5341826A-B31A-0986-88DF-4F72825C191F}"/>
                </a:ext>
              </a:extLst>
            </p:cNvPr>
            <p:cNvSpPr>
              <a:spLocks noChangeAspect="1" noChangeArrowheads="1"/>
            </p:cNvSpPr>
            <p:nvPr/>
          </p:nvSpPr>
          <p:spPr bwMode="auto">
            <a:xfrm>
              <a:off x="1089" y="2061"/>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2</a:t>
              </a:r>
              <a:endParaRPr lang="en-US" altLang="en-US" sz="1600" b="1">
                <a:latin typeface="Arial" panose="020B0604020202020204" pitchFamily="34" charset="0"/>
              </a:endParaRPr>
            </a:p>
          </p:txBody>
        </p:sp>
        <p:sp>
          <p:nvSpPr>
            <p:cNvPr id="31815" name="Rectangle 72">
              <a:extLst>
                <a:ext uri="{FF2B5EF4-FFF2-40B4-BE49-F238E27FC236}">
                  <a16:creationId xmlns:a16="http://schemas.microsoft.com/office/drawing/2014/main" id="{8B8B86BE-5F13-A3B6-0B5B-D7A49BD05338}"/>
                </a:ext>
              </a:extLst>
            </p:cNvPr>
            <p:cNvSpPr>
              <a:spLocks noChangeAspect="1" noChangeArrowheads="1"/>
            </p:cNvSpPr>
            <p:nvPr/>
          </p:nvSpPr>
          <p:spPr bwMode="auto">
            <a:xfrm>
              <a:off x="1699" y="2374"/>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3</a:t>
              </a:r>
              <a:endParaRPr lang="en-US" altLang="en-US" sz="1600" b="1">
                <a:latin typeface="Arial" panose="020B0604020202020204" pitchFamily="34" charset="0"/>
              </a:endParaRPr>
            </a:p>
          </p:txBody>
        </p:sp>
        <p:sp>
          <p:nvSpPr>
            <p:cNvPr id="31816" name="Rectangle 73">
              <a:extLst>
                <a:ext uri="{FF2B5EF4-FFF2-40B4-BE49-F238E27FC236}">
                  <a16:creationId xmlns:a16="http://schemas.microsoft.com/office/drawing/2014/main" id="{7865A7B0-9143-9C82-C63E-9354B91E0514}"/>
                </a:ext>
              </a:extLst>
            </p:cNvPr>
            <p:cNvSpPr>
              <a:spLocks noChangeAspect="1" noChangeArrowheads="1"/>
            </p:cNvSpPr>
            <p:nvPr/>
          </p:nvSpPr>
          <p:spPr bwMode="auto">
            <a:xfrm>
              <a:off x="1319" y="2929"/>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4</a:t>
              </a:r>
              <a:endParaRPr lang="en-US" altLang="en-US" sz="1600" b="1">
                <a:latin typeface="Arial" panose="020B0604020202020204" pitchFamily="34" charset="0"/>
              </a:endParaRPr>
            </a:p>
          </p:txBody>
        </p:sp>
        <p:sp>
          <p:nvSpPr>
            <p:cNvPr id="31817" name="Rectangle 74">
              <a:extLst>
                <a:ext uri="{FF2B5EF4-FFF2-40B4-BE49-F238E27FC236}">
                  <a16:creationId xmlns:a16="http://schemas.microsoft.com/office/drawing/2014/main" id="{0E08098D-E5A5-8201-69D4-A2461116B180}"/>
                </a:ext>
              </a:extLst>
            </p:cNvPr>
            <p:cNvSpPr>
              <a:spLocks noChangeAspect="1" noChangeArrowheads="1"/>
            </p:cNvSpPr>
            <p:nvPr/>
          </p:nvSpPr>
          <p:spPr bwMode="auto">
            <a:xfrm>
              <a:off x="517" y="1940"/>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5</a:t>
              </a:r>
              <a:endParaRPr lang="en-US" altLang="en-US" sz="1600" b="1">
                <a:latin typeface="Arial" panose="020B0604020202020204" pitchFamily="34" charset="0"/>
              </a:endParaRPr>
            </a:p>
          </p:txBody>
        </p:sp>
        <p:sp>
          <p:nvSpPr>
            <p:cNvPr id="31818" name="Rectangle 75">
              <a:extLst>
                <a:ext uri="{FF2B5EF4-FFF2-40B4-BE49-F238E27FC236}">
                  <a16:creationId xmlns:a16="http://schemas.microsoft.com/office/drawing/2014/main" id="{4FFFDE28-DE79-C57A-3E68-2CFF8F5A27D2}"/>
                </a:ext>
              </a:extLst>
            </p:cNvPr>
            <p:cNvSpPr>
              <a:spLocks noChangeAspect="1" noChangeArrowheads="1"/>
            </p:cNvSpPr>
            <p:nvPr/>
          </p:nvSpPr>
          <p:spPr bwMode="auto">
            <a:xfrm>
              <a:off x="2187" y="2429"/>
              <a:ext cx="10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6</a:t>
              </a:r>
              <a:endParaRPr lang="en-US" altLang="en-US" sz="1600" b="1">
                <a:latin typeface="Arial" panose="020B0604020202020204" pitchFamily="34" charset="0"/>
              </a:endParaRPr>
            </a:p>
          </p:txBody>
        </p:sp>
      </p:grpSp>
      <p:grpSp>
        <p:nvGrpSpPr>
          <p:cNvPr id="15" name="Group 76">
            <a:extLst>
              <a:ext uri="{FF2B5EF4-FFF2-40B4-BE49-F238E27FC236}">
                <a16:creationId xmlns:a16="http://schemas.microsoft.com/office/drawing/2014/main" id="{91C35D1F-D7B0-142C-0310-569826E9E5AF}"/>
              </a:ext>
            </a:extLst>
          </p:cNvPr>
          <p:cNvGrpSpPr>
            <a:grpSpLocks noChangeAspect="1"/>
          </p:cNvGrpSpPr>
          <p:nvPr/>
        </p:nvGrpSpPr>
        <p:grpSpPr bwMode="auto">
          <a:xfrm>
            <a:off x="8839200" y="2360612"/>
            <a:ext cx="919162" cy="619616"/>
            <a:chOff x="1465" y="2309"/>
            <a:chExt cx="883" cy="596"/>
          </a:xfrm>
        </p:grpSpPr>
        <p:sp>
          <p:nvSpPr>
            <p:cNvPr id="31805" name="Freeform 77">
              <a:extLst>
                <a:ext uri="{FF2B5EF4-FFF2-40B4-BE49-F238E27FC236}">
                  <a16:creationId xmlns:a16="http://schemas.microsoft.com/office/drawing/2014/main" id="{67DDE5F4-9358-6AE5-EC4D-B4752A8DD17C}"/>
                </a:ext>
              </a:extLst>
            </p:cNvPr>
            <p:cNvSpPr>
              <a:spLocks noChangeAspect="1"/>
            </p:cNvSpPr>
            <p:nvPr/>
          </p:nvSpPr>
          <p:spPr bwMode="auto">
            <a:xfrm>
              <a:off x="1465" y="2309"/>
              <a:ext cx="883" cy="369"/>
            </a:xfrm>
            <a:custGeom>
              <a:avLst/>
              <a:gdLst>
                <a:gd name="T0" fmla="*/ 442 w 883"/>
                <a:gd name="T1" fmla="*/ 0 h 369"/>
                <a:gd name="T2" fmla="*/ 502 w 883"/>
                <a:gd name="T3" fmla="*/ 2 h 369"/>
                <a:gd name="T4" fmla="*/ 562 w 883"/>
                <a:gd name="T5" fmla="*/ 7 h 369"/>
                <a:gd name="T6" fmla="*/ 619 w 883"/>
                <a:gd name="T7" fmla="*/ 15 h 369"/>
                <a:gd name="T8" fmla="*/ 672 w 883"/>
                <a:gd name="T9" fmla="*/ 28 h 369"/>
                <a:gd name="T10" fmla="*/ 721 w 883"/>
                <a:gd name="T11" fmla="*/ 43 h 369"/>
                <a:gd name="T12" fmla="*/ 766 w 883"/>
                <a:gd name="T13" fmla="*/ 60 h 369"/>
                <a:gd name="T14" fmla="*/ 804 w 883"/>
                <a:gd name="T15" fmla="*/ 79 h 369"/>
                <a:gd name="T16" fmla="*/ 836 w 883"/>
                <a:gd name="T17" fmla="*/ 100 h 369"/>
                <a:gd name="T18" fmla="*/ 859 w 883"/>
                <a:gd name="T19" fmla="*/ 123 h 369"/>
                <a:gd name="T20" fmla="*/ 876 w 883"/>
                <a:gd name="T21" fmla="*/ 147 h 369"/>
                <a:gd name="T22" fmla="*/ 883 w 883"/>
                <a:gd name="T23" fmla="*/ 172 h 369"/>
                <a:gd name="T24" fmla="*/ 883 w 883"/>
                <a:gd name="T25" fmla="*/ 197 h 369"/>
                <a:gd name="T26" fmla="*/ 876 w 883"/>
                <a:gd name="T27" fmla="*/ 223 h 369"/>
                <a:gd name="T28" fmla="*/ 859 w 883"/>
                <a:gd name="T29" fmla="*/ 246 h 369"/>
                <a:gd name="T30" fmla="*/ 836 w 883"/>
                <a:gd name="T31" fmla="*/ 270 h 369"/>
                <a:gd name="T32" fmla="*/ 804 w 883"/>
                <a:gd name="T33" fmla="*/ 291 h 369"/>
                <a:gd name="T34" fmla="*/ 766 w 883"/>
                <a:gd name="T35" fmla="*/ 310 h 369"/>
                <a:gd name="T36" fmla="*/ 721 w 883"/>
                <a:gd name="T37" fmla="*/ 327 h 369"/>
                <a:gd name="T38" fmla="*/ 672 w 883"/>
                <a:gd name="T39" fmla="*/ 342 h 369"/>
                <a:gd name="T40" fmla="*/ 619 w 883"/>
                <a:gd name="T41" fmla="*/ 354 h 369"/>
                <a:gd name="T42" fmla="*/ 562 w 883"/>
                <a:gd name="T43" fmla="*/ 363 h 369"/>
                <a:gd name="T44" fmla="*/ 502 w 883"/>
                <a:gd name="T45" fmla="*/ 367 h 369"/>
                <a:gd name="T46" fmla="*/ 442 w 883"/>
                <a:gd name="T47" fmla="*/ 369 h 369"/>
                <a:gd name="T48" fmla="*/ 381 w 883"/>
                <a:gd name="T49" fmla="*/ 367 h 369"/>
                <a:gd name="T50" fmla="*/ 323 w 883"/>
                <a:gd name="T51" fmla="*/ 363 h 369"/>
                <a:gd name="T52" fmla="*/ 266 w 883"/>
                <a:gd name="T53" fmla="*/ 354 h 369"/>
                <a:gd name="T54" fmla="*/ 213 w 883"/>
                <a:gd name="T55" fmla="*/ 342 h 369"/>
                <a:gd name="T56" fmla="*/ 162 w 883"/>
                <a:gd name="T57" fmla="*/ 327 h 369"/>
                <a:gd name="T58" fmla="*/ 119 w 883"/>
                <a:gd name="T59" fmla="*/ 310 h 369"/>
                <a:gd name="T60" fmla="*/ 81 w 883"/>
                <a:gd name="T61" fmla="*/ 291 h 369"/>
                <a:gd name="T62" fmla="*/ 49 w 883"/>
                <a:gd name="T63" fmla="*/ 270 h 369"/>
                <a:gd name="T64" fmla="*/ 26 w 883"/>
                <a:gd name="T65" fmla="*/ 246 h 369"/>
                <a:gd name="T66" fmla="*/ 9 w 883"/>
                <a:gd name="T67" fmla="*/ 223 h 369"/>
                <a:gd name="T68" fmla="*/ 0 w 883"/>
                <a:gd name="T69" fmla="*/ 197 h 369"/>
                <a:gd name="T70" fmla="*/ 0 w 883"/>
                <a:gd name="T71" fmla="*/ 172 h 369"/>
                <a:gd name="T72" fmla="*/ 9 w 883"/>
                <a:gd name="T73" fmla="*/ 147 h 369"/>
                <a:gd name="T74" fmla="*/ 26 w 883"/>
                <a:gd name="T75" fmla="*/ 123 h 369"/>
                <a:gd name="T76" fmla="*/ 49 w 883"/>
                <a:gd name="T77" fmla="*/ 100 h 369"/>
                <a:gd name="T78" fmla="*/ 81 w 883"/>
                <a:gd name="T79" fmla="*/ 79 h 369"/>
                <a:gd name="T80" fmla="*/ 119 w 883"/>
                <a:gd name="T81" fmla="*/ 60 h 369"/>
                <a:gd name="T82" fmla="*/ 162 w 883"/>
                <a:gd name="T83" fmla="*/ 43 h 369"/>
                <a:gd name="T84" fmla="*/ 213 w 883"/>
                <a:gd name="T85" fmla="*/ 28 h 369"/>
                <a:gd name="T86" fmla="*/ 266 w 883"/>
                <a:gd name="T87" fmla="*/ 15 h 369"/>
                <a:gd name="T88" fmla="*/ 323 w 883"/>
                <a:gd name="T89" fmla="*/ 7 h 369"/>
                <a:gd name="T90" fmla="*/ 381 w 883"/>
                <a:gd name="T91" fmla="*/ 2 h 369"/>
                <a:gd name="T92" fmla="*/ 442 w 883"/>
                <a:gd name="T93" fmla="*/ 0 h 3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83"/>
                <a:gd name="T142" fmla="*/ 0 h 369"/>
                <a:gd name="T143" fmla="*/ 883 w 883"/>
                <a:gd name="T144" fmla="*/ 369 h 36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83" h="369">
                  <a:moveTo>
                    <a:pt x="442" y="0"/>
                  </a:moveTo>
                  <a:lnTo>
                    <a:pt x="502" y="2"/>
                  </a:lnTo>
                  <a:lnTo>
                    <a:pt x="562" y="7"/>
                  </a:lnTo>
                  <a:lnTo>
                    <a:pt x="619" y="15"/>
                  </a:lnTo>
                  <a:lnTo>
                    <a:pt x="672" y="28"/>
                  </a:lnTo>
                  <a:lnTo>
                    <a:pt x="721" y="43"/>
                  </a:lnTo>
                  <a:lnTo>
                    <a:pt x="766" y="60"/>
                  </a:lnTo>
                  <a:lnTo>
                    <a:pt x="804" y="79"/>
                  </a:lnTo>
                  <a:lnTo>
                    <a:pt x="836" y="100"/>
                  </a:lnTo>
                  <a:lnTo>
                    <a:pt x="859" y="123"/>
                  </a:lnTo>
                  <a:lnTo>
                    <a:pt x="876" y="147"/>
                  </a:lnTo>
                  <a:lnTo>
                    <a:pt x="883" y="172"/>
                  </a:lnTo>
                  <a:lnTo>
                    <a:pt x="883" y="197"/>
                  </a:lnTo>
                  <a:lnTo>
                    <a:pt x="876" y="223"/>
                  </a:lnTo>
                  <a:lnTo>
                    <a:pt x="859" y="246"/>
                  </a:lnTo>
                  <a:lnTo>
                    <a:pt x="836" y="270"/>
                  </a:lnTo>
                  <a:lnTo>
                    <a:pt x="804" y="291"/>
                  </a:lnTo>
                  <a:lnTo>
                    <a:pt x="766" y="310"/>
                  </a:lnTo>
                  <a:lnTo>
                    <a:pt x="721" y="327"/>
                  </a:lnTo>
                  <a:lnTo>
                    <a:pt x="672" y="342"/>
                  </a:lnTo>
                  <a:lnTo>
                    <a:pt x="619" y="354"/>
                  </a:lnTo>
                  <a:lnTo>
                    <a:pt x="562" y="363"/>
                  </a:lnTo>
                  <a:lnTo>
                    <a:pt x="502" y="367"/>
                  </a:lnTo>
                  <a:lnTo>
                    <a:pt x="442" y="369"/>
                  </a:lnTo>
                  <a:lnTo>
                    <a:pt x="381" y="367"/>
                  </a:lnTo>
                  <a:lnTo>
                    <a:pt x="323" y="363"/>
                  </a:lnTo>
                  <a:lnTo>
                    <a:pt x="266" y="354"/>
                  </a:lnTo>
                  <a:lnTo>
                    <a:pt x="213" y="342"/>
                  </a:lnTo>
                  <a:lnTo>
                    <a:pt x="162" y="327"/>
                  </a:lnTo>
                  <a:lnTo>
                    <a:pt x="119" y="310"/>
                  </a:lnTo>
                  <a:lnTo>
                    <a:pt x="81" y="291"/>
                  </a:lnTo>
                  <a:lnTo>
                    <a:pt x="49" y="270"/>
                  </a:lnTo>
                  <a:lnTo>
                    <a:pt x="26" y="246"/>
                  </a:lnTo>
                  <a:lnTo>
                    <a:pt x="9" y="223"/>
                  </a:lnTo>
                  <a:lnTo>
                    <a:pt x="0" y="197"/>
                  </a:lnTo>
                  <a:lnTo>
                    <a:pt x="0" y="172"/>
                  </a:lnTo>
                  <a:lnTo>
                    <a:pt x="9" y="147"/>
                  </a:lnTo>
                  <a:lnTo>
                    <a:pt x="26" y="123"/>
                  </a:lnTo>
                  <a:lnTo>
                    <a:pt x="49" y="100"/>
                  </a:lnTo>
                  <a:lnTo>
                    <a:pt x="81" y="79"/>
                  </a:lnTo>
                  <a:lnTo>
                    <a:pt x="119" y="60"/>
                  </a:lnTo>
                  <a:lnTo>
                    <a:pt x="162" y="43"/>
                  </a:lnTo>
                  <a:lnTo>
                    <a:pt x="213" y="28"/>
                  </a:lnTo>
                  <a:lnTo>
                    <a:pt x="266" y="15"/>
                  </a:lnTo>
                  <a:lnTo>
                    <a:pt x="323" y="7"/>
                  </a:lnTo>
                  <a:lnTo>
                    <a:pt x="381" y="2"/>
                  </a:lnTo>
                  <a:lnTo>
                    <a:pt x="442"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06" name="Rectangle 78">
              <a:extLst>
                <a:ext uri="{FF2B5EF4-FFF2-40B4-BE49-F238E27FC236}">
                  <a16:creationId xmlns:a16="http://schemas.microsoft.com/office/drawing/2014/main" id="{8F531697-77FA-AE88-2DDA-A66DFA73C7D8}"/>
                </a:ext>
              </a:extLst>
            </p:cNvPr>
            <p:cNvSpPr>
              <a:spLocks noChangeAspect="1" noChangeArrowheads="1"/>
            </p:cNvSpPr>
            <p:nvPr/>
          </p:nvSpPr>
          <p:spPr bwMode="auto">
            <a:xfrm>
              <a:off x="1831" y="2668"/>
              <a:ext cx="10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1</a:t>
              </a:r>
              <a:endParaRPr lang="en-US" altLang="en-US" sz="1600" b="1">
                <a:latin typeface="Arial" panose="020B0604020202020204" pitchFamily="34" charset="0"/>
              </a:endParaRPr>
            </a:p>
          </p:txBody>
        </p:sp>
      </p:grpSp>
      <p:grpSp>
        <p:nvGrpSpPr>
          <p:cNvPr id="16" name="Group 79">
            <a:extLst>
              <a:ext uri="{FF2B5EF4-FFF2-40B4-BE49-F238E27FC236}">
                <a16:creationId xmlns:a16="http://schemas.microsoft.com/office/drawing/2014/main" id="{CF07EF75-F139-E8F5-1597-E700F46B44CF}"/>
              </a:ext>
            </a:extLst>
          </p:cNvPr>
          <p:cNvGrpSpPr>
            <a:grpSpLocks noChangeAspect="1"/>
          </p:cNvGrpSpPr>
          <p:nvPr/>
        </p:nvGrpSpPr>
        <p:grpSpPr bwMode="auto">
          <a:xfrm>
            <a:off x="7654927" y="1730375"/>
            <a:ext cx="1036637" cy="584200"/>
            <a:chOff x="328" y="1704"/>
            <a:chExt cx="995" cy="561"/>
          </a:xfrm>
        </p:grpSpPr>
        <p:sp>
          <p:nvSpPr>
            <p:cNvPr id="31803" name="Freeform 80">
              <a:extLst>
                <a:ext uri="{FF2B5EF4-FFF2-40B4-BE49-F238E27FC236}">
                  <a16:creationId xmlns:a16="http://schemas.microsoft.com/office/drawing/2014/main" id="{E0C6FD9E-CAF9-D16C-15CF-6297A61707CE}"/>
                </a:ext>
              </a:extLst>
            </p:cNvPr>
            <p:cNvSpPr>
              <a:spLocks noChangeAspect="1"/>
            </p:cNvSpPr>
            <p:nvPr/>
          </p:nvSpPr>
          <p:spPr bwMode="auto">
            <a:xfrm>
              <a:off x="328" y="1881"/>
              <a:ext cx="995" cy="384"/>
            </a:xfrm>
            <a:custGeom>
              <a:avLst/>
              <a:gdLst>
                <a:gd name="T0" fmla="*/ 514 w 995"/>
                <a:gd name="T1" fmla="*/ 4 h 384"/>
                <a:gd name="T2" fmla="*/ 576 w 995"/>
                <a:gd name="T3" fmla="*/ 10 h 384"/>
                <a:gd name="T4" fmla="*/ 638 w 995"/>
                <a:gd name="T5" fmla="*/ 21 h 384"/>
                <a:gd name="T6" fmla="*/ 695 w 995"/>
                <a:gd name="T7" fmla="*/ 34 h 384"/>
                <a:gd name="T8" fmla="*/ 752 w 995"/>
                <a:gd name="T9" fmla="*/ 49 h 384"/>
                <a:gd name="T10" fmla="*/ 803 w 995"/>
                <a:gd name="T11" fmla="*/ 66 h 384"/>
                <a:gd name="T12" fmla="*/ 850 w 995"/>
                <a:gd name="T13" fmla="*/ 85 h 384"/>
                <a:gd name="T14" fmla="*/ 891 w 995"/>
                <a:gd name="T15" fmla="*/ 106 h 384"/>
                <a:gd name="T16" fmla="*/ 927 w 995"/>
                <a:gd name="T17" fmla="*/ 127 h 384"/>
                <a:gd name="T18" fmla="*/ 954 w 995"/>
                <a:gd name="T19" fmla="*/ 150 h 384"/>
                <a:gd name="T20" fmla="*/ 976 w 995"/>
                <a:gd name="T21" fmla="*/ 176 h 384"/>
                <a:gd name="T22" fmla="*/ 988 w 995"/>
                <a:gd name="T23" fmla="*/ 199 h 384"/>
                <a:gd name="T24" fmla="*/ 995 w 995"/>
                <a:gd name="T25" fmla="*/ 222 h 384"/>
                <a:gd name="T26" fmla="*/ 993 w 995"/>
                <a:gd name="T27" fmla="*/ 248 h 384"/>
                <a:gd name="T28" fmla="*/ 982 w 995"/>
                <a:gd name="T29" fmla="*/ 269 h 384"/>
                <a:gd name="T30" fmla="*/ 965 w 995"/>
                <a:gd name="T31" fmla="*/ 290 h 384"/>
                <a:gd name="T32" fmla="*/ 940 w 995"/>
                <a:gd name="T33" fmla="*/ 312 h 384"/>
                <a:gd name="T34" fmla="*/ 908 w 995"/>
                <a:gd name="T35" fmla="*/ 329 h 384"/>
                <a:gd name="T36" fmla="*/ 869 w 995"/>
                <a:gd name="T37" fmla="*/ 345 h 384"/>
                <a:gd name="T38" fmla="*/ 827 w 995"/>
                <a:gd name="T39" fmla="*/ 358 h 384"/>
                <a:gd name="T40" fmla="*/ 776 w 995"/>
                <a:gd name="T41" fmla="*/ 369 h 384"/>
                <a:gd name="T42" fmla="*/ 723 w 995"/>
                <a:gd name="T43" fmla="*/ 377 h 384"/>
                <a:gd name="T44" fmla="*/ 665 w 995"/>
                <a:gd name="T45" fmla="*/ 382 h 384"/>
                <a:gd name="T46" fmla="*/ 606 w 995"/>
                <a:gd name="T47" fmla="*/ 384 h 384"/>
                <a:gd name="T48" fmla="*/ 544 w 995"/>
                <a:gd name="T49" fmla="*/ 384 h 384"/>
                <a:gd name="T50" fmla="*/ 480 w 995"/>
                <a:gd name="T51" fmla="*/ 379 h 384"/>
                <a:gd name="T52" fmla="*/ 419 w 995"/>
                <a:gd name="T53" fmla="*/ 373 h 384"/>
                <a:gd name="T54" fmla="*/ 357 w 995"/>
                <a:gd name="T55" fmla="*/ 362 h 384"/>
                <a:gd name="T56" fmla="*/ 300 w 995"/>
                <a:gd name="T57" fmla="*/ 350 h 384"/>
                <a:gd name="T58" fmla="*/ 242 w 995"/>
                <a:gd name="T59" fmla="*/ 335 h 384"/>
                <a:gd name="T60" fmla="*/ 191 w 995"/>
                <a:gd name="T61" fmla="*/ 318 h 384"/>
                <a:gd name="T62" fmla="*/ 144 w 995"/>
                <a:gd name="T63" fmla="*/ 299 h 384"/>
                <a:gd name="T64" fmla="*/ 104 w 995"/>
                <a:gd name="T65" fmla="*/ 278 h 384"/>
                <a:gd name="T66" fmla="*/ 68 w 995"/>
                <a:gd name="T67" fmla="*/ 256 h 384"/>
                <a:gd name="T68" fmla="*/ 40 w 995"/>
                <a:gd name="T69" fmla="*/ 233 h 384"/>
                <a:gd name="T70" fmla="*/ 19 w 995"/>
                <a:gd name="T71" fmla="*/ 208 h 384"/>
                <a:gd name="T72" fmla="*/ 6 w 995"/>
                <a:gd name="T73" fmla="*/ 184 h 384"/>
                <a:gd name="T74" fmla="*/ 0 w 995"/>
                <a:gd name="T75" fmla="*/ 161 h 384"/>
                <a:gd name="T76" fmla="*/ 2 w 995"/>
                <a:gd name="T77" fmla="*/ 138 h 384"/>
                <a:gd name="T78" fmla="*/ 13 w 995"/>
                <a:gd name="T79" fmla="*/ 114 h 384"/>
                <a:gd name="T80" fmla="*/ 30 w 995"/>
                <a:gd name="T81" fmla="*/ 93 h 384"/>
                <a:gd name="T82" fmla="*/ 55 w 995"/>
                <a:gd name="T83" fmla="*/ 72 h 384"/>
                <a:gd name="T84" fmla="*/ 87 w 995"/>
                <a:gd name="T85" fmla="*/ 55 h 384"/>
                <a:gd name="T86" fmla="*/ 125 w 995"/>
                <a:gd name="T87" fmla="*/ 38 h 384"/>
                <a:gd name="T88" fmla="*/ 168 w 995"/>
                <a:gd name="T89" fmla="*/ 25 h 384"/>
                <a:gd name="T90" fmla="*/ 219 w 995"/>
                <a:gd name="T91" fmla="*/ 15 h 384"/>
                <a:gd name="T92" fmla="*/ 272 w 995"/>
                <a:gd name="T93" fmla="*/ 6 h 384"/>
                <a:gd name="T94" fmla="*/ 329 w 995"/>
                <a:gd name="T95" fmla="*/ 2 h 384"/>
                <a:gd name="T96" fmla="*/ 389 w 995"/>
                <a:gd name="T97" fmla="*/ 0 h 384"/>
                <a:gd name="T98" fmla="*/ 450 w 995"/>
                <a:gd name="T99" fmla="*/ 0 h 384"/>
                <a:gd name="T100" fmla="*/ 514 w 995"/>
                <a:gd name="T101" fmla="*/ 4 h 38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95"/>
                <a:gd name="T154" fmla="*/ 0 h 384"/>
                <a:gd name="T155" fmla="*/ 995 w 995"/>
                <a:gd name="T156" fmla="*/ 384 h 38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95" h="384">
                  <a:moveTo>
                    <a:pt x="514" y="4"/>
                  </a:moveTo>
                  <a:lnTo>
                    <a:pt x="576" y="10"/>
                  </a:lnTo>
                  <a:lnTo>
                    <a:pt x="638" y="21"/>
                  </a:lnTo>
                  <a:lnTo>
                    <a:pt x="695" y="34"/>
                  </a:lnTo>
                  <a:lnTo>
                    <a:pt x="752" y="49"/>
                  </a:lnTo>
                  <a:lnTo>
                    <a:pt x="803" y="66"/>
                  </a:lnTo>
                  <a:lnTo>
                    <a:pt x="850" y="85"/>
                  </a:lnTo>
                  <a:lnTo>
                    <a:pt x="891" y="106"/>
                  </a:lnTo>
                  <a:lnTo>
                    <a:pt x="927" y="127"/>
                  </a:lnTo>
                  <a:lnTo>
                    <a:pt x="954" y="150"/>
                  </a:lnTo>
                  <a:lnTo>
                    <a:pt x="976" y="176"/>
                  </a:lnTo>
                  <a:lnTo>
                    <a:pt x="988" y="199"/>
                  </a:lnTo>
                  <a:lnTo>
                    <a:pt x="995" y="222"/>
                  </a:lnTo>
                  <a:lnTo>
                    <a:pt x="993" y="248"/>
                  </a:lnTo>
                  <a:lnTo>
                    <a:pt x="982" y="269"/>
                  </a:lnTo>
                  <a:lnTo>
                    <a:pt x="965" y="290"/>
                  </a:lnTo>
                  <a:lnTo>
                    <a:pt x="940" y="312"/>
                  </a:lnTo>
                  <a:lnTo>
                    <a:pt x="908" y="329"/>
                  </a:lnTo>
                  <a:lnTo>
                    <a:pt x="869" y="345"/>
                  </a:lnTo>
                  <a:lnTo>
                    <a:pt x="827" y="358"/>
                  </a:lnTo>
                  <a:lnTo>
                    <a:pt x="776" y="369"/>
                  </a:lnTo>
                  <a:lnTo>
                    <a:pt x="723" y="377"/>
                  </a:lnTo>
                  <a:lnTo>
                    <a:pt x="665" y="382"/>
                  </a:lnTo>
                  <a:lnTo>
                    <a:pt x="606" y="384"/>
                  </a:lnTo>
                  <a:lnTo>
                    <a:pt x="544" y="384"/>
                  </a:lnTo>
                  <a:lnTo>
                    <a:pt x="480" y="379"/>
                  </a:lnTo>
                  <a:lnTo>
                    <a:pt x="419" y="373"/>
                  </a:lnTo>
                  <a:lnTo>
                    <a:pt x="357" y="362"/>
                  </a:lnTo>
                  <a:lnTo>
                    <a:pt x="300" y="350"/>
                  </a:lnTo>
                  <a:lnTo>
                    <a:pt x="242" y="335"/>
                  </a:lnTo>
                  <a:lnTo>
                    <a:pt x="191" y="318"/>
                  </a:lnTo>
                  <a:lnTo>
                    <a:pt x="144" y="299"/>
                  </a:lnTo>
                  <a:lnTo>
                    <a:pt x="104" y="278"/>
                  </a:lnTo>
                  <a:lnTo>
                    <a:pt x="68" y="256"/>
                  </a:lnTo>
                  <a:lnTo>
                    <a:pt x="40" y="233"/>
                  </a:lnTo>
                  <a:lnTo>
                    <a:pt x="19" y="208"/>
                  </a:lnTo>
                  <a:lnTo>
                    <a:pt x="6" y="184"/>
                  </a:lnTo>
                  <a:lnTo>
                    <a:pt x="0" y="161"/>
                  </a:lnTo>
                  <a:lnTo>
                    <a:pt x="2" y="138"/>
                  </a:lnTo>
                  <a:lnTo>
                    <a:pt x="13" y="114"/>
                  </a:lnTo>
                  <a:lnTo>
                    <a:pt x="30" y="93"/>
                  </a:lnTo>
                  <a:lnTo>
                    <a:pt x="55" y="72"/>
                  </a:lnTo>
                  <a:lnTo>
                    <a:pt x="87" y="55"/>
                  </a:lnTo>
                  <a:lnTo>
                    <a:pt x="125" y="38"/>
                  </a:lnTo>
                  <a:lnTo>
                    <a:pt x="168" y="25"/>
                  </a:lnTo>
                  <a:lnTo>
                    <a:pt x="219" y="15"/>
                  </a:lnTo>
                  <a:lnTo>
                    <a:pt x="272" y="6"/>
                  </a:lnTo>
                  <a:lnTo>
                    <a:pt x="329" y="2"/>
                  </a:lnTo>
                  <a:lnTo>
                    <a:pt x="389" y="0"/>
                  </a:lnTo>
                  <a:lnTo>
                    <a:pt x="450" y="0"/>
                  </a:lnTo>
                  <a:lnTo>
                    <a:pt x="514" y="4"/>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804" name="Rectangle 81">
              <a:extLst>
                <a:ext uri="{FF2B5EF4-FFF2-40B4-BE49-F238E27FC236}">
                  <a16:creationId xmlns:a16="http://schemas.microsoft.com/office/drawing/2014/main" id="{6649FBB3-AC19-33EE-AE6E-DCF60623F330}"/>
                </a:ext>
              </a:extLst>
            </p:cNvPr>
            <p:cNvSpPr>
              <a:spLocks noChangeAspect="1" noChangeArrowheads="1"/>
            </p:cNvSpPr>
            <p:nvPr/>
          </p:nvSpPr>
          <p:spPr bwMode="auto">
            <a:xfrm>
              <a:off x="854" y="1704"/>
              <a:ext cx="10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2</a:t>
              </a:r>
              <a:endParaRPr lang="en-US" altLang="en-US" sz="1600" b="1">
                <a:latin typeface="Arial" panose="020B0604020202020204" pitchFamily="34" charset="0"/>
              </a:endParaRPr>
            </a:p>
          </p:txBody>
        </p:sp>
      </p:grpSp>
      <p:grpSp>
        <p:nvGrpSpPr>
          <p:cNvPr id="17" name="Group 82">
            <a:extLst>
              <a:ext uri="{FF2B5EF4-FFF2-40B4-BE49-F238E27FC236}">
                <a16:creationId xmlns:a16="http://schemas.microsoft.com/office/drawing/2014/main" id="{8B73DC62-D418-5EB1-D78E-99FEEE406273}"/>
              </a:ext>
            </a:extLst>
          </p:cNvPr>
          <p:cNvGrpSpPr>
            <a:grpSpLocks noChangeAspect="1"/>
          </p:cNvGrpSpPr>
          <p:nvPr/>
        </p:nvGrpSpPr>
        <p:grpSpPr bwMode="auto">
          <a:xfrm>
            <a:off x="7429502" y="1293815"/>
            <a:ext cx="2583903" cy="2287587"/>
            <a:chOff x="111" y="1285"/>
            <a:chExt cx="2482" cy="2197"/>
          </a:xfrm>
        </p:grpSpPr>
        <p:sp>
          <p:nvSpPr>
            <p:cNvPr id="31801" name="Rectangle 83">
              <a:extLst>
                <a:ext uri="{FF2B5EF4-FFF2-40B4-BE49-F238E27FC236}">
                  <a16:creationId xmlns:a16="http://schemas.microsoft.com/office/drawing/2014/main" id="{40C9E045-BCE3-71BC-8468-E16AC8A96827}"/>
                </a:ext>
              </a:extLst>
            </p:cNvPr>
            <p:cNvSpPr>
              <a:spLocks noChangeAspect="1" noChangeArrowheads="1"/>
            </p:cNvSpPr>
            <p:nvPr/>
          </p:nvSpPr>
          <p:spPr bwMode="auto">
            <a:xfrm>
              <a:off x="2484" y="1704"/>
              <a:ext cx="10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5</a:t>
              </a:r>
              <a:endParaRPr lang="en-US" altLang="en-US" sz="1600" b="1">
                <a:latin typeface="Arial" panose="020B0604020202020204" pitchFamily="34" charset="0"/>
              </a:endParaRPr>
            </a:p>
          </p:txBody>
        </p:sp>
        <p:sp>
          <p:nvSpPr>
            <p:cNvPr id="31802" name="Freeform 84">
              <a:extLst>
                <a:ext uri="{FF2B5EF4-FFF2-40B4-BE49-F238E27FC236}">
                  <a16:creationId xmlns:a16="http://schemas.microsoft.com/office/drawing/2014/main" id="{6D6B9B38-270F-5E0D-DACF-D7557B1918AF}"/>
                </a:ext>
              </a:extLst>
            </p:cNvPr>
            <p:cNvSpPr>
              <a:spLocks noChangeAspect="1"/>
            </p:cNvSpPr>
            <p:nvPr/>
          </p:nvSpPr>
          <p:spPr bwMode="auto">
            <a:xfrm>
              <a:off x="111" y="1285"/>
              <a:ext cx="2479" cy="2197"/>
            </a:xfrm>
            <a:custGeom>
              <a:avLst/>
              <a:gdLst>
                <a:gd name="T0" fmla="*/ 1339 w 2479"/>
                <a:gd name="T1" fmla="*/ 2 h 2197"/>
                <a:gd name="T2" fmla="*/ 1541 w 2479"/>
                <a:gd name="T3" fmla="*/ 32 h 2197"/>
                <a:gd name="T4" fmla="*/ 1735 w 2479"/>
                <a:gd name="T5" fmla="*/ 91 h 2197"/>
                <a:gd name="T6" fmla="*/ 1916 w 2479"/>
                <a:gd name="T7" fmla="*/ 178 h 2197"/>
                <a:gd name="T8" fmla="*/ 2077 w 2479"/>
                <a:gd name="T9" fmla="*/ 288 h 2197"/>
                <a:gd name="T10" fmla="*/ 2215 w 2479"/>
                <a:gd name="T11" fmla="*/ 422 h 2197"/>
                <a:gd name="T12" fmla="*/ 2328 w 2479"/>
                <a:gd name="T13" fmla="*/ 572 h 2197"/>
                <a:gd name="T14" fmla="*/ 2411 w 2479"/>
                <a:gd name="T15" fmla="*/ 740 h 2197"/>
                <a:gd name="T16" fmla="*/ 2462 w 2479"/>
                <a:gd name="T17" fmla="*/ 916 h 2197"/>
                <a:gd name="T18" fmla="*/ 2479 w 2479"/>
                <a:gd name="T19" fmla="*/ 1096 h 2197"/>
                <a:gd name="T20" fmla="*/ 2462 w 2479"/>
                <a:gd name="T21" fmla="*/ 1277 h 2197"/>
                <a:gd name="T22" fmla="*/ 2411 w 2479"/>
                <a:gd name="T23" fmla="*/ 1453 h 2197"/>
                <a:gd name="T24" fmla="*/ 2330 w 2479"/>
                <a:gd name="T25" fmla="*/ 1620 h 2197"/>
                <a:gd name="T26" fmla="*/ 2217 w 2479"/>
                <a:gd name="T27" fmla="*/ 1771 h 2197"/>
                <a:gd name="T28" fmla="*/ 2079 w 2479"/>
                <a:gd name="T29" fmla="*/ 1904 h 2197"/>
                <a:gd name="T30" fmla="*/ 1918 w 2479"/>
                <a:gd name="T31" fmla="*/ 2017 h 2197"/>
                <a:gd name="T32" fmla="*/ 1739 w 2479"/>
                <a:gd name="T33" fmla="*/ 2104 h 2197"/>
                <a:gd name="T34" fmla="*/ 1546 w 2479"/>
                <a:gd name="T35" fmla="*/ 2163 h 2197"/>
                <a:gd name="T36" fmla="*/ 1344 w 2479"/>
                <a:gd name="T37" fmla="*/ 2193 h 2197"/>
                <a:gd name="T38" fmla="*/ 1139 w 2479"/>
                <a:gd name="T39" fmla="*/ 2193 h 2197"/>
                <a:gd name="T40" fmla="*/ 938 w 2479"/>
                <a:gd name="T41" fmla="*/ 2163 h 2197"/>
                <a:gd name="T42" fmla="*/ 744 w 2479"/>
                <a:gd name="T43" fmla="*/ 2106 h 2197"/>
                <a:gd name="T44" fmla="*/ 563 w 2479"/>
                <a:gd name="T45" fmla="*/ 2019 h 2197"/>
                <a:gd name="T46" fmla="*/ 402 w 2479"/>
                <a:gd name="T47" fmla="*/ 1909 h 2197"/>
                <a:gd name="T48" fmla="*/ 264 w 2479"/>
                <a:gd name="T49" fmla="*/ 1775 h 2197"/>
                <a:gd name="T50" fmla="*/ 151 w 2479"/>
                <a:gd name="T51" fmla="*/ 1622 h 2197"/>
                <a:gd name="T52" fmla="*/ 68 w 2479"/>
                <a:gd name="T53" fmla="*/ 1457 h 2197"/>
                <a:gd name="T54" fmla="*/ 17 w 2479"/>
                <a:gd name="T55" fmla="*/ 1281 h 2197"/>
                <a:gd name="T56" fmla="*/ 0 w 2479"/>
                <a:gd name="T57" fmla="*/ 1101 h 2197"/>
                <a:gd name="T58" fmla="*/ 17 w 2479"/>
                <a:gd name="T59" fmla="*/ 920 h 2197"/>
                <a:gd name="T60" fmla="*/ 68 w 2479"/>
                <a:gd name="T61" fmla="*/ 744 h 2197"/>
                <a:gd name="T62" fmla="*/ 149 w 2479"/>
                <a:gd name="T63" fmla="*/ 577 h 2197"/>
                <a:gd name="T64" fmla="*/ 261 w 2479"/>
                <a:gd name="T65" fmla="*/ 424 h 2197"/>
                <a:gd name="T66" fmla="*/ 400 w 2479"/>
                <a:gd name="T67" fmla="*/ 290 h 2197"/>
                <a:gd name="T68" fmla="*/ 559 w 2479"/>
                <a:gd name="T69" fmla="*/ 180 h 2197"/>
                <a:gd name="T70" fmla="*/ 740 w 2479"/>
                <a:gd name="T71" fmla="*/ 93 h 2197"/>
                <a:gd name="T72" fmla="*/ 933 w 2479"/>
                <a:gd name="T73" fmla="*/ 34 h 2197"/>
                <a:gd name="T74" fmla="*/ 1135 w 2479"/>
                <a:gd name="T75" fmla="*/ 4 h 21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79"/>
                <a:gd name="T115" fmla="*/ 0 h 2197"/>
                <a:gd name="T116" fmla="*/ 2479 w 2479"/>
                <a:gd name="T117" fmla="*/ 2197 h 21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79" h="2197">
                  <a:moveTo>
                    <a:pt x="1237" y="0"/>
                  </a:moveTo>
                  <a:lnTo>
                    <a:pt x="1339" y="2"/>
                  </a:lnTo>
                  <a:lnTo>
                    <a:pt x="1441" y="15"/>
                  </a:lnTo>
                  <a:lnTo>
                    <a:pt x="1541" y="32"/>
                  </a:lnTo>
                  <a:lnTo>
                    <a:pt x="1639" y="59"/>
                  </a:lnTo>
                  <a:lnTo>
                    <a:pt x="1735" y="91"/>
                  </a:lnTo>
                  <a:lnTo>
                    <a:pt x="1826" y="131"/>
                  </a:lnTo>
                  <a:lnTo>
                    <a:pt x="1916" y="178"/>
                  </a:lnTo>
                  <a:lnTo>
                    <a:pt x="1998" y="229"/>
                  </a:lnTo>
                  <a:lnTo>
                    <a:pt x="2077" y="288"/>
                  </a:lnTo>
                  <a:lnTo>
                    <a:pt x="2149" y="352"/>
                  </a:lnTo>
                  <a:lnTo>
                    <a:pt x="2215" y="422"/>
                  </a:lnTo>
                  <a:lnTo>
                    <a:pt x="2275" y="496"/>
                  </a:lnTo>
                  <a:lnTo>
                    <a:pt x="2328" y="572"/>
                  </a:lnTo>
                  <a:lnTo>
                    <a:pt x="2373" y="655"/>
                  </a:lnTo>
                  <a:lnTo>
                    <a:pt x="2411" y="740"/>
                  </a:lnTo>
                  <a:lnTo>
                    <a:pt x="2441" y="827"/>
                  </a:lnTo>
                  <a:lnTo>
                    <a:pt x="2462" y="916"/>
                  </a:lnTo>
                  <a:lnTo>
                    <a:pt x="2475" y="1005"/>
                  </a:lnTo>
                  <a:lnTo>
                    <a:pt x="2479" y="1096"/>
                  </a:lnTo>
                  <a:lnTo>
                    <a:pt x="2475" y="1188"/>
                  </a:lnTo>
                  <a:lnTo>
                    <a:pt x="2462" y="1277"/>
                  </a:lnTo>
                  <a:lnTo>
                    <a:pt x="2441" y="1366"/>
                  </a:lnTo>
                  <a:lnTo>
                    <a:pt x="2411" y="1453"/>
                  </a:lnTo>
                  <a:lnTo>
                    <a:pt x="2375" y="1537"/>
                  </a:lnTo>
                  <a:lnTo>
                    <a:pt x="2330" y="1620"/>
                  </a:lnTo>
                  <a:lnTo>
                    <a:pt x="2277" y="1697"/>
                  </a:lnTo>
                  <a:lnTo>
                    <a:pt x="2217" y="1771"/>
                  </a:lnTo>
                  <a:lnTo>
                    <a:pt x="2152" y="1841"/>
                  </a:lnTo>
                  <a:lnTo>
                    <a:pt x="2079" y="1904"/>
                  </a:lnTo>
                  <a:lnTo>
                    <a:pt x="2003" y="1964"/>
                  </a:lnTo>
                  <a:lnTo>
                    <a:pt x="1918" y="2017"/>
                  </a:lnTo>
                  <a:lnTo>
                    <a:pt x="1830" y="2063"/>
                  </a:lnTo>
                  <a:lnTo>
                    <a:pt x="1739" y="2104"/>
                  </a:lnTo>
                  <a:lnTo>
                    <a:pt x="1643" y="2136"/>
                  </a:lnTo>
                  <a:lnTo>
                    <a:pt x="1546" y="2163"/>
                  </a:lnTo>
                  <a:lnTo>
                    <a:pt x="1446" y="2182"/>
                  </a:lnTo>
                  <a:lnTo>
                    <a:pt x="1344" y="2193"/>
                  </a:lnTo>
                  <a:lnTo>
                    <a:pt x="1242" y="2197"/>
                  </a:lnTo>
                  <a:lnTo>
                    <a:pt x="1139" y="2193"/>
                  </a:lnTo>
                  <a:lnTo>
                    <a:pt x="1037" y="2182"/>
                  </a:lnTo>
                  <a:lnTo>
                    <a:pt x="938" y="2163"/>
                  </a:lnTo>
                  <a:lnTo>
                    <a:pt x="840" y="2138"/>
                  </a:lnTo>
                  <a:lnTo>
                    <a:pt x="744" y="2106"/>
                  </a:lnTo>
                  <a:lnTo>
                    <a:pt x="650" y="2066"/>
                  </a:lnTo>
                  <a:lnTo>
                    <a:pt x="563" y="2019"/>
                  </a:lnTo>
                  <a:lnTo>
                    <a:pt x="480" y="1966"/>
                  </a:lnTo>
                  <a:lnTo>
                    <a:pt x="402" y="1909"/>
                  </a:lnTo>
                  <a:lnTo>
                    <a:pt x="329" y="1843"/>
                  </a:lnTo>
                  <a:lnTo>
                    <a:pt x="264" y="1775"/>
                  </a:lnTo>
                  <a:lnTo>
                    <a:pt x="204" y="1701"/>
                  </a:lnTo>
                  <a:lnTo>
                    <a:pt x="151" y="1622"/>
                  </a:lnTo>
                  <a:lnTo>
                    <a:pt x="106" y="1542"/>
                  </a:lnTo>
                  <a:lnTo>
                    <a:pt x="68" y="1457"/>
                  </a:lnTo>
                  <a:lnTo>
                    <a:pt x="38" y="1370"/>
                  </a:lnTo>
                  <a:lnTo>
                    <a:pt x="17" y="1281"/>
                  </a:lnTo>
                  <a:lnTo>
                    <a:pt x="4" y="1192"/>
                  </a:lnTo>
                  <a:lnTo>
                    <a:pt x="0" y="1101"/>
                  </a:lnTo>
                  <a:lnTo>
                    <a:pt x="4" y="1009"/>
                  </a:lnTo>
                  <a:lnTo>
                    <a:pt x="17" y="920"/>
                  </a:lnTo>
                  <a:lnTo>
                    <a:pt x="38" y="831"/>
                  </a:lnTo>
                  <a:lnTo>
                    <a:pt x="68" y="744"/>
                  </a:lnTo>
                  <a:lnTo>
                    <a:pt x="104" y="659"/>
                  </a:lnTo>
                  <a:lnTo>
                    <a:pt x="149" y="577"/>
                  </a:lnTo>
                  <a:lnTo>
                    <a:pt x="202" y="498"/>
                  </a:lnTo>
                  <a:lnTo>
                    <a:pt x="261" y="424"/>
                  </a:lnTo>
                  <a:lnTo>
                    <a:pt x="327" y="356"/>
                  </a:lnTo>
                  <a:lnTo>
                    <a:pt x="400" y="290"/>
                  </a:lnTo>
                  <a:lnTo>
                    <a:pt x="476" y="233"/>
                  </a:lnTo>
                  <a:lnTo>
                    <a:pt x="559" y="180"/>
                  </a:lnTo>
                  <a:lnTo>
                    <a:pt x="648" y="133"/>
                  </a:lnTo>
                  <a:lnTo>
                    <a:pt x="740" y="93"/>
                  </a:lnTo>
                  <a:lnTo>
                    <a:pt x="835" y="59"/>
                  </a:lnTo>
                  <a:lnTo>
                    <a:pt x="933" y="34"/>
                  </a:lnTo>
                  <a:lnTo>
                    <a:pt x="1033" y="15"/>
                  </a:lnTo>
                  <a:lnTo>
                    <a:pt x="1135" y="4"/>
                  </a:lnTo>
                  <a:lnTo>
                    <a:pt x="1237"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18" name="Group 85">
            <a:extLst>
              <a:ext uri="{FF2B5EF4-FFF2-40B4-BE49-F238E27FC236}">
                <a16:creationId xmlns:a16="http://schemas.microsoft.com/office/drawing/2014/main" id="{79D57924-2A4A-71DB-8984-F82706CD6797}"/>
              </a:ext>
            </a:extLst>
          </p:cNvPr>
          <p:cNvGrpSpPr>
            <a:grpSpLocks noChangeAspect="1"/>
          </p:cNvGrpSpPr>
          <p:nvPr/>
        </p:nvGrpSpPr>
        <p:grpSpPr bwMode="auto">
          <a:xfrm>
            <a:off x="8428037" y="2211388"/>
            <a:ext cx="1416050" cy="1084262"/>
            <a:chOff x="1070" y="2167"/>
            <a:chExt cx="1361" cy="1041"/>
          </a:xfrm>
        </p:grpSpPr>
        <p:sp>
          <p:nvSpPr>
            <p:cNvPr id="31799" name="Rectangle 86">
              <a:extLst>
                <a:ext uri="{FF2B5EF4-FFF2-40B4-BE49-F238E27FC236}">
                  <a16:creationId xmlns:a16="http://schemas.microsoft.com/office/drawing/2014/main" id="{6AB563F3-1B75-7605-302E-A69CA7C7C481}"/>
                </a:ext>
              </a:extLst>
            </p:cNvPr>
            <p:cNvSpPr>
              <a:spLocks noChangeAspect="1" noChangeArrowheads="1"/>
            </p:cNvSpPr>
            <p:nvPr/>
          </p:nvSpPr>
          <p:spPr bwMode="auto">
            <a:xfrm>
              <a:off x="1070" y="2560"/>
              <a:ext cx="10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3</a:t>
              </a:r>
              <a:endParaRPr lang="en-US" altLang="en-US" sz="1600" b="1">
                <a:latin typeface="Arial" panose="020B0604020202020204" pitchFamily="34" charset="0"/>
              </a:endParaRPr>
            </a:p>
          </p:txBody>
        </p:sp>
        <p:sp>
          <p:nvSpPr>
            <p:cNvPr id="31800" name="Freeform 87">
              <a:extLst>
                <a:ext uri="{FF2B5EF4-FFF2-40B4-BE49-F238E27FC236}">
                  <a16:creationId xmlns:a16="http://schemas.microsoft.com/office/drawing/2014/main" id="{B34A6B32-8CE2-76D7-426B-108C9B8C4555}"/>
                </a:ext>
              </a:extLst>
            </p:cNvPr>
            <p:cNvSpPr>
              <a:spLocks noChangeAspect="1"/>
            </p:cNvSpPr>
            <p:nvPr/>
          </p:nvSpPr>
          <p:spPr bwMode="auto">
            <a:xfrm>
              <a:off x="1114" y="2167"/>
              <a:ext cx="1317" cy="1041"/>
            </a:xfrm>
            <a:custGeom>
              <a:avLst/>
              <a:gdLst>
                <a:gd name="T0" fmla="*/ 441 w 1317"/>
                <a:gd name="T1" fmla="*/ 174 h 1041"/>
                <a:gd name="T2" fmla="*/ 506 w 1317"/>
                <a:gd name="T3" fmla="*/ 134 h 1041"/>
                <a:gd name="T4" fmla="*/ 574 w 1317"/>
                <a:gd name="T5" fmla="*/ 100 h 1041"/>
                <a:gd name="T6" fmla="*/ 643 w 1317"/>
                <a:gd name="T7" fmla="*/ 70 h 1041"/>
                <a:gd name="T8" fmla="*/ 711 w 1317"/>
                <a:gd name="T9" fmla="*/ 47 h 1041"/>
                <a:gd name="T10" fmla="*/ 781 w 1317"/>
                <a:gd name="T11" fmla="*/ 26 h 1041"/>
                <a:gd name="T12" fmla="*/ 847 w 1317"/>
                <a:gd name="T13" fmla="*/ 13 h 1041"/>
                <a:gd name="T14" fmla="*/ 910 w 1317"/>
                <a:gd name="T15" fmla="*/ 4 h 1041"/>
                <a:gd name="T16" fmla="*/ 974 w 1317"/>
                <a:gd name="T17" fmla="*/ 0 h 1041"/>
                <a:gd name="T18" fmla="*/ 1032 w 1317"/>
                <a:gd name="T19" fmla="*/ 4 h 1041"/>
                <a:gd name="T20" fmla="*/ 1087 w 1317"/>
                <a:gd name="T21" fmla="*/ 13 h 1041"/>
                <a:gd name="T22" fmla="*/ 1136 w 1317"/>
                <a:gd name="T23" fmla="*/ 26 h 1041"/>
                <a:gd name="T24" fmla="*/ 1180 w 1317"/>
                <a:gd name="T25" fmla="*/ 45 h 1041"/>
                <a:gd name="T26" fmla="*/ 1219 w 1317"/>
                <a:gd name="T27" fmla="*/ 70 h 1041"/>
                <a:gd name="T28" fmla="*/ 1253 w 1317"/>
                <a:gd name="T29" fmla="*/ 100 h 1041"/>
                <a:gd name="T30" fmla="*/ 1278 w 1317"/>
                <a:gd name="T31" fmla="*/ 134 h 1041"/>
                <a:gd name="T32" fmla="*/ 1297 w 1317"/>
                <a:gd name="T33" fmla="*/ 172 h 1041"/>
                <a:gd name="T34" fmla="*/ 1310 w 1317"/>
                <a:gd name="T35" fmla="*/ 214 h 1041"/>
                <a:gd name="T36" fmla="*/ 1317 w 1317"/>
                <a:gd name="T37" fmla="*/ 261 h 1041"/>
                <a:gd name="T38" fmla="*/ 1314 w 1317"/>
                <a:gd name="T39" fmla="*/ 310 h 1041"/>
                <a:gd name="T40" fmla="*/ 1304 w 1317"/>
                <a:gd name="T41" fmla="*/ 359 h 1041"/>
                <a:gd name="T42" fmla="*/ 1289 w 1317"/>
                <a:gd name="T43" fmla="*/ 412 h 1041"/>
                <a:gd name="T44" fmla="*/ 1265 w 1317"/>
                <a:gd name="T45" fmla="*/ 467 h 1041"/>
                <a:gd name="T46" fmla="*/ 1236 w 1317"/>
                <a:gd name="T47" fmla="*/ 520 h 1041"/>
                <a:gd name="T48" fmla="*/ 1200 w 1317"/>
                <a:gd name="T49" fmla="*/ 575 h 1041"/>
                <a:gd name="T50" fmla="*/ 1157 w 1317"/>
                <a:gd name="T51" fmla="*/ 628 h 1041"/>
                <a:gd name="T52" fmla="*/ 1110 w 1317"/>
                <a:gd name="T53" fmla="*/ 681 h 1041"/>
                <a:gd name="T54" fmla="*/ 1057 w 1317"/>
                <a:gd name="T55" fmla="*/ 732 h 1041"/>
                <a:gd name="T56" fmla="*/ 1000 w 1317"/>
                <a:gd name="T57" fmla="*/ 781 h 1041"/>
                <a:gd name="T58" fmla="*/ 940 w 1317"/>
                <a:gd name="T59" fmla="*/ 825 h 1041"/>
                <a:gd name="T60" fmla="*/ 876 w 1317"/>
                <a:gd name="T61" fmla="*/ 868 h 1041"/>
                <a:gd name="T62" fmla="*/ 810 w 1317"/>
                <a:gd name="T63" fmla="*/ 908 h 1041"/>
                <a:gd name="T64" fmla="*/ 742 w 1317"/>
                <a:gd name="T65" fmla="*/ 942 h 1041"/>
                <a:gd name="T66" fmla="*/ 674 w 1317"/>
                <a:gd name="T67" fmla="*/ 971 h 1041"/>
                <a:gd name="T68" fmla="*/ 604 w 1317"/>
                <a:gd name="T69" fmla="*/ 995 h 1041"/>
                <a:gd name="T70" fmla="*/ 536 w 1317"/>
                <a:gd name="T71" fmla="*/ 1016 h 1041"/>
                <a:gd name="T72" fmla="*/ 470 w 1317"/>
                <a:gd name="T73" fmla="*/ 1029 h 1041"/>
                <a:gd name="T74" fmla="*/ 404 w 1317"/>
                <a:gd name="T75" fmla="*/ 1037 h 1041"/>
                <a:gd name="T76" fmla="*/ 343 w 1317"/>
                <a:gd name="T77" fmla="*/ 1041 h 1041"/>
                <a:gd name="T78" fmla="*/ 283 w 1317"/>
                <a:gd name="T79" fmla="*/ 1037 h 1041"/>
                <a:gd name="T80" fmla="*/ 230 w 1317"/>
                <a:gd name="T81" fmla="*/ 1029 h 1041"/>
                <a:gd name="T82" fmla="*/ 179 w 1317"/>
                <a:gd name="T83" fmla="*/ 1016 h 1041"/>
                <a:gd name="T84" fmla="*/ 134 w 1317"/>
                <a:gd name="T85" fmla="*/ 997 h 1041"/>
                <a:gd name="T86" fmla="*/ 96 w 1317"/>
                <a:gd name="T87" fmla="*/ 971 h 1041"/>
                <a:gd name="T88" fmla="*/ 64 w 1317"/>
                <a:gd name="T89" fmla="*/ 942 h 1041"/>
                <a:gd name="T90" fmla="*/ 37 w 1317"/>
                <a:gd name="T91" fmla="*/ 908 h 1041"/>
                <a:gd name="T92" fmla="*/ 17 w 1317"/>
                <a:gd name="T93" fmla="*/ 870 h 1041"/>
                <a:gd name="T94" fmla="*/ 7 w 1317"/>
                <a:gd name="T95" fmla="*/ 827 h 1041"/>
                <a:gd name="T96" fmla="*/ 0 w 1317"/>
                <a:gd name="T97" fmla="*/ 781 h 1041"/>
                <a:gd name="T98" fmla="*/ 3 w 1317"/>
                <a:gd name="T99" fmla="*/ 732 h 1041"/>
                <a:gd name="T100" fmla="*/ 11 w 1317"/>
                <a:gd name="T101" fmla="*/ 681 h 1041"/>
                <a:gd name="T102" fmla="*/ 28 w 1317"/>
                <a:gd name="T103" fmla="*/ 630 h 1041"/>
                <a:gd name="T104" fmla="*/ 51 w 1317"/>
                <a:gd name="T105" fmla="*/ 575 h 1041"/>
                <a:gd name="T106" fmla="*/ 81 w 1317"/>
                <a:gd name="T107" fmla="*/ 522 h 1041"/>
                <a:gd name="T108" fmla="*/ 117 w 1317"/>
                <a:gd name="T109" fmla="*/ 467 h 1041"/>
                <a:gd name="T110" fmla="*/ 160 w 1317"/>
                <a:gd name="T111" fmla="*/ 414 h 1041"/>
                <a:gd name="T112" fmla="*/ 207 w 1317"/>
                <a:gd name="T113" fmla="*/ 361 h 1041"/>
                <a:gd name="T114" fmla="*/ 260 w 1317"/>
                <a:gd name="T115" fmla="*/ 310 h 1041"/>
                <a:gd name="T116" fmla="*/ 315 w 1317"/>
                <a:gd name="T117" fmla="*/ 261 h 1041"/>
                <a:gd name="T118" fmla="*/ 377 w 1317"/>
                <a:gd name="T119" fmla="*/ 216 h 1041"/>
                <a:gd name="T120" fmla="*/ 441 w 1317"/>
                <a:gd name="T121" fmla="*/ 174 h 10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17"/>
                <a:gd name="T184" fmla="*/ 0 h 1041"/>
                <a:gd name="T185" fmla="*/ 1317 w 1317"/>
                <a:gd name="T186" fmla="*/ 1041 h 10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17" h="1041">
                  <a:moveTo>
                    <a:pt x="441" y="174"/>
                  </a:moveTo>
                  <a:lnTo>
                    <a:pt x="506" y="134"/>
                  </a:lnTo>
                  <a:lnTo>
                    <a:pt x="574" y="100"/>
                  </a:lnTo>
                  <a:lnTo>
                    <a:pt x="643" y="70"/>
                  </a:lnTo>
                  <a:lnTo>
                    <a:pt x="711" y="47"/>
                  </a:lnTo>
                  <a:lnTo>
                    <a:pt x="781" y="26"/>
                  </a:lnTo>
                  <a:lnTo>
                    <a:pt x="847" y="13"/>
                  </a:lnTo>
                  <a:lnTo>
                    <a:pt x="910" y="4"/>
                  </a:lnTo>
                  <a:lnTo>
                    <a:pt x="974" y="0"/>
                  </a:lnTo>
                  <a:lnTo>
                    <a:pt x="1032" y="4"/>
                  </a:lnTo>
                  <a:lnTo>
                    <a:pt x="1087" y="13"/>
                  </a:lnTo>
                  <a:lnTo>
                    <a:pt x="1136" y="26"/>
                  </a:lnTo>
                  <a:lnTo>
                    <a:pt x="1180" y="45"/>
                  </a:lnTo>
                  <a:lnTo>
                    <a:pt x="1219" y="70"/>
                  </a:lnTo>
                  <a:lnTo>
                    <a:pt x="1253" y="100"/>
                  </a:lnTo>
                  <a:lnTo>
                    <a:pt x="1278" y="134"/>
                  </a:lnTo>
                  <a:lnTo>
                    <a:pt x="1297" y="172"/>
                  </a:lnTo>
                  <a:lnTo>
                    <a:pt x="1310" y="214"/>
                  </a:lnTo>
                  <a:lnTo>
                    <a:pt x="1317" y="261"/>
                  </a:lnTo>
                  <a:lnTo>
                    <a:pt x="1314" y="310"/>
                  </a:lnTo>
                  <a:lnTo>
                    <a:pt x="1304" y="359"/>
                  </a:lnTo>
                  <a:lnTo>
                    <a:pt x="1289" y="412"/>
                  </a:lnTo>
                  <a:lnTo>
                    <a:pt x="1265" y="467"/>
                  </a:lnTo>
                  <a:lnTo>
                    <a:pt x="1236" y="520"/>
                  </a:lnTo>
                  <a:lnTo>
                    <a:pt x="1200" y="575"/>
                  </a:lnTo>
                  <a:lnTo>
                    <a:pt x="1157" y="628"/>
                  </a:lnTo>
                  <a:lnTo>
                    <a:pt x="1110" y="681"/>
                  </a:lnTo>
                  <a:lnTo>
                    <a:pt x="1057" y="732"/>
                  </a:lnTo>
                  <a:lnTo>
                    <a:pt x="1000" y="781"/>
                  </a:lnTo>
                  <a:lnTo>
                    <a:pt x="940" y="825"/>
                  </a:lnTo>
                  <a:lnTo>
                    <a:pt x="876" y="868"/>
                  </a:lnTo>
                  <a:lnTo>
                    <a:pt x="810" y="908"/>
                  </a:lnTo>
                  <a:lnTo>
                    <a:pt x="742" y="942"/>
                  </a:lnTo>
                  <a:lnTo>
                    <a:pt x="674" y="971"/>
                  </a:lnTo>
                  <a:lnTo>
                    <a:pt x="604" y="995"/>
                  </a:lnTo>
                  <a:lnTo>
                    <a:pt x="536" y="1016"/>
                  </a:lnTo>
                  <a:lnTo>
                    <a:pt x="470" y="1029"/>
                  </a:lnTo>
                  <a:lnTo>
                    <a:pt x="404" y="1037"/>
                  </a:lnTo>
                  <a:lnTo>
                    <a:pt x="343" y="1041"/>
                  </a:lnTo>
                  <a:lnTo>
                    <a:pt x="283" y="1037"/>
                  </a:lnTo>
                  <a:lnTo>
                    <a:pt x="230" y="1029"/>
                  </a:lnTo>
                  <a:lnTo>
                    <a:pt x="179" y="1016"/>
                  </a:lnTo>
                  <a:lnTo>
                    <a:pt x="134" y="997"/>
                  </a:lnTo>
                  <a:lnTo>
                    <a:pt x="96" y="971"/>
                  </a:lnTo>
                  <a:lnTo>
                    <a:pt x="64" y="942"/>
                  </a:lnTo>
                  <a:lnTo>
                    <a:pt x="37" y="908"/>
                  </a:lnTo>
                  <a:lnTo>
                    <a:pt x="17" y="870"/>
                  </a:lnTo>
                  <a:lnTo>
                    <a:pt x="7" y="827"/>
                  </a:lnTo>
                  <a:lnTo>
                    <a:pt x="0" y="781"/>
                  </a:lnTo>
                  <a:lnTo>
                    <a:pt x="3" y="732"/>
                  </a:lnTo>
                  <a:lnTo>
                    <a:pt x="11" y="681"/>
                  </a:lnTo>
                  <a:lnTo>
                    <a:pt x="28" y="630"/>
                  </a:lnTo>
                  <a:lnTo>
                    <a:pt x="51" y="575"/>
                  </a:lnTo>
                  <a:lnTo>
                    <a:pt x="81" y="522"/>
                  </a:lnTo>
                  <a:lnTo>
                    <a:pt x="117" y="467"/>
                  </a:lnTo>
                  <a:lnTo>
                    <a:pt x="160" y="414"/>
                  </a:lnTo>
                  <a:lnTo>
                    <a:pt x="207" y="361"/>
                  </a:lnTo>
                  <a:lnTo>
                    <a:pt x="260" y="310"/>
                  </a:lnTo>
                  <a:lnTo>
                    <a:pt x="315" y="261"/>
                  </a:lnTo>
                  <a:lnTo>
                    <a:pt x="377" y="216"/>
                  </a:lnTo>
                  <a:lnTo>
                    <a:pt x="441" y="174"/>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19" name="Group 88">
            <a:extLst>
              <a:ext uri="{FF2B5EF4-FFF2-40B4-BE49-F238E27FC236}">
                <a16:creationId xmlns:a16="http://schemas.microsoft.com/office/drawing/2014/main" id="{46C4DF1B-F763-10D0-25F4-3E88FFEBDA35}"/>
              </a:ext>
            </a:extLst>
          </p:cNvPr>
          <p:cNvGrpSpPr>
            <a:grpSpLocks noChangeAspect="1"/>
          </p:cNvGrpSpPr>
          <p:nvPr/>
        </p:nvGrpSpPr>
        <p:grpSpPr bwMode="auto">
          <a:xfrm>
            <a:off x="7597775" y="1384300"/>
            <a:ext cx="1905000" cy="996950"/>
            <a:chOff x="272" y="1372"/>
            <a:chExt cx="1831" cy="958"/>
          </a:xfrm>
        </p:grpSpPr>
        <p:sp>
          <p:nvSpPr>
            <p:cNvPr id="31797" name="Rectangle 89">
              <a:extLst>
                <a:ext uri="{FF2B5EF4-FFF2-40B4-BE49-F238E27FC236}">
                  <a16:creationId xmlns:a16="http://schemas.microsoft.com/office/drawing/2014/main" id="{B5831CDB-751B-BB2A-6127-BB94CFC1D073}"/>
                </a:ext>
              </a:extLst>
            </p:cNvPr>
            <p:cNvSpPr>
              <a:spLocks noChangeAspect="1" noChangeArrowheads="1"/>
            </p:cNvSpPr>
            <p:nvPr/>
          </p:nvSpPr>
          <p:spPr bwMode="auto">
            <a:xfrm>
              <a:off x="1165" y="1380"/>
              <a:ext cx="10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4</a:t>
              </a:r>
              <a:endParaRPr lang="en-US" altLang="en-US" sz="1600" b="1">
                <a:latin typeface="Arial" panose="020B0604020202020204" pitchFamily="34" charset="0"/>
              </a:endParaRPr>
            </a:p>
          </p:txBody>
        </p:sp>
        <p:sp>
          <p:nvSpPr>
            <p:cNvPr id="31798" name="Freeform 90">
              <a:extLst>
                <a:ext uri="{FF2B5EF4-FFF2-40B4-BE49-F238E27FC236}">
                  <a16:creationId xmlns:a16="http://schemas.microsoft.com/office/drawing/2014/main" id="{BF20DA3F-99B6-19FE-1BD8-6A02967DE770}"/>
                </a:ext>
              </a:extLst>
            </p:cNvPr>
            <p:cNvSpPr>
              <a:spLocks noChangeAspect="1"/>
            </p:cNvSpPr>
            <p:nvPr/>
          </p:nvSpPr>
          <p:spPr bwMode="auto">
            <a:xfrm>
              <a:off x="272" y="1372"/>
              <a:ext cx="1831" cy="958"/>
            </a:xfrm>
            <a:custGeom>
              <a:avLst/>
              <a:gdLst>
                <a:gd name="T0" fmla="*/ 906 w 1831"/>
                <a:gd name="T1" fmla="*/ 25 h 958"/>
                <a:gd name="T2" fmla="*/ 1081 w 1831"/>
                <a:gd name="T3" fmla="*/ 4 h 958"/>
                <a:gd name="T4" fmla="*/ 1246 w 1831"/>
                <a:gd name="T5" fmla="*/ 0 h 958"/>
                <a:gd name="T6" fmla="*/ 1404 w 1831"/>
                <a:gd name="T7" fmla="*/ 13 h 958"/>
                <a:gd name="T8" fmla="*/ 1542 w 1831"/>
                <a:gd name="T9" fmla="*/ 42 h 958"/>
                <a:gd name="T10" fmla="*/ 1657 w 1831"/>
                <a:gd name="T11" fmla="*/ 87 h 958"/>
                <a:gd name="T12" fmla="*/ 1744 w 1831"/>
                <a:gd name="T13" fmla="*/ 146 h 958"/>
                <a:gd name="T14" fmla="*/ 1803 w 1831"/>
                <a:gd name="T15" fmla="*/ 218 h 958"/>
                <a:gd name="T16" fmla="*/ 1829 w 1831"/>
                <a:gd name="T17" fmla="*/ 299 h 958"/>
                <a:gd name="T18" fmla="*/ 1823 w 1831"/>
                <a:gd name="T19" fmla="*/ 388 h 958"/>
                <a:gd name="T20" fmla="*/ 1784 w 1831"/>
                <a:gd name="T21" fmla="*/ 477 h 958"/>
                <a:gd name="T22" fmla="*/ 1714 w 1831"/>
                <a:gd name="T23" fmla="*/ 568 h 958"/>
                <a:gd name="T24" fmla="*/ 1614 w 1831"/>
                <a:gd name="T25" fmla="*/ 657 h 958"/>
                <a:gd name="T26" fmla="*/ 1489 w 1831"/>
                <a:gd name="T27" fmla="*/ 738 h 958"/>
                <a:gd name="T28" fmla="*/ 1344 w 1831"/>
                <a:gd name="T29" fmla="*/ 810 h 958"/>
                <a:gd name="T30" fmla="*/ 1183 w 1831"/>
                <a:gd name="T31" fmla="*/ 869 h 958"/>
                <a:gd name="T32" fmla="*/ 1010 w 1831"/>
                <a:gd name="T33" fmla="*/ 914 h 958"/>
                <a:gd name="T34" fmla="*/ 838 w 1831"/>
                <a:gd name="T35" fmla="*/ 946 h 958"/>
                <a:gd name="T36" fmla="*/ 666 w 1831"/>
                <a:gd name="T37" fmla="*/ 958 h 958"/>
                <a:gd name="T38" fmla="*/ 504 w 1831"/>
                <a:gd name="T39" fmla="*/ 954 h 958"/>
                <a:gd name="T40" fmla="*/ 356 w 1831"/>
                <a:gd name="T41" fmla="*/ 933 h 958"/>
                <a:gd name="T42" fmla="*/ 228 w 1831"/>
                <a:gd name="T43" fmla="*/ 895 h 958"/>
                <a:gd name="T44" fmla="*/ 126 w 1831"/>
                <a:gd name="T45" fmla="*/ 842 h 958"/>
                <a:gd name="T46" fmla="*/ 51 w 1831"/>
                <a:gd name="T47" fmla="*/ 776 h 958"/>
                <a:gd name="T48" fmla="*/ 9 w 1831"/>
                <a:gd name="T49" fmla="*/ 700 h 958"/>
                <a:gd name="T50" fmla="*/ 0 w 1831"/>
                <a:gd name="T51" fmla="*/ 615 h 958"/>
                <a:gd name="T52" fmla="*/ 22 w 1831"/>
                <a:gd name="T53" fmla="*/ 524 h 958"/>
                <a:gd name="T54" fmla="*/ 77 w 1831"/>
                <a:gd name="T55" fmla="*/ 432 h 958"/>
                <a:gd name="T56" fmla="*/ 164 w 1831"/>
                <a:gd name="T57" fmla="*/ 343 h 958"/>
                <a:gd name="T58" fmla="*/ 277 w 1831"/>
                <a:gd name="T59" fmla="*/ 259 h 958"/>
                <a:gd name="T60" fmla="*/ 413 w 1831"/>
                <a:gd name="T61" fmla="*/ 182 h 958"/>
                <a:gd name="T62" fmla="*/ 566 w 1831"/>
                <a:gd name="T63" fmla="*/ 116 h 958"/>
                <a:gd name="T64" fmla="*/ 732 w 1831"/>
                <a:gd name="T65" fmla="*/ 63 h 9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1"/>
                <a:gd name="T100" fmla="*/ 0 h 958"/>
                <a:gd name="T101" fmla="*/ 1831 w 1831"/>
                <a:gd name="T102" fmla="*/ 958 h 9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1" h="958">
                  <a:moveTo>
                    <a:pt x="819" y="42"/>
                  </a:moveTo>
                  <a:lnTo>
                    <a:pt x="906" y="25"/>
                  </a:lnTo>
                  <a:lnTo>
                    <a:pt x="993" y="13"/>
                  </a:lnTo>
                  <a:lnTo>
                    <a:pt x="1081" y="4"/>
                  </a:lnTo>
                  <a:lnTo>
                    <a:pt x="1166" y="0"/>
                  </a:lnTo>
                  <a:lnTo>
                    <a:pt x="1246" y="0"/>
                  </a:lnTo>
                  <a:lnTo>
                    <a:pt x="1327" y="4"/>
                  </a:lnTo>
                  <a:lnTo>
                    <a:pt x="1404" y="13"/>
                  </a:lnTo>
                  <a:lnTo>
                    <a:pt x="1474" y="25"/>
                  </a:lnTo>
                  <a:lnTo>
                    <a:pt x="1542" y="42"/>
                  </a:lnTo>
                  <a:lnTo>
                    <a:pt x="1601" y="63"/>
                  </a:lnTo>
                  <a:lnTo>
                    <a:pt x="1657" y="87"/>
                  </a:lnTo>
                  <a:lnTo>
                    <a:pt x="1704" y="116"/>
                  </a:lnTo>
                  <a:lnTo>
                    <a:pt x="1744" y="146"/>
                  </a:lnTo>
                  <a:lnTo>
                    <a:pt x="1778" y="182"/>
                  </a:lnTo>
                  <a:lnTo>
                    <a:pt x="1803" y="218"/>
                  </a:lnTo>
                  <a:lnTo>
                    <a:pt x="1820" y="259"/>
                  </a:lnTo>
                  <a:lnTo>
                    <a:pt x="1829" y="299"/>
                  </a:lnTo>
                  <a:lnTo>
                    <a:pt x="1831" y="343"/>
                  </a:lnTo>
                  <a:lnTo>
                    <a:pt x="1823" y="388"/>
                  </a:lnTo>
                  <a:lnTo>
                    <a:pt x="1808" y="432"/>
                  </a:lnTo>
                  <a:lnTo>
                    <a:pt x="1784" y="477"/>
                  </a:lnTo>
                  <a:lnTo>
                    <a:pt x="1752" y="524"/>
                  </a:lnTo>
                  <a:lnTo>
                    <a:pt x="1714" y="568"/>
                  </a:lnTo>
                  <a:lnTo>
                    <a:pt x="1667" y="613"/>
                  </a:lnTo>
                  <a:lnTo>
                    <a:pt x="1614" y="657"/>
                  </a:lnTo>
                  <a:lnTo>
                    <a:pt x="1555" y="698"/>
                  </a:lnTo>
                  <a:lnTo>
                    <a:pt x="1489" y="738"/>
                  </a:lnTo>
                  <a:lnTo>
                    <a:pt x="1419" y="774"/>
                  </a:lnTo>
                  <a:lnTo>
                    <a:pt x="1344" y="810"/>
                  </a:lnTo>
                  <a:lnTo>
                    <a:pt x="1263" y="842"/>
                  </a:lnTo>
                  <a:lnTo>
                    <a:pt x="1183" y="869"/>
                  </a:lnTo>
                  <a:lnTo>
                    <a:pt x="1098" y="895"/>
                  </a:lnTo>
                  <a:lnTo>
                    <a:pt x="1010" y="914"/>
                  </a:lnTo>
                  <a:lnTo>
                    <a:pt x="925" y="931"/>
                  </a:lnTo>
                  <a:lnTo>
                    <a:pt x="838" y="946"/>
                  </a:lnTo>
                  <a:lnTo>
                    <a:pt x="751" y="954"/>
                  </a:lnTo>
                  <a:lnTo>
                    <a:pt x="666" y="958"/>
                  </a:lnTo>
                  <a:lnTo>
                    <a:pt x="583" y="958"/>
                  </a:lnTo>
                  <a:lnTo>
                    <a:pt x="504" y="954"/>
                  </a:lnTo>
                  <a:lnTo>
                    <a:pt x="428" y="946"/>
                  </a:lnTo>
                  <a:lnTo>
                    <a:pt x="356" y="933"/>
                  </a:lnTo>
                  <a:lnTo>
                    <a:pt x="290" y="916"/>
                  </a:lnTo>
                  <a:lnTo>
                    <a:pt x="228" y="895"/>
                  </a:lnTo>
                  <a:lnTo>
                    <a:pt x="175" y="869"/>
                  </a:lnTo>
                  <a:lnTo>
                    <a:pt x="126" y="842"/>
                  </a:lnTo>
                  <a:lnTo>
                    <a:pt x="86" y="810"/>
                  </a:lnTo>
                  <a:lnTo>
                    <a:pt x="51" y="776"/>
                  </a:lnTo>
                  <a:lnTo>
                    <a:pt x="26" y="738"/>
                  </a:lnTo>
                  <a:lnTo>
                    <a:pt x="9" y="700"/>
                  </a:lnTo>
                  <a:lnTo>
                    <a:pt x="0" y="657"/>
                  </a:lnTo>
                  <a:lnTo>
                    <a:pt x="0" y="615"/>
                  </a:lnTo>
                  <a:lnTo>
                    <a:pt x="7" y="570"/>
                  </a:lnTo>
                  <a:lnTo>
                    <a:pt x="22" y="524"/>
                  </a:lnTo>
                  <a:lnTo>
                    <a:pt x="47" y="479"/>
                  </a:lnTo>
                  <a:lnTo>
                    <a:pt x="77" y="432"/>
                  </a:lnTo>
                  <a:lnTo>
                    <a:pt x="117" y="388"/>
                  </a:lnTo>
                  <a:lnTo>
                    <a:pt x="164" y="343"/>
                  </a:lnTo>
                  <a:lnTo>
                    <a:pt x="217" y="301"/>
                  </a:lnTo>
                  <a:lnTo>
                    <a:pt x="277" y="259"/>
                  </a:lnTo>
                  <a:lnTo>
                    <a:pt x="341" y="220"/>
                  </a:lnTo>
                  <a:lnTo>
                    <a:pt x="413" y="182"/>
                  </a:lnTo>
                  <a:lnTo>
                    <a:pt x="487" y="148"/>
                  </a:lnTo>
                  <a:lnTo>
                    <a:pt x="566" y="116"/>
                  </a:lnTo>
                  <a:lnTo>
                    <a:pt x="649" y="89"/>
                  </a:lnTo>
                  <a:lnTo>
                    <a:pt x="732" y="63"/>
                  </a:lnTo>
                  <a:lnTo>
                    <a:pt x="819" y="4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grpSp>
        <p:nvGrpSpPr>
          <p:cNvPr id="31769" name="Group 91">
            <a:extLst>
              <a:ext uri="{FF2B5EF4-FFF2-40B4-BE49-F238E27FC236}">
                <a16:creationId xmlns:a16="http://schemas.microsoft.com/office/drawing/2014/main" id="{2CC939F8-4C67-DA5F-A424-31102D4204AE}"/>
              </a:ext>
            </a:extLst>
          </p:cNvPr>
          <p:cNvGrpSpPr>
            <a:grpSpLocks noChangeAspect="1"/>
          </p:cNvGrpSpPr>
          <p:nvPr/>
        </p:nvGrpSpPr>
        <p:grpSpPr bwMode="auto">
          <a:xfrm>
            <a:off x="2563814" y="1362075"/>
            <a:ext cx="1992783" cy="1808634"/>
            <a:chOff x="471" y="1117"/>
            <a:chExt cx="1937" cy="1757"/>
          </a:xfrm>
        </p:grpSpPr>
        <p:sp>
          <p:nvSpPr>
            <p:cNvPr id="31785" name="Freeform 92">
              <a:extLst>
                <a:ext uri="{FF2B5EF4-FFF2-40B4-BE49-F238E27FC236}">
                  <a16:creationId xmlns:a16="http://schemas.microsoft.com/office/drawing/2014/main" id="{AD52861B-B783-31B3-6517-8DB24656BE94}"/>
                </a:ext>
              </a:extLst>
            </p:cNvPr>
            <p:cNvSpPr>
              <a:spLocks noChangeAspect="1"/>
            </p:cNvSpPr>
            <p:nvPr/>
          </p:nvSpPr>
          <p:spPr bwMode="auto">
            <a:xfrm>
              <a:off x="1072" y="1810"/>
              <a:ext cx="89" cy="87"/>
            </a:xfrm>
            <a:custGeom>
              <a:avLst/>
              <a:gdLst>
                <a:gd name="T0" fmla="*/ 0 w 89"/>
                <a:gd name="T1" fmla="*/ 43 h 87"/>
                <a:gd name="T2" fmla="*/ 4 w 89"/>
                <a:gd name="T3" fmla="*/ 26 h 87"/>
                <a:gd name="T4" fmla="*/ 13 w 89"/>
                <a:gd name="T5" fmla="*/ 11 h 87"/>
                <a:gd name="T6" fmla="*/ 28 w 89"/>
                <a:gd name="T7" fmla="*/ 2 h 87"/>
                <a:gd name="T8" fmla="*/ 43 w 89"/>
                <a:gd name="T9" fmla="*/ 0 h 87"/>
                <a:gd name="T10" fmla="*/ 61 w 89"/>
                <a:gd name="T11" fmla="*/ 2 h 87"/>
                <a:gd name="T12" fmla="*/ 76 w 89"/>
                <a:gd name="T13" fmla="*/ 11 h 87"/>
                <a:gd name="T14" fmla="*/ 84 w 89"/>
                <a:gd name="T15" fmla="*/ 26 h 87"/>
                <a:gd name="T16" fmla="*/ 89 w 89"/>
                <a:gd name="T17" fmla="*/ 43 h 87"/>
                <a:gd name="T18" fmla="*/ 84 w 89"/>
                <a:gd name="T19" fmla="*/ 61 h 87"/>
                <a:gd name="T20" fmla="*/ 76 w 89"/>
                <a:gd name="T21" fmla="*/ 74 h 87"/>
                <a:gd name="T22" fmla="*/ 61 w 89"/>
                <a:gd name="T23" fmla="*/ 84 h 87"/>
                <a:gd name="T24" fmla="*/ 43 w 89"/>
                <a:gd name="T25" fmla="*/ 87 h 87"/>
                <a:gd name="T26" fmla="*/ 28 w 89"/>
                <a:gd name="T27" fmla="*/ 84 h 87"/>
                <a:gd name="T28" fmla="*/ 13 w 89"/>
                <a:gd name="T29" fmla="*/ 74 h 87"/>
                <a:gd name="T30" fmla="*/ 4 w 89"/>
                <a:gd name="T31" fmla="*/ 61 h 87"/>
                <a:gd name="T32" fmla="*/ 0 w 89"/>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7"/>
                <a:gd name="T53" fmla="*/ 89 w 89"/>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7">
                  <a:moveTo>
                    <a:pt x="0" y="43"/>
                  </a:moveTo>
                  <a:lnTo>
                    <a:pt x="4" y="26"/>
                  </a:lnTo>
                  <a:lnTo>
                    <a:pt x="13" y="11"/>
                  </a:lnTo>
                  <a:lnTo>
                    <a:pt x="28" y="2"/>
                  </a:lnTo>
                  <a:lnTo>
                    <a:pt x="43" y="0"/>
                  </a:lnTo>
                  <a:lnTo>
                    <a:pt x="61" y="2"/>
                  </a:lnTo>
                  <a:lnTo>
                    <a:pt x="76" y="11"/>
                  </a:lnTo>
                  <a:lnTo>
                    <a:pt x="84" y="26"/>
                  </a:lnTo>
                  <a:lnTo>
                    <a:pt x="89" y="43"/>
                  </a:lnTo>
                  <a:lnTo>
                    <a:pt x="84" y="61"/>
                  </a:lnTo>
                  <a:lnTo>
                    <a:pt x="76" y="74"/>
                  </a:lnTo>
                  <a:lnTo>
                    <a:pt x="61" y="84"/>
                  </a:lnTo>
                  <a:lnTo>
                    <a:pt x="43" y="87"/>
                  </a:lnTo>
                  <a:lnTo>
                    <a:pt x="28" y="84"/>
                  </a:lnTo>
                  <a:lnTo>
                    <a:pt x="13" y="74"/>
                  </a:lnTo>
                  <a:lnTo>
                    <a:pt x="4" y="61"/>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6" name="Freeform 93">
              <a:extLst>
                <a:ext uri="{FF2B5EF4-FFF2-40B4-BE49-F238E27FC236}">
                  <a16:creationId xmlns:a16="http://schemas.microsoft.com/office/drawing/2014/main" id="{CF8CCC7D-CE0C-9296-B1CB-9872D2426EF6}"/>
                </a:ext>
              </a:extLst>
            </p:cNvPr>
            <p:cNvSpPr>
              <a:spLocks noChangeAspect="1"/>
            </p:cNvSpPr>
            <p:nvPr/>
          </p:nvSpPr>
          <p:spPr bwMode="auto">
            <a:xfrm>
              <a:off x="1894" y="1169"/>
              <a:ext cx="89" cy="86"/>
            </a:xfrm>
            <a:custGeom>
              <a:avLst/>
              <a:gdLst>
                <a:gd name="T0" fmla="*/ 0 w 89"/>
                <a:gd name="T1" fmla="*/ 43 h 86"/>
                <a:gd name="T2" fmla="*/ 4 w 89"/>
                <a:gd name="T3" fmla="*/ 26 h 86"/>
                <a:gd name="T4" fmla="*/ 13 w 89"/>
                <a:gd name="T5" fmla="*/ 13 h 86"/>
                <a:gd name="T6" fmla="*/ 28 w 89"/>
                <a:gd name="T7" fmla="*/ 2 h 86"/>
                <a:gd name="T8" fmla="*/ 45 w 89"/>
                <a:gd name="T9" fmla="*/ 0 h 86"/>
                <a:gd name="T10" fmla="*/ 61 w 89"/>
                <a:gd name="T11" fmla="*/ 2 h 86"/>
                <a:gd name="T12" fmla="*/ 76 w 89"/>
                <a:gd name="T13" fmla="*/ 13 h 86"/>
                <a:gd name="T14" fmla="*/ 84 w 89"/>
                <a:gd name="T15" fmla="*/ 26 h 86"/>
                <a:gd name="T16" fmla="*/ 89 w 89"/>
                <a:gd name="T17" fmla="*/ 43 h 86"/>
                <a:gd name="T18" fmla="*/ 84 w 89"/>
                <a:gd name="T19" fmla="*/ 60 h 86"/>
                <a:gd name="T20" fmla="*/ 76 w 89"/>
                <a:gd name="T21" fmla="*/ 73 h 86"/>
                <a:gd name="T22" fmla="*/ 61 w 89"/>
                <a:gd name="T23" fmla="*/ 84 h 86"/>
                <a:gd name="T24" fmla="*/ 45 w 89"/>
                <a:gd name="T25" fmla="*/ 86 h 86"/>
                <a:gd name="T26" fmla="*/ 28 w 89"/>
                <a:gd name="T27" fmla="*/ 84 h 86"/>
                <a:gd name="T28" fmla="*/ 13 w 89"/>
                <a:gd name="T29" fmla="*/ 73 h 86"/>
                <a:gd name="T30" fmla="*/ 4 w 89"/>
                <a:gd name="T31" fmla="*/ 60 h 86"/>
                <a:gd name="T32" fmla="*/ 0 w 89"/>
                <a:gd name="T33" fmla="*/ 43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6"/>
                <a:gd name="T53" fmla="*/ 89 w 89"/>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6">
                  <a:moveTo>
                    <a:pt x="0" y="43"/>
                  </a:moveTo>
                  <a:lnTo>
                    <a:pt x="4" y="26"/>
                  </a:lnTo>
                  <a:lnTo>
                    <a:pt x="13" y="13"/>
                  </a:lnTo>
                  <a:lnTo>
                    <a:pt x="28" y="2"/>
                  </a:lnTo>
                  <a:lnTo>
                    <a:pt x="45" y="0"/>
                  </a:lnTo>
                  <a:lnTo>
                    <a:pt x="61" y="2"/>
                  </a:lnTo>
                  <a:lnTo>
                    <a:pt x="76" y="13"/>
                  </a:lnTo>
                  <a:lnTo>
                    <a:pt x="84" y="26"/>
                  </a:lnTo>
                  <a:lnTo>
                    <a:pt x="89" y="43"/>
                  </a:lnTo>
                  <a:lnTo>
                    <a:pt x="84" y="60"/>
                  </a:lnTo>
                  <a:lnTo>
                    <a:pt x="76" y="73"/>
                  </a:lnTo>
                  <a:lnTo>
                    <a:pt x="61" y="84"/>
                  </a:lnTo>
                  <a:lnTo>
                    <a:pt x="45" y="86"/>
                  </a:lnTo>
                  <a:lnTo>
                    <a:pt x="28" y="84"/>
                  </a:lnTo>
                  <a:lnTo>
                    <a:pt x="13" y="73"/>
                  </a:lnTo>
                  <a:lnTo>
                    <a:pt x="4" y="60"/>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7" name="Freeform 94">
              <a:extLst>
                <a:ext uri="{FF2B5EF4-FFF2-40B4-BE49-F238E27FC236}">
                  <a16:creationId xmlns:a16="http://schemas.microsoft.com/office/drawing/2014/main" id="{7A6B1ED2-6B09-CFAB-FEF9-48DAF0790A2A}"/>
                </a:ext>
              </a:extLst>
            </p:cNvPr>
            <p:cNvSpPr>
              <a:spLocks noChangeAspect="1"/>
            </p:cNvSpPr>
            <p:nvPr/>
          </p:nvSpPr>
          <p:spPr bwMode="auto">
            <a:xfrm>
              <a:off x="1295" y="2683"/>
              <a:ext cx="89" cy="88"/>
            </a:xfrm>
            <a:custGeom>
              <a:avLst/>
              <a:gdLst>
                <a:gd name="T0" fmla="*/ 0 w 89"/>
                <a:gd name="T1" fmla="*/ 45 h 88"/>
                <a:gd name="T2" fmla="*/ 4 w 89"/>
                <a:gd name="T3" fmla="*/ 28 h 88"/>
                <a:gd name="T4" fmla="*/ 13 w 89"/>
                <a:gd name="T5" fmla="*/ 12 h 88"/>
                <a:gd name="T6" fmla="*/ 28 w 89"/>
                <a:gd name="T7" fmla="*/ 4 h 88"/>
                <a:gd name="T8" fmla="*/ 45 w 89"/>
                <a:gd name="T9" fmla="*/ 0 h 88"/>
                <a:gd name="T10" fmla="*/ 60 w 89"/>
                <a:gd name="T11" fmla="*/ 4 h 88"/>
                <a:gd name="T12" fmla="*/ 76 w 89"/>
                <a:gd name="T13" fmla="*/ 12 h 88"/>
                <a:gd name="T14" fmla="*/ 86 w 89"/>
                <a:gd name="T15" fmla="*/ 28 h 88"/>
                <a:gd name="T16" fmla="*/ 89 w 89"/>
                <a:gd name="T17" fmla="*/ 45 h 88"/>
                <a:gd name="T18" fmla="*/ 86 w 89"/>
                <a:gd name="T19" fmla="*/ 62 h 88"/>
                <a:gd name="T20" fmla="*/ 76 w 89"/>
                <a:gd name="T21" fmla="*/ 75 h 88"/>
                <a:gd name="T22" fmla="*/ 60 w 89"/>
                <a:gd name="T23" fmla="*/ 86 h 88"/>
                <a:gd name="T24" fmla="*/ 45 w 89"/>
                <a:gd name="T25" fmla="*/ 88 h 88"/>
                <a:gd name="T26" fmla="*/ 28 w 89"/>
                <a:gd name="T27" fmla="*/ 86 h 88"/>
                <a:gd name="T28" fmla="*/ 13 w 89"/>
                <a:gd name="T29" fmla="*/ 75 h 88"/>
                <a:gd name="T30" fmla="*/ 4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4" y="28"/>
                  </a:lnTo>
                  <a:lnTo>
                    <a:pt x="13" y="12"/>
                  </a:lnTo>
                  <a:lnTo>
                    <a:pt x="28" y="4"/>
                  </a:lnTo>
                  <a:lnTo>
                    <a:pt x="45" y="0"/>
                  </a:lnTo>
                  <a:lnTo>
                    <a:pt x="60" y="4"/>
                  </a:lnTo>
                  <a:lnTo>
                    <a:pt x="76" y="12"/>
                  </a:lnTo>
                  <a:lnTo>
                    <a:pt x="86" y="28"/>
                  </a:lnTo>
                  <a:lnTo>
                    <a:pt x="89" y="45"/>
                  </a:lnTo>
                  <a:lnTo>
                    <a:pt x="86" y="62"/>
                  </a:lnTo>
                  <a:lnTo>
                    <a:pt x="76" y="75"/>
                  </a:lnTo>
                  <a:lnTo>
                    <a:pt x="60" y="86"/>
                  </a:lnTo>
                  <a:lnTo>
                    <a:pt x="45" y="88"/>
                  </a:lnTo>
                  <a:lnTo>
                    <a:pt x="28" y="86"/>
                  </a:lnTo>
                  <a:lnTo>
                    <a:pt x="13" y="75"/>
                  </a:lnTo>
                  <a:lnTo>
                    <a:pt x="4"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8" name="Freeform 95">
              <a:extLst>
                <a:ext uri="{FF2B5EF4-FFF2-40B4-BE49-F238E27FC236}">
                  <a16:creationId xmlns:a16="http://schemas.microsoft.com/office/drawing/2014/main" id="{C49256E0-0696-4943-11B6-F0718F11C675}"/>
                </a:ext>
              </a:extLst>
            </p:cNvPr>
            <p:cNvSpPr>
              <a:spLocks noChangeAspect="1"/>
            </p:cNvSpPr>
            <p:nvPr/>
          </p:nvSpPr>
          <p:spPr bwMode="auto">
            <a:xfrm>
              <a:off x="471" y="1683"/>
              <a:ext cx="88" cy="88"/>
            </a:xfrm>
            <a:custGeom>
              <a:avLst/>
              <a:gdLst>
                <a:gd name="T0" fmla="*/ 0 w 88"/>
                <a:gd name="T1" fmla="*/ 45 h 88"/>
                <a:gd name="T2" fmla="*/ 4 w 88"/>
                <a:gd name="T3" fmla="*/ 28 h 88"/>
                <a:gd name="T4" fmla="*/ 13 w 88"/>
                <a:gd name="T5" fmla="*/ 13 h 88"/>
                <a:gd name="T6" fmla="*/ 28 w 88"/>
                <a:gd name="T7" fmla="*/ 4 h 88"/>
                <a:gd name="T8" fmla="*/ 45 w 88"/>
                <a:gd name="T9" fmla="*/ 0 h 88"/>
                <a:gd name="T10" fmla="*/ 60 w 88"/>
                <a:gd name="T11" fmla="*/ 4 h 88"/>
                <a:gd name="T12" fmla="*/ 75 w 88"/>
                <a:gd name="T13" fmla="*/ 13 h 88"/>
                <a:gd name="T14" fmla="*/ 84 w 88"/>
                <a:gd name="T15" fmla="*/ 28 h 88"/>
                <a:gd name="T16" fmla="*/ 88 w 88"/>
                <a:gd name="T17" fmla="*/ 45 h 88"/>
                <a:gd name="T18" fmla="*/ 84 w 88"/>
                <a:gd name="T19" fmla="*/ 60 h 88"/>
                <a:gd name="T20" fmla="*/ 75 w 88"/>
                <a:gd name="T21" fmla="*/ 75 h 88"/>
                <a:gd name="T22" fmla="*/ 60 w 88"/>
                <a:gd name="T23" fmla="*/ 86 h 88"/>
                <a:gd name="T24" fmla="*/ 45 w 88"/>
                <a:gd name="T25" fmla="*/ 88 h 88"/>
                <a:gd name="T26" fmla="*/ 28 w 88"/>
                <a:gd name="T27" fmla="*/ 86 h 88"/>
                <a:gd name="T28" fmla="*/ 13 w 88"/>
                <a:gd name="T29" fmla="*/ 75 h 88"/>
                <a:gd name="T30" fmla="*/ 4 w 88"/>
                <a:gd name="T31" fmla="*/ 60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4" y="28"/>
                  </a:lnTo>
                  <a:lnTo>
                    <a:pt x="13" y="13"/>
                  </a:lnTo>
                  <a:lnTo>
                    <a:pt x="28" y="4"/>
                  </a:lnTo>
                  <a:lnTo>
                    <a:pt x="45" y="0"/>
                  </a:lnTo>
                  <a:lnTo>
                    <a:pt x="60" y="4"/>
                  </a:lnTo>
                  <a:lnTo>
                    <a:pt x="75" y="13"/>
                  </a:lnTo>
                  <a:lnTo>
                    <a:pt x="84" y="28"/>
                  </a:lnTo>
                  <a:lnTo>
                    <a:pt x="88" y="45"/>
                  </a:lnTo>
                  <a:lnTo>
                    <a:pt x="84" y="60"/>
                  </a:lnTo>
                  <a:lnTo>
                    <a:pt x="75" y="75"/>
                  </a:lnTo>
                  <a:lnTo>
                    <a:pt x="60" y="86"/>
                  </a:lnTo>
                  <a:lnTo>
                    <a:pt x="45" y="88"/>
                  </a:lnTo>
                  <a:lnTo>
                    <a:pt x="28" y="86"/>
                  </a:lnTo>
                  <a:lnTo>
                    <a:pt x="13" y="75"/>
                  </a:lnTo>
                  <a:lnTo>
                    <a:pt x="4" y="60"/>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9" name="Freeform 96">
              <a:extLst>
                <a:ext uri="{FF2B5EF4-FFF2-40B4-BE49-F238E27FC236}">
                  <a16:creationId xmlns:a16="http://schemas.microsoft.com/office/drawing/2014/main" id="{59EBC603-9FA7-D6B7-42E6-53E32C58692E}"/>
                </a:ext>
              </a:extLst>
            </p:cNvPr>
            <p:cNvSpPr>
              <a:spLocks noChangeAspect="1"/>
            </p:cNvSpPr>
            <p:nvPr/>
          </p:nvSpPr>
          <p:spPr bwMode="auto">
            <a:xfrm>
              <a:off x="1652" y="2117"/>
              <a:ext cx="88" cy="88"/>
            </a:xfrm>
            <a:custGeom>
              <a:avLst/>
              <a:gdLst>
                <a:gd name="T0" fmla="*/ 0 w 88"/>
                <a:gd name="T1" fmla="*/ 45 h 88"/>
                <a:gd name="T2" fmla="*/ 2 w 88"/>
                <a:gd name="T3" fmla="*/ 28 h 88"/>
                <a:gd name="T4" fmla="*/ 13 w 88"/>
                <a:gd name="T5" fmla="*/ 13 h 88"/>
                <a:gd name="T6" fmla="*/ 26 w 88"/>
                <a:gd name="T7" fmla="*/ 4 h 88"/>
                <a:gd name="T8" fmla="*/ 43 w 88"/>
                <a:gd name="T9" fmla="*/ 0 h 88"/>
                <a:gd name="T10" fmla="*/ 60 w 88"/>
                <a:gd name="T11" fmla="*/ 4 h 88"/>
                <a:gd name="T12" fmla="*/ 75 w 88"/>
                <a:gd name="T13" fmla="*/ 13 h 88"/>
                <a:gd name="T14" fmla="*/ 84 w 88"/>
                <a:gd name="T15" fmla="*/ 28 h 88"/>
                <a:gd name="T16" fmla="*/ 88 w 88"/>
                <a:gd name="T17" fmla="*/ 45 h 88"/>
                <a:gd name="T18" fmla="*/ 84 w 88"/>
                <a:gd name="T19" fmla="*/ 62 h 88"/>
                <a:gd name="T20" fmla="*/ 75 w 88"/>
                <a:gd name="T21" fmla="*/ 75 h 88"/>
                <a:gd name="T22" fmla="*/ 60 w 88"/>
                <a:gd name="T23" fmla="*/ 86 h 88"/>
                <a:gd name="T24" fmla="*/ 43 w 88"/>
                <a:gd name="T25" fmla="*/ 88 h 88"/>
                <a:gd name="T26" fmla="*/ 26 w 88"/>
                <a:gd name="T27" fmla="*/ 86 h 88"/>
                <a:gd name="T28" fmla="*/ 13 w 88"/>
                <a:gd name="T29" fmla="*/ 75 h 88"/>
                <a:gd name="T30" fmla="*/ 2 w 88"/>
                <a:gd name="T31" fmla="*/ 62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2" y="28"/>
                  </a:lnTo>
                  <a:lnTo>
                    <a:pt x="13" y="13"/>
                  </a:lnTo>
                  <a:lnTo>
                    <a:pt x="26" y="4"/>
                  </a:lnTo>
                  <a:lnTo>
                    <a:pt x="43" y="0"/>
                  </a:lnTo>
                  <a:lnTo>
                    <a:pt x="60" y="4"/>
                  </a:lnTo>
                  <a:lnTo>
                    <a:pt x="75" y="13"/>
                  </a:lnTo>
                  <a:lnTo>
                    <a:pt x="84" y="28"/>
                  </a:lnTo>
                  <a:lnTo>
                    <a:pt x="88" y="45"/>
                  </a:lnTo>
                  <a:lnTo>
                    <a:pt x="84" y="62"/>
                  </a:lnTo>
                  <a:lnTo>
                    <a:pt x="75" y="75"/>
                  </a:lnTo>
                  <a:lnTo>
                    <a:pt x="60" y="86"/>
                  </a:lnTo>
                  <a:lnTo>
                    <a:pt x="43" y="88"/>
                  </a:lnTo>
                  <a:lnTo>
                    <a:pt x="26" y="86"/>
                  </a:lnTo>
                  <a:lnTo>
                    <a:pt x="13" y="75"/>
                  </a:lnTo>
                  <a:lnTo>
                    <a:pt x="2" y="62"/>
                  </a:lnTo>
                  <a:lnTo>
                    <a:pt x="0" y="45"/>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90" name="Freeform 97">
              <a:extLst>
                <a:ext uri="{FF2B5EF4-FFF2-40B4-BE49-F238E27FC236}">
                  <a16:creationId xmlns:a16="http://schemas.microsoft.com/office/drawing/2014/main" id="{2B0A2D92-104C-9DDE-03F1-17B46B9EEE0F}"/>
                </a:ext>
              </a:extLst>
            </p:cNvPr>
            <p:cNvSpPr>
              <a:spLocks noChangeAspect="1"/>
            </p:cNvSpPr>
            <p:nvPr/>
          </p:nvSpPr>
          <p:spPr bwMode="auto">
            <a:xfrm>
              <a:off x="2134" y="2177"/>
              <a:ext cx="89" cy="89"/>
            </a:xfrm>
            <a:custGeom>
              <a:avLst/>
              <a:gdLst>
                <a:gd name="T0" fmla="*/ 0 w 89"/>
                <a:gd name="T1" fmla="*/ 43 h 89"/>
                <a:gd name="T2" fmla="*/ 4 w 89"/>
                <a:gd name="T3" fmla="*/ 26 h 89"/>
                <a:gd name="T4" fmla="*/ 13 w 89"/>
                <a:gd name="T5" fmla="*/ 13 h 89"/>
                <a:gd name="T6" fmla="*/ 28 w 89"/>
                <a:gd name="T7" fmla="*/ 2 h 89"/>
                <a:gd name="T8" fmla="*/ 46 w 89"/>
                <a:gd name="T9" fmla="*/ 0 h 89"/>
                <a:gd name="T10" fmla="*/ 63 w 89"/>
                <a:gd name="T11" fmla="*/ 2 h 89"/>
                <a:gd name="T12" fmla="*/ 76 w 89"/>
                <a:gd name="T13" fmla="*/ 13 h 89"/>
                <a:gd name="T14" fmla="*/ 87 w 89"/>
                <a:gd name="T15" fmla="*/ 26 h 89"/>
                <a:gd name="T16" fmla="*/ 89 w 89"/>
                <a:gd name="T17" fmla="*/ 43 h 89"/>
                <a:gd name="T18" fmla="*/ 87 w 89"/>
                <a:gd name="T19" fmla="*/ 61 h 89"/>
                <a:gd name="T20" fmla="*/ 76 w 89"/>
                <a:gd name="T21" fmla="*/ 76 h 89"/>
                <a:gd name="T22" fmla="*/ 63 w 89"/>
                <a:gd name="T23" fmla="*/ 84 h 89"/>
                <a:gd name="T24" fmla="*/ 46 w 89"/>
                <a:gd name="T25" fmla="*/ 89 h 89"/>
                <a:gd name="T26" fmla="*/ 28 w 89"/>
                <a:gd name="T27" fmla="*/ 84 h 89"/>
                <a:gd name="T28" fmla="*/ 13 w 89"/>
                <a:gd name="T29" fmla="*/ 76 h 89"/>
                <a:gd name="T30" fmla="*/ 4 w 89"/>
                <a:gd name="T31" fmla="*/ 61 h 89"/>
                <a:gd name="T32" fmla="*/ 0 w 89"/>
                <a:gd name="T33" fmla="*/ 43 h 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9"/>
                <a:gd name="T53" fmla="*/ 89 w 89"/>
                <a:gd name="T54" fmla="*/ 89 h 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9">
                  <a:moveTo>
                    <a:pt x="0" y="43"/>
                  </a:moveTo>
                  <a:lnTo>
                    <a:pt x="4" y="26"/>
                  </a:lnTo>
                  <a:lnTo>
                    <a:pt x="13" y="13"/>
                  </a:lnTo>
                  <a:lnTo>
                    <a:pt x="28" y="2"/>
                  </a:lnTo>
                  <a:lnTo>
                    <a:pt x="46" y="0"/>
                  </a:lnTo>
                  <a:lnTo>
                    <a:pt x="63" y="2"/>
                  </a:lnTo>
                  <a:lnTo>
                    <a:pt x="76" y="13"/>
                  </a:lnTo>
                  <a:lnTo>
                    <a:pt x="87" y="26"/>
                  </a:lnTo>
                  <a:lnTo>
                    <a:pt x="89" y="43"/>
                  </a:lnTo>
                  <a:lnTo>
                    <a:pt x="87" y="61"/>
                  </a:lnTo>
                  <a:lnTo>
                    <a:pt x="76" y="76"/>
                  </a:lnTo>
                  <a:lnTo>
                    <a:pt x="63" y="84"/>
                  </a:lnTo>
                  <a:lnTo>
                    <a:pt x="46" y="89"/>
                  </a:lnTo>
                  <a:lnTo>
                    <a:pt x="28" y="84"/>
                  </a:lnTo>
                  <a:lnTo>
                    <a:pt x="13" y="76"/>
                  </a:lnTo>
                  <a:lnTo>
                    <a:pt x="4" y="61"/>
                  </a:lnTo>
                  <a:lnTo>
                    <a:pt x="0" y="43"/>
                  </a:lnTo>
                  <a:close/>
                </a:path>
              </a:pathLst>
            </a:custGeom>
            <a:solidFill>
              <a:srgbClr val="1A1A1A"/>
            </a:solidFill>
            <a:ln w="317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91" name="Rectangle 98">
              <a:extLst>
                <a:ext uri="{FF2B5EF4-FFF2-40B4-BE49-F238E27FC236}">
                  <a16:creationId xmlns:a16="http://schemas.microsoft.com/office/drawing/2014/main" id="{D4ABC9D2-0255-05E0-C0EE-22A5DF118091}"/>
                </a:ext>
              </a:extLst>
            </p:cNvPr>
            <p:cNvSpPr>
              <a:spLocks noChangeAspect="1" noChangeArrowheads="1"/>
            </p:cNvSpPr>
            <p:nvPr/>
          </p:nvSpPr>
          <p:spPr bwMode="auto">
            <a:xfrm>
              <a:off x="2033" y="1117"/>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1</a:t>
              </a:r>
              <a:endParaRPr lang="en-US" altLang="en-US" sz="1600" b="1">
                <a:latin typeface="Arial" panose="020B0604020202020204" pitchFamily="34" charset="0"/>
              </a:endParaRPr>
            </a:p>
          </p:txBody>
        </p:sp>
        <p:sp>
          <p:nvSpPr>
            <p:cNvPr id="31792" name="Rectangle 99">
              <a:extLst>
                <a:ext uri="{FF2B5EF4-FFF2-40B4-BE49-F238E27FC236}">
                  <a16:creationId xmlns:a16="http://schemas.microsoft.com/office/drawing/2014/main" id="{F6D612BF-89D3-5427-E3EE-AD821F260326}"/>
                </a:ext>
              </a:extLst>
            </p:cNvPr>
            <p:cNvSpPr>
              <a:spLocks noChangeAspect="1" noChangeArrowheads="1"/>
            </p:cNvSpPr>
            <p:nvPr/>
          </p:nvSpPr>
          <p:spPr bwMode="auto">
            <a:xfrm>
              <a:off x="1256" y="1765"/>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2</a:t>
              </a:r>
              <a:endParaRPr lang="en-US" altLang="en-US" sz="1600" b="1">
                <a:latin typeface="Arial" panose="020B0604020202020204" pitchFamily="34" charset="0"/>
              </a:endParaRPr>
            </a:p>
          </p:txBody>
        </p:sp>
        <p:sp>
          <p:nvSpPr>
            <p:cNvPr id="31793" name="Rectangle 100">
              <a:extLst>
                <a:ext uri="{FF2B5EF4-FFF2-40B4-BE49-F238E27FC236}">
                  <a16:creationId xmlns:a16="http://schemas.microsoft.com/office/drawing/2014/main" id="{3FB17740-EC06-4909-965E-D723CB4E19DE}"/>
                </a:ext>
              </a:extLst>
            </p:cNvPr>
            <p:cNvSpPr>
              <a:spLocks noChangeAspect="1" noChangeArrowheads="1"/>
            </p:cNvSpPr>
            <p:nvPr/>
          </p:nvSpPr>
          <p:spPr bwMode="auto">
            <a:xfrm>
              <a:off x="1810" y="2069"/>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3</a:t>
              </a:r>
              <a:endParaRPr lang="en-US" altLang="en-US" sz="1600" b="1">
                <a:latin typeface="Arial" panose="020B0604020202020204" pitchFamily="34" charset="0"/>
              </a:endParaRPr>
            </a:p>
          </p:txBody>
        </p:sp>
        <p:sp>
          <p:nvSpPr>
            <p:cNvPr id="31794" name="Rectangle 101">
              <a:extLst>
                <a:ext uri="{FF2B5EF4-FFF2-40B4-BE49-F238E27FC236}">
                  <a16:creationId xmlns:a16="http://schemas.microsoft.com/office/drawing/2014/main" id="{E052F724-D6CB-CD71-3D1E-20C039048521}"/>
                </a:ext>
              </a:extLst>
            </p:cNvPr>
            <p:cNvSpPr>
              <a:spLocks noChangeAspect="1" noChangeArrowheads="1"/>
            </p:cNvSpPr>
            <p:nvPr/>
          </p:nvSpPr>
          <p:spPr bwMode="auto">
            <a:xfrm>
              <a:off x="1422" y="2635"/>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4</a:t>
              </a:r>
              <a:endParaRPr lang="en-US" altLang="en-US" sz="1600" b="1">
                <a:latin typeface="Arial" panose="020B0604020202020204" pitchFamily="34" charset="0"/>
              </a:endParaRPr>
            </a:p>
          </p:txBody>
        </p:sp>
        <p:sp>
          <p:nvSpPr>
            <p:cNvPr id="31795" name="Rectangle 102">
              <a:extLst>
                <a:ext uri="{FF2B5EF4-FFF2-40B4-BE49-F238E27FC236}">
                  <a16:creationId xmlns:a16="http://schemas.microsoft.com/office/drawing/2014/main" id="{5BD84A7D-F116-587D-9C1D-D775999A3F1B}"/>
                </a:ext>
              </a:extLst>
            </p:cNvPr>
            <p:cNvSpPr>
              <a:spLocks noChangeAspect="1" noChangeArrowheads="1"/>
            </p:cNvSpPr>
            <p:nvPr/>
          </p:nvSpPr>
          <p:spPr bwMode="auto">
            <a:xfrm>
              <a:off x="648" y="1626"/>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5</a:t>
              </a:r>
              <a:endParaRPr lang="en-US" altLang="en-US" sz="1600" b="1">
                <a:latin typeface="Arial" panose="020B0604020202020204" pitchFamily="34" charset="0"/>
              </a:endParaRPr>
            </a:p>
          </p:txBody>
        </p:sp>
        <p:sp>
          <p:nvSpPr>
            <p:cNvPr id="31796" name="Rectangle 103">
              <a:extLst>
                <a:ext uri="{FF2B5EF4-FFF2-40B4-BE49-F238E27FC236}">
                  <a16:creationId xmlns:a16="http://schemas.microsoft.com/office/drawing/2014/main" id="{68E62783-4368-5ADA-B0FB-414A6F74D63E}"/>
                </a:ext>
              </a:extLst>
            </p:cNvPr>
            <p:cNvSpPr>
              <a:spLocks noChangeAspect="1" noChangeArrowheads="1"/>
            </p:cNvSpPr>
            <p:nvPr/>
          </p:nvSpPr>
          <p:spPr bwMode="auto">
            <a:xfrm>
              <a:off x="2307" y="2126"/>
              <a:ext cx="10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000000"/>
                  </a:solidFill>
                </a:rPr>
                <a:t>6</a:t>
              </a:r>
              <a:endParaRPr lang="en-US" altLang="en-US" sz="1600" b="1">
                <a:latin typeface="Arial" panose="020B0604020202020204" pitchFamily="34" charset="0"/>
              </a:endParaRPr>
            </a:p>
          </p:txBody>
        </p:sp>
      </p:grpSp>
      <p:grpSp>
        <p:nvGrpSpPr>
          <p:cNvPr id="21" name="Group 104">
            <a:extLst>
              <a:ext uri="{FF2B5EF4-FFF2-40B4-BE49-F238E27FC236}">
                <a16:creationId xmlns:a16="http://schemas.microsoft.com/office/drawing/2014/main" id="{D327C9D2-5CDB-ABBC-A84D-858198845EC3}"/>
              </a:ext>
            </a:extLst>
          </p:cNvPr>
          <p:cNvGrpSpPr>
            <a:grpSpLocks noChangeAspect="1"/>
          </p:cNvGrpSpPr>
          <p:nvPr/>
        </p:nvGrpSpPr>
        <p:grpSpPr bwMode="auto">
          <a:xfrm>
            <a:off x="3695702" y="2070100"/>
            <a:ext cx="923925" cy="592138"/>
            <a:chOff x="1572" y="1805"/>
            <a:chExt cx="897" cy="575"/>
          </a:xfrm>
        </p:grpSpPr>
        <p:sp>
          <p:nvSpPr>
            <p:cNvPr id="31783" name="Freeform 105">
              <a:extLst>
                <a:ext uri="{FF2B5EF4-FFF2-40B4-BE49-F238E27FC236}">
                  <a16:creationId xmlns:a16="http://schemas.microsoft.com/office/drawing/2014/main" id="{C094FF34-F6D7-7F09-5C32-DDA05B6F1C9B}"/>
                </a:ext>
              </a:extLst>
            </p:cNvPr>
            <p:cNvSpPr>
              <a:spLocks noChangeAspect="1"/>
            </p:cNvSpPr>
            <p:nvPr/>
          </p:nvSpPr>
          <p:spPr bwMode="auto">
            <a:xfrm>
              <a:off x="1572" y="2005"/>
              <a:ext cx="897" cy="375"/>
            </a:xfrm>
            <a:custGeom>
              <a:avLst/>
              <a:gdLst>
                <a:gd name="T0" fmla="*/ 450 w 897"/>
                <a:gd name="T1" fmla="*/ 0 h 375"/>
                <a:gd name="T2" fmla="*/ 510 w 897"/>
                <a:gd name="T3" fmla="*/ 2 h 375"/>
                <a:gd name="T4" fmla="*/ 571 w 897"/>
                <a:gd name="T5" fmla="*/ 6 h 375"/>
                <a:gd name="T6" fmla="*/ 629 w 897"/>
                <a:gd name="T7" fmla="*/ 15 h 375"/>
                <a:gd name="T8" fmla="*/ 683 w 897"/>
                <a:gd name="T9" fmla="*/ 28 h 375"/>
                <a:gd name="T10" fmla="*/ 733 w 897"/>
                <a:gd name="T11" fmla="*/ 43 h 375"/>
                <a:gd name="T12" fmla="*/ 778 w 897"/>
                <a:gd name="T13" fmla="*/ 60 h 375"/>
                <a:gd name="T14" fmla="*/ 817 w 897"/>
                <a:gd name="T15" fmla="*/ 79 h 375"/>
                <a:gd name="T16" fmla="*/ 850 w 897"/>
                <a:gd name="T17" fmla="*/ 101 h 375"/>
                <a:gd name="T18" fmla="*/ 874 w 897"/>
                <a:gd name="T19" fmla="*/ 125 h 375"/>
                <a:gd name="T20" fmla="*/ 891 w 897"/>
                <a:gd name="T21" fmla="*/ 149 h 375"/>
                <a:gd name="T22" fmla="*/ 897 w 897"/>
                <a:gd name="T23" fmla="*/ 174 h 375"/>
                <a:gd name="T24" fmla="*/ 897 w 897"/>
                <a:gd name="T25" fmla="*/ 200 h 375"/>
                <a:gd name="T26" fmla="*/ 891 w 897"/>
                <a:gd name="T27" fmla="*/ 226 h 375"/>
                <a:gd name="T28" fmla="*/ 874 w 897"/>
                <a:gd name="T29" fmla="*/ 250 h 375"/>
                <a:gd name="T30" fmla="*/ 850 w 897"/>
                <a:gd name="T31" fmla="*/ 274 h 375"/>
                <a:gd name="T32" fmla="*/ 817 w 897"/>
                <a:gd name="T33" fmla="*/ 295 h 375"/>
                <a:gd name="T34" fmla="*/ 778 w 897"/>
                <a:gd name="T35" fmla="*/ 315 h 375"/>
                <a:gd name="T36" fmla="*/ 733 w 897"/>
                <a:gd name="T37" fmla="*/ 332 h 375"/>
                <a:gd name="T38" fmla="*/ 683 w 897"/>
                <a:gd name="T39" fmla="*/ 347 h 375"/>
                <a:gd name="T40" fmla="*/ 629 w 897"/>
                <a:gd name="T41" fmla="*/ 360 h 375"/>
                <a:gd name="T42" fmla="*/ 571 w 897"/>
                <a:gd name="T43" fmla="*/ 369 h 375"/>
                <a:gd name="T44" fmla="*/ 510 w 897"/>
                <a:gd name="T45" fmla="*/ 373 h 375"/>
                <a:gd name="T46" fmla="*/ 450 w 897"/>
                <a:gd name="T47" fmla="*/ 375 h 375"/>
                <a:gd name="T48" fmla="*/ 387 w 897"/>
                <a:gd name="T49" fmla="*/ 373 h 375"/>
                <a:gd name="T50" fmla="*/ 329 w 897"/>
                <a:gd name="T51" fmla="*/ 369 h 375"/>
                <a:gd name="T52" fmla="*/ 270 w 897"/>
                <a:gd name="T53" fmla="*/ 360 h 375"/>
                <a:gd name="T54" fmla="*/ 216 w 897"/>
                <a:gd name="T55" fmla="*/ 347 h 375"/>
                <a:gd name="T56" fmla="*/ 164 w 897"/>
                <a:gd name="T57" fmla="*/ 332 h 375"/>
                <a:gd name="T58" fmla="*/ 121 w 897"/>
                <a:gd name="T59" fmla="*/ 315 h 375"/>
                <a:gd name="T60" fmla="*/ 82 w 897"/>
                <a:gd name="T61" fmla="*/ 295 h 375"/>
                <a:gd name="T62" fmla="*/ 49 w 897"/>
                <a:gd name="T63" fmla="*/ 274 h 375"/>
                <a:gd name="T64" fmla="*/ 26 w 897"/>
                <a:gd name="T65" fmla="*/ 250 h 375"/>
                <a:gd name="T66" fmla="*/ 8 w 897"/>
                <a:gd name="T67" fmla="*/ 226 h 375"/>
                <a:gd name="T68" fmla="*/ 0 w 897"/>
                <a:gd name="T69" fmla="*/ 200 h 375"/>
                <a:gd name="T70" fmla="*/ 0 w 897"/>
                <a:gd name="T71" fmla="*/ 174 h 375"/>
                <a:gd name="T72" fmla="*/ 8 w 897"/>
                <a:gd name="T73" fmla="*/ 149 h 375"/>
                <a:gd name="T74" fmla="*/ 26 w 897"/>
                <a:gd name="T75" fmla="*/ 125 h 375"/>
                <a:gd name="T76" fmla="*/ 49 w 897"/>
                <a:gd name="T77" fmla="*/ 101 h 375"/>
                <a:gd name="T78" fmla="*/ 82 w 897"/>
                <a:gd name="T79" fmla="*/ 79 h 375"/>
                <a:gd name="T80" fmla="*/ 121 w 897"/>
                <a:gd name="T81" fmla="*/ 60 h 375"/>
                <a:gd name="T82" fmla="*/ 164 w 897"/>
                <a:gd name="T83" fmla="*/ 43 h 375"/>
                <a:gd name="T84" fmla="*/ 216 w 897"/>
                <a:gd name="T85" fmla="*/ 28 h 375"/>
                <a:gd name="T86" fmla="*/ 270 w 897"/>
                <a:gd name="T87" fmla="*/ 15 h 375"/>
                <a:gd name="T88" fmla="*/ 329 w 897"/>
                <a:gd name="T89" fmla="*/ 6 h 375"/>
                <a:gd name="T90" fmla="*/ 387 w 897"/>
                <a:gd name="T91" fmla="*/ 2 h 375"/>
                <a:gd name="T92" fmla="*/ 450 w 897"/>
                <a:gd name="T93" fmla="*/ 0 h 3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7"/>
                <a:gd name="T142" fmla="*/ 0 h 375"/>
                <a:gd name="T143" fmla="*/ 897 w 897"/>
                <a:gd name="T144" fmla="*/ 375 h 3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7" h="375">
                  <a:moveTo>
                    <a:pt x="450" y="0"/>
                  </a:moveTo>
                  <a:lnTo>
                    <a:pt x="510" y="2"/>
                  </a:lnTo>
                  <a:lnTo>
                    <a:pt x="571" y="6"/>
                  </a:lnTo>
                  <a:lnTo>
                    <a:pt x="629" y="15"/>
                  </a:lnTo>
                  <a:lnTo>
                    <a:pt x="683" y="28"/>
                  </a:lnTo>
                  <a:lnTo>
                    <a:pt x="733" y="43"/>
                  </a:lnTo>
                  <a:lnTo>
                    <a:pt x="778" y="60"/>
                  </a:lnTo>
                  <a:lnTo>
                    <a:pt x="817" y="79"/>
                  </a:lnTo>
                  <a:lnTo>
                    <a:pt x="850" y="101"/>
                  </a:lnTo>
                  <a:lnTo>
                    <a:pt x="874" y="125"/>
                  </a:lnTo>
                  <a:lnTo>
                    <a:pt x="891" y="149"/>
                  </a:lnTo>
                  <a:lnTo>
                    <a:pt x="897" y="174"/>
                  </a:lnTo>
                  <a:lnTo>
                    <a:pt x="897" y="200"/>
                  </a:lnTo>
                  <a:lnTo>
                    <a:pt x="891" y="226"/>
                  </a:lnTo>
                  <a:lnTo>
                    <a:pt x="874" y="250"/>
                  </a:lnTo>
                  <a:lnTo>
                    <a:pt x="850" y="274"/>
                  </a:lnTo>
                  <a:lnTo>
                    <a:pt x="817" y="295"/>
                  </a:lnTo>
                  <a:lnTo>
                    <a:pt x="778" y="315"/>
                  </a:lnTo>
                  <a:lnTo>
                    <a:pt x="733" y="332"/>
                  </a:lnTo>
                  <a:lnTo>
                    <a:pt x="683" y="347"/>
                  </a:lnTo>
                  <a:lnTo>
                    <a:pt x="629" y="360"/>
                  </a:lnTo>
                  <a:lnTo>
                    <a:pt x="571" y="369"/>
                  </a:lnTo>
                  <a:lnTo>
                    <a:pt x="510" y="373"/>
                  </a:lnTo>
                  <a:lnTo>
                    <a:pt x="450" y="375"/>
                  </a:lnTo>
                  <a:lnTo>
                    <a:pt x="387" y="373"/>
                  </a:lnTo>
                  <a:lnTo>
                    <a:pt x="329" y="369"/>
                  </a:lnTo>
                  <a:lnTo>
                    <a:pt x="270" y="360"/>
                  </a:lnTo>
                  <a:lnTo>
                    <a:pt x="216" y="347"/>
                  </a:lnTo>
                  <a:lnTo>
                    <a:pt x="164" y="332"/>
                  </a:lnTo>
                  <a:lnTo>
                    <a:pt x="121" y="315"/>
                  </a:lnTo>
                  <a:lnTo>
                    <a:pt x="82" y="295"/>
                  </a:lnTo>
                  <a:lnTo>
                    <a:pt x="49" y="274"/>
                  </a:lnTo>
                  <a:lnTo>
                    <a:pt x="26" y="250"/>
                  </a:lnTo>
                  <a:lnTo>
                    <a:pt x="8" y="226"/>
                  </a:lnTo>
                  <a:lnTo>
                    <a:pt x="0" y="200"/>
                  </a:lnTo>
                  <a:lnTo>
                    <a:pt x="0" y="174"/>
                  </a:lnTo>
                  <a:lnTo>
                    <a:pt x="8" y="149"/>
                  </a:lnTo>
                  <a:lnTo>
                    <a:pt x="26" y="125"/>
                  </a:lnTo>
                  <a:lnTo>
                    <a:pt x="49" y="101"/>
                  </a:lnTo>
                  <a:lnTo>
                    <a:pt x="82" y="79"/>
                  </a:lnTo>
                  <a:lnTo>
                    <a:pt x="121" y="60"/>
                  </a:lnTo>
                  <a:lnTo>
                    <a:pt x="164" y="43"/>
                  </a:lnTo>
                  <a:lnTo>
                    <a:pt x="216" y="28"/>
                  </a:lnTo>
                  <a:lnTo>
                    <a:pt x="270" y="15"/>
                  </a:lnTo>
                  <a:lnTo>
                    <a:pt x="329" y="6"/>
                  </a:lnTo>
                  <a:lnTo>
                    <a:pt x="387" y="2"/>
                  </a:lnTo>
                  <a:lnTo>
                    <a:pt x="45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4" name="Rectangle 106">
              <a:extLst>
                <a:ext uri="{FF2B5EF4-FFF2-40B4-BE49-F238E27FC236}">
                  <a16:creationId xmlns:a16="http://schemas.microsoft.com/office/drawing/2014/main" id="{453A817E-D808-4C51-F068-DFD3638738EC}"/>
                </a:ext>
              </a:extLst>
            </p:cNvPr>
            <p:cNvSpPr>
              <a:spLocks noChangeAspect="1" noChangeArrowheads="1"/>
            </p:cNvSpPr>
            <p:nvPr/>
          </p:nvSpPr>
          <p:spPr bwMode="auto">
            <a:xfrm>
              <a:off x="1943" y="1805"/>
              <a:ext cx="11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1</a:t>
              </a:r>
              <a:endParaRPr lang="en-US" altLang="en-US" sz="1600" b="1">
                <a:latin typeface="Arial" panose="020B0604020202020204" pitchFamily="34" charset="0"/>
              </a:endParaRPr>
            </a:p>
          </p:txBody>
        </p:sp>
      </p:grpSp>
      <p:grpSp>
        <p:nvGrpSpPr>
          <p:cNvPr id="22" name="Group 107">
            <a:extLst>
              <a:ext uri="{FF2B5EF4-FFF2-40B4-BE49-F238E27FC236}">
                <a16:creationId xmlns:a16="http://schemas.microsoft.com/office/drawing/2014/main" id="{25C1726B-22A8-6236-8590-8C1B9CF61C07}"/>
              </a:ext>
            </a:extLst>
          </p:cNvPr>
          <p:cNvGrpSpPr>
            <a:grpSpLocks noChangeAspect="1"/>
          </p:cNvGrpSpPr>
          <p:nvPr/>
        </p:nvGrpSpPr>
        <p:grpSpPr bwMode="auto">
          <a:xfrm>
            <a:off x="2419352" y="1825627"/>
            <a:ext cx="1125537" cy="745011"/>
            <a:chOff x="332" y="1568"/>
            <a:chExt cx="1093" cy="723"/>
          </a:xfrm>
        </p:grpSpPr>
        <p:sp>
          <p:nvSpPr>
            <p:cNvPr id="31781" name="Freeform 108">
              <a:extLst>
                <a:ext uri="{FF2B5EF4-FFF2-40B4-BE49-F238E27FC236}">
                  <a16:creationId xmlns:a16="http://schemas.microsoft.com/office/drawing/2014/main" id="{D313AC44-4E40-82A7-31AD-2F98A4C53378}"/>
                </a:ext>
              </a:extLst>
            </p:cNvPr>
            <p:cNvSpPr>
              <a:spLocks noChangeAspect="1"/>
            </p:cNvSpPr>
            <p:nvPr/>
          </p:nvSpPr>
          <p:spPr bwMode="auto">
            <a:xfrm>
              <a:off x="332" y="1568"/>
              <a:ext cx="1093" cy="497"/>
            </a:xfrm>
            <a:custGeom>
              <a:avLst/>
              <a:gdLst>
                <a:gd name="T0" fmla="*/ 547 w 1093"/>
                <a:gd name="T1" fmla="*/ 0 h 497"/>
                <a:gd name="T2" fmla="*/ 615 w 1093"/>
                <a:gd name="T3" fmla="*/ 3 h 497"/>
                <a:gd name="T4" fmla="*/ 684 w 1093"/>
                <a:gd name="T5" fmla="*/ 7 h 497"/>
                <a:gd name="T6" fmla="*/ 749 w 1093"/>
                <a:gd name="T7" fmla="*/ 18 h 497"/>
                <a:gd name="T8" fmla="*/ 811 w 1093"/>
                <a:gd name="T9" fmla="*/ 31 h 497"/>
                <a:gd name="T10" fmla="*/ 868 w 1093"/>
                <a:gd name="T11" fmla="*/ 48 h 497"/>
                <a:gd name="T12" fmla="*/ 922 w 1093"/>
                <a:gd name="T13" fmla="*/ 67 h 497"/>
                <a:gd name="T14" fmla="*/ 969 w 1093"/>
                <a:gd name="T15" fmla="*/ 91 h 497"/>
                <a:gd name="T16" fmla="*/ 1008 w 1093"/>
                <a:gd name="T17" fmla="*/ 115 h 497"/>
                <a:gd name="T18" fmla="*/ 1043 w 1093"/>
                <a:gd name="T19" fmla="*/ 143 h 497"/>
                <a:gd name="T20" fmla="*/ 1067 w 1093"/>
                <a:gd name="T21" fmla="*/ 171 h 497"/>
                <a:gd name="T22" fmla="*/ 1084 w 1093"/>
                <a:gd name="T23" fmla="*/ 201 h 497"/>
                <a:gd name="T24" fmla="*/ 1093 w 1093"/>
                <a:gd name="T25" fmla="*/ 234 h 497"/>
                <a:gd name="T26" fmla="*/ 1093 w 1093"/>
                <a:gd name="T27" fmla="*/ 264 h 497"/>
                <a:gd name="T28" fmla="*/ 1084 w 1093"/>
                <a:gd name="T29" fmla="*/ 294 h 497"/>
                <a:gd name="T30" fmla="*/ 1067 w 1093"/>
                <a:gd name="T31" fmla="*/ 324 h 497"/>
                <a:gd name="T32" fmla="*/ 1043 w 1093"/>
                <a:gd name="T33" fmla="*/ 354 h 497"/>
                <a:gd name="T34" fmla="*/ 1008 w 1093"/>
                <a:gd name="T35" fmla="*/ 383 h 497"/>
                <a:gd name="T36" fmla="*/ 969 w 1093"/>
                <a:gd name="T37" fmla="*/ 406 h 497"/>
                <a:gd name="T38" fmla="*/ 922 w 1093"/>
                <a:gd name="T39" fmla="*/ 430 h 497"/>
                <a:gd name="T40" fmla="*/ 868 w 1093"/>
                <a:gd name="T41" fmla="*/ 449 h 497"/>
                <a:gd name="T42" fmla="*/ 811 w 1093"/>
                <a:gd name="T43" fmla="*/ 467 h 497"/>
                <a:gd name="T44" fmla="*/ 749 w 1093"/>
                <a:gd name="T45" fmla="*/ 480 h 497"/>
                <a:gd name="T46" fmla="*/ 684 w 1093"/>
                <a:gd name="T47" fmla="*/ 488 h 497"/>
                <a:gd name="T48" fmla="*/ 615 w 1093"/>
                <a:gd name="T49" fmla="*/ 495 h 497"/>
                <a:gd name="T50" fmla="*/ 547 w 1093"/>
                <a:gd name="T51" fmla="*/ 497 h 497"/>
                <a:gd name="T52" fmla="*/ 478 w 1093"/>
                <a:gd name="T53" fmla="*/ 495 h 497"/>
                <a:gd name="T54" fmla="*/ 411 w 1093"/>
                <a:gd name="T55" fmla="*/ 488 h 497"/>
                <a:gd name="T56" fmla="*/ 346 w 1093"/>
                <a:gd name="T57" fmla="*/ 480 h 497"/>
                <a:gd name="T58" fmla="*/ 284 w 1093"/>
                <a:gd name="T59" fmla="*/ 467 h 497"/>
                <a:gd name="T60" fmla="*/ 225 w 1093"/>
                <a:gd name="T61" fmla="*/ 449 h 497"/>
                <a:gd name="T62" fmla="*/ 173 w 1093"/>
                <a:gd name="T63" fmla="*/ 430 h 497"/>
                <a:gd name="T64" fmla="*/ 126 w 1093"/>
                <a:gd name="T65" fmla="*/ 406 h 497"/>
                <a:gd name="T66" fmla="*/ 85 w 1093"/>
                <a:gd name="T67" fmla="*/ 383 h 497"/>
                <a:gd name="T68" fmla="*/ 52 w 1093"/>
                <a:gd name="T69" fmla="*/ 354 h 497"/>
                <a:gd name="T70" fmla="*/ 26 w 1093"/>
                <a:gd name="T71" fmla="*/ 324 h 497"/>
                <a:gd name="T72" fmla="*/ 9 w 1093"/>
                <a:gd name="T73" fmla="*/ 294 h 497"/>
                <a:gd name="T74" fmla="*/ 0 w 1093"/>
                <a:gd name="T75" fmla="*/ 264 h 497"/>
                <a:gd name="T76" fmla="*/ 0 w 1093"/>
                <a:gd name="T77" fmla="*/ 234 h 497"/>
                <a:gd name="T78" fmla="*/ 9 w 1093"/>
                <a:gd name="T79" fmla="*/ 201 h 497"/>
                <a:gd name="T80" fmla="*/ 26 w 1093"/>
                <a:gd name="T81" fmla="*/ 171 h 497"/>
                <a:gd name="T82" fmla="*/ 52 w 1093"/>
                <a:gd name="T83" fmla="*/ 143 h 497"/>
                <a:gd name="T84" fmla="*/ 85 w 1093"/>
                <a:gd name="T85" fmla="*/ 115 h 497"/>
                <a:gd name="T86" fmla="*/ 126 w 1093"/>
                <a:gd name="T87" fmla="*/ 91 h 497"/>
                <a:gd name="T88" fmla="*/ 173 w 1093"/>
                <a:gd name="T89" fmla="*/ 67 h 497"/>
                <a:gd name="T90" fmla="*/ 225 w 1093"/>
                <a:gd name="T91" fmla="*/ 48 h 497"/>
                <a:gd name="T92" fmla="*/ 284 w 1093"/>
                <a:gd name="T93" fmla="*/ 31 h 497"/>
                <a:gd name="T94" fmla="*/ 346 w 1093"/>
                <a:gd name="T95" fmla="*/ 18 h 497"/>
                <a:gd name="T96" fmla="*/ 411 w 1093"/>
                <a:gd name="T97" fmla="*/ 7 h 497"/>
                <a:gd name="T98" fmla="*/ 478 w 1093"/>
                <a:gd name="T99" fmla="*/ 3 h 497"/>
                <a:gd name="T100" fmla="*/ 547 w 1093"/>
                <a:gd name="T101" fmla="*/ 0 h 4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93"/>
                <a:gd name="T154" fmla="*/ 0 h 497"/>
                <a:gd name="T155" fmla="*/ 1093 w 1093"/>
                <a:gd name="T156" fmla="*/ 497 h 4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93" h="497">
                  <a:moveTo>
                    <a:pt x="547" y="0"/>
                  </a:moveTo>
                  <a:lnTo>
                    <a:pt x="615" y="3"/>
                  </a:lnTo>
                  <a:lnTo>
                    <a:pt x="684" y="7"/>
                  </a:lnTo>
                  <a:lnTo>
                    <a:pt x="749" y="18"/>
                  </a:lnTo>
                  <a:lnTo>
                    <a:pt x="811" y="31"/>
                  </a:lnTo>
                  <a:lnTo>
                    <a:pt x="868" y="48"/>
                  </a:lnTo>
                  <a:lnTo>
                    <a:pt x="922" y="67"/>
                  </a:lnTo>
                  <a:lnTo>
                    <a:pt x="969" y="91"/>
                  </a:lnTo>
                  <a:lnTo>
                    <a:pt x="1008" y="115"/>
                  </a:lnTo>
                  <a:lnTo>
                    <a:pt x="1043" y="143"/>
                  </a:lnTo>
                  <a:lnTo>
                    <a:pt x="1067" y="171"/>
                  </a:lnTo>
                  <a:lnTo>
                    <a:pt x="1084" y="201"/>
                  </a:lnTo>
                  <a:lnTo>
                    <a:pt x="1093" y="234"/>
                  </a:lnTo>
                  <a:lnTo>
                    <a:pt x="1093" y="264"/>
                  </a:lnTo>
                  <a:lnTo>
                    <a:pt x="1084" y="294"/>
                  </a:lnTo>
                  <a:lnTo>
                    <a:pt x="1067" y="324"/>
                  </a:lnTo>
                  <a:lnTo>
                    <a:pt x="1043" y="354"/>
                  </a:lnTo>
                  <a:lnTo>
                    <a:pt x="1008" y="383"/>
                  </a:lnTo>
                  <a:lnTo>
                    <a:pt x="969" y="406"/>
                  </a:lnTo>
                  <a:lnTo>
                    <a:pt x="922" y="430"/>
                  </a:lnTo>
                  <a:lnTo>
                    <a:pt x="868" y="449"/>
                  </a:lnTo>
                  <a:lnTo>
                    <a:pt x="811" y="467"/>
                  </a:lnTo>
                  <a:lnTo>
                    <a:pt x="749" y="480"/>
                  </a:lnTo>
                  <a:lnTo>
                    <a:pt x="684" y="488"/>
                  </a:lnTo>
                  <a:lnTo>
                    <a:pt x="615" y="495"/>
                  </a:lnTo>
                  <a:lnTo>
                    <a:pt x="547" y="497"/>
                  </a:lnTo>
                  <a:lnTo>
                    <a:pt x="478" y="495"/>
                  </a:lnTo>
                  <a:lnTo>
                    <a:pt x="411" y="488"/>
                  </a:lnTo>
                  <a:lnTo>
                    <a:pt x="346" y="480"/>
                  </a:lnTo>
                  <a:lnTo>
                    <a:pt x="284" y="467"/>
                  </a:lnTo>
                  <a:lnTo>
                    <a:pt x="225" y="449"/>
                  </a:lnTo>
                  <a:lnTo>
                    <a:pt x="173" y="430"/>
                  </a:lnTo>
                  <a:lnTo>
                    <a:pt x="126" y="406"/>
                  </a:lnTo>
                  <a:lnTo>
                    <a:pt x="85" y="383"/>
                  </a:lnTo>
                  <a:lnTo>
                    <a:pt x="52" y="354"/>
                  </a:lnTo>
                  <a:lnTo>
                    <a:pt x="26" y="324"/>
                  </a:lnTo>
                  <a:lnTo>
                    <a:pt x="9" y="294"/>
                  </a:lnTo>
                  <a:lnTo>
                    <a:pt x="0" y="264"/>
                  </a:lnTo>
                  <a:lnTo>
                    <a:pt x="0" y="234"/>
                  </a:lnTo>
                  <a:lnTo>
                    <a:pt x="9" y="201"/>
                  </a:lnTo>
                  <a:lnTo>
                    <a:pt x="26" y="171"/>
                  </a:lnTo>
                  <a:lnTo>
                    <a:pt x="52" y="143"/>
                  </a:lnTo>
                  <a:lnTo>
                    <a:pt x="85" y="115"/>
                  </a:lnTo>
                  <a:lnTo>
                    <a:pt x="126" y="91"/>
                  </a:lnTo>
                  <a:lnTo>
                    <a:pt x="173" y="67"/>
                  </a:lnTo>
                  <a:lnTo>
                    <a:pt x="225" y="48"/>
                  </a:lnTo>
                  <a:lnTo>
                    <a:pt x="284" y="31"/>
                  </a:lnTo>
                  <a:lnTo>
                    <a:pt x="346" y="18"/>
                  </a:lnTo>
                  <a:lnTo>
                    <a:pt x="411" y="7"/>
                  </a:lnTo>
                  <a:lnTo>
                    <a:pt x="478" y="3"/>
                  </a:lnTo>
                  <a:lnTo>
                    <a:pt x="547"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2" name="Rectangle 109">
              <a:extLst>
                <a:ext uri="{FF2B5EF4-FFF2-40B4-BE49-F238E27FC236}">
                  <a16:creationId xmlns:a16="http://schemas.microsoft.com/office/drawing/2014/main" id="{4B24E019-007B-3639-D525-A5BB93C24C28}"/>
                </a:ext>
              </a:extLst>
            </p:cNvPr>
            <p:cNvSpPr>
              <a:spLocks noChangeAspect="1" noChangeArrowheads="1"/>
            </p:cNvSpPr>
            <p:nvPr/>
          </p:nvSpPr>
          <p:spPr bwMode="auto">
            <a:xfrm>
              <a:off x="949" y="2052"/>
              <a:ext cx="11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2</a:t>
              </a:r>
              <a:endParaRPr lang="en-US" altLang="en-US" sz="1600" b="1">
                <a:latin typeface="Arial" panose="020B0604020202020204" pitchFamily="34" charset="0"/>
              </a:endParaRPr>
            </a:p>
          </p:txBody>
        </p:sp>
      </p:grpSp>
      <p:grpSp>
        <p:nvGrpSpPr>
          <p:cNvPr id="23" name="Group 110">
            <a:extLst>
              <a:ext uri="{FF2B5EF4-FFF2-40B4-BE49-F238E27FC236}">
                <a16:creationId xmlns:a16="http://schemas.microsoft.com/office/drawing/2014/main" id="{609EBD21-69E3-5718-7E83-321BA0563B95}"/>
              </a:ext>
            </a:extLst>
          </p:cNvPr>
          <p:cNvGrpSpPr>
            <a:grpSpLocks noChangeAspect="1"/>
          </p:cNvGrpSpPr>
          <p:nvPr/>
        </p:nvGrpSpPr>
        <p:grpSpPr bwMode="auto">
          <a:xfrm>
            <a:off x="2366962" y="1555750"/>
            <a:ext cx="2382838" cy="1358900"/>
            <a:chOff x="280" y="1305"/>
            <a:chExt cx="2315" cy="1321"/>
          </a:xfrm>
        </p:grpSpPr>
        <p:sp>
          <p:nvSpPr>
            <p:cNvPr id="31779" name="Freeform 111">
              <a:extLst>
                <a:ext uri="{FF2B5EF4-FFF2-40B4-BE49-F238E27FC236}">
                  <a16:creationId xmlns:a16="http://schemas.microsoft.com/office/drawing/2014/main" id="{5A604495-ABEE-C729-66EB-F1725BC92709}"/>
                </a:ext>
              </a:extLst>
            </p:cNvPr>
            <p:cNvSpPr>
              <a:spLocks noChangeAspect="1"/>
            </p:cNvSpPr>
            <p:nvPr/>
          </p:nvSpPr>
          <p:spPr bwMode="auto">
            <a:xfrm>
              <a:off x="280" y="1314"/>
              <a:ext cx="2315" cy="1312"/>
            </a:xfrm>
            <a:custGeom>
              <a:avLst/>
              <a:gdLst>
                <a:gd name="T0" fmla="*/ 1326 w 2315"/>
                <a:gd name="T1" fmla="*/ 23 h 1312"/>
                <a:gd name="T2" fmla="*/ 1519 w 2315"/>
                <a:gd name="T3" fmla="*/ 64 h 1312"/>
                <a:gd name="T4" fmla="*/ 1698 w 2315"/>
                <a:gd name="T5" fmla="*/ 121 h 1312"/>
                <a:gd name="T6" fmla="*/ 1865 w 2315"/>
                <a:gd name="T7" fmla="*/ 194 h 1312"/>
                <a:gd name="T8" fmla="*/ 2008 w 2315"/>
                <a:gd name="T9" fmla="*/ 278 h 1312"/>
                <a:gd name="T10" fmla="*/ 2129 w 2315"/>
                <a:gd name="T11" fmla="*/ 375 h 1312"/>
                <a:gd name="T12" fmla="*/ 2222 w 2315"/>
                <a:gd name="T13" fmla="*/ 479 h 1312"/>
                <a:gd name="T14" fmla="*/ 2282 w 2315"/>
                <a:gd name="T15" fmla="*/ 589 h 1312"/>
                <a:gd name="T16" fmla="*/ 2313 w 2315"/>
                <a:gd name="T17" fmla="*/ 699 h 1312"/>
                <a:gd name="T18" fmla="*/ 2308 w 2315"/>
                <a:gd name="T19" fmla="*/ 809 h 1312"/>
                <a:gd name="T20" fmla="*/ 2272 w 2315"/>
                <a:gd name="T21" fmla="*/ 915 h 1312"/>
                <a:gd name="T22" fmla="*/ 2202 w 2315"/>
                <a:gd name="T23" fmla="*/ 1014 h 1312"/>
                <a:gd name="T24" fmla="*/ 2105 w 2315"/>
                <a:gd name="T25" fmla="*/ 1101 h 1312"/>
                <a:gd name="T26" fmla="*/ 1977 w 2315"/>
                <a:gd name="T27" fmla="*/ 1176 h 1312"/>
                <a:gd name="T28" fmla="*/ 1828 w 2315"/>
                <a:gd name="T29" fmla="*/ 1237 h 1312"/>
                <a:gd name="T30" fmla="*/ 1659 w 2315"/>
                <a:gd name="T31" fmla="*/ 1280 h 1312"/>
                <a:gd name="T32" fmla="*/ 1476 w 2315"/>
                <a:gd name="T33" fmla="*/ 1306 h 1312"/>
                <a:gd name="T34" fmla="*/ 1283 w 2315"/>
                <a:gd name="T35" fmla="*/ 1312 h 1312"/>
                <a:gd name="T36" fmla="*/ 1086 w 2315"/>
                <a:gd name="T37" fmla="*/ 1299 h 1312"/>
                <a:gd name="T38" fmla="*/ 894 w 2315"/>
                <a:gd name="T39" fmla="*/ 1269 h 1312"/>
                <a:gd name="T40" fmla="*/ 705 w 2315"/>
                <a:gd name="T41" fmla="*/ 1220 h 1312"/>
                <a:gd name="T42" fmla="*/ 532 w 2315"/>
                <a:gd name="T43" fmla="*/ 1155 h 1312"/>
                <a:gd name="T44" fmla="*/ 377 w 2315"/>
                <a:gd name="T45" fmla="*/ 1077 h 1312"/>
                <a:gd name="T46" fmla="*/ 245 w 2315"/>
                <a:gd name="T47" fmla="*/ 984 h 1312"/>
                <a:gd name="T48" fmla="*/ 137 w 2315"/>
                <a:gd name="T49" fmla="*/ 885 h 1312"/>
                <a:gd name="T50" fmla="*/ 61 w 2315"/>
                <a:gd name="T51" fmla="*/ 777 h 1312"/>
                <a:gd name="T52" fmla="*/ 13 w 2315"/>
                <a:gd name="T53" fmla="*/ 667 h 1312"/>
                <a:gd name="T54" fmla="*/ 0 w 2315"/>
                <a:gd name="T55" fmla="*/ 555 h 1312"/>
                <a:gd name="T56" fmla="*/ 22 w 2315"/>
                <a:gd name="T57" fmla="*/ 447 h 1312"/>
                <a:gd name="T58" fmla="*/ 74 w 2315"/>
                <a:gd name="T59" fmla="*/ 345 h 1312"/>
                <a:gd name="T60" fmla="*/ 158 w 2315"/>
                <a:gd name="T61" fmla="*/ 252 h 1312"/>
                <a:gd name="T62" fmla="*/ 273 w 2315"/>
                <a:gd name="T63" fmla="*/ 170 h 1312"/>
                <a:gd name="T64" fmla="*/ 411 w 2315"/>
                <a:gd name="T65" fmla="*/ 103 h 1312"/>
                <a:gd name="T66" fmla="*/ 571 w 2315"/>
                <a:gd name="T67" fmla="*/ 49 h 1312"/>
                <a:gd name="T68" fmla="*/ 747 w 2315"/>
                <a:gd name="T69" fmla="*/ 17 h 1312"/>
                <a:gd name="T70" fmla="*/ 937 w 2315"/>
                <a:gd name="T71" fmla="*/ 0 h 1312"/>
                <a:gd name="T72" fmla="*/ 1132 w 2315"/>
                <a:gd name="T73" fmla="*/ 2 h 13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15"/>
                <a:gd name="T112" fmla="*/ 0 h 1312"/>
                <a:gd name="T113" fmla="*/ 2315 w 2315"/>
                <a:gd name="T114" fmla="*/ 1312 h 13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15" h="1312">
                  <a:moveTo>
                    <a:pt x="1229" y="10"/>
                  </a:moveTo>
                  <a:lnTo>
                    <a:pt x="1326" y="23"/>
                  </a:lnTo>
                  <a:lnTo>
                    <a:pt x="1424" y="43"/>
                  </a:lnTo>
                  <a:lnTo>
                    <a:pt x="1519" y="64"/>
                  </a:lnTo>
                  <a:lnTo>
                    <a:pt x="1610" y="90"/>
                  </a:lnTo>
                  <a:lnTo>
                    <a:pt x="1698" y="121"/>
                  </a:lnTo>
                  <a:lnTo>
                    <a:pt x="1783" y="155"/>
                  </a:lnTo>
                  <a:lnTo>
                    <a:pt x="1865" y="194"/>
                  </a:lnTo>
                  <a:lnTo>
                    <a:pt x="1938" y="235"/>
                  </a:lnTo>
                  <a:lnTo>
                    <a:pt x="2008" y="278"/>
                  </a:lnTo>
                  <a:lnTo>
                    <a:pt x="2073" y="326"/>
                  </a:lnTo>
                  <a:lnTo>
                    <a:pt x="2129" y="375"/>
                  </a:lnTo>
                  <a:lnTo>
                    <a:pt x="2179" y="425"/>
                  </a:lnTo>
                  <a:lnTo>
                    <a:pt x="2222" y="479"/>
                  </a:lnTo>
                  <a:lnTo>
                    <a:pt x="2256" y="533"/>
                  </a:lnTo>
                  <a:lnTo>
                    <a:pt x="2282" y="589"/>
                  </a:lnTo>
                  <a:lnTo>
                    <a:pt x="2302" y="643"/>
                  </a:lnTo>
                  <a:lnTo>
                    <a:pt x="2313" y="699"/>
                  </a:lnTo>
                  <a:lnTo>
                    <a:pt x="2315" y="755"/>
                  </a:lnTo>
                  <a:lnTo>
                    <a:pt x="2308" y="809"/>
                  </a:lnTo>
                  <a:lnTo>
                    <a:pt x="2295" y="863"/>
                  </a:lnTo>
                  <a:lnTo>
                    <a:pt x="2272" y="915"/>
                  </a:lnTo>
                  <a:lnTo>
                    <a:pt x="2241" y="965"/>
                  </a:lnTo>
                  <a:lnTo>
                    <a:pt x="2202" y="1014"/>
                  </a:lnTo>
                  <a:lnTo>
                    <a:pt x="2157" y="1060"/>
                  </a:lnTo>
                  <a:lnTo>
                    <a:pt x="2105" y="1101"/>
                  </a:lnTo>
                  <a:lnTo>
                    <a:pt x="2044" y="1140"/>
                  </a:lnTo>
                  <a:lnTo>
                    <a:pt x="1977" y="1176"/>
                  </a:lnTo>
                  <a:lnTo>
                    <a:pt x="1906" y="1209"/>
                  </a:lnTo>
                  <a:lnTo>
                    <a:pt x="1828" y="1237"/>
                  </a:lnTo>
                  <a:lnTo>
                    <a:pt x="1746" y="1261"/>
                  </a:lnTo>
                  <a:lnTo>
                    <a:pt x="1659" y="1280"/>
                  </a:lnTo>
                  <a:lnTo>
                    <a:pt x="1569" y="1295"/>
                  </a:lnTo>
                  <a:lnTo>
                    <a:pt x="1476" y="1306"/>
                  </a:lnTo>
                  <a:lnTo>
                    <a:pt x="1380" y="1310"/>
                  </a:lnTo>
                  <a:lnTo>
                    <a:pt x="1283" y="1312"/>
                  </a:lnTo>
                  <a:lnTo>
                    <a:pt x="1186" y="1308"/>
                  </a:lnTo>
                  <a:lnTo>
                    <a:pt x="1086" y="1299"/>
                  </a:lnTo>
                  <a:lnTo>
                    <a:pt x="989" y="1286"/>
                  </a:lnTo>
                  <a:lnTo>
                    <a:pt x="894" y="1269"/>
                  </a:lnTo>
                  <a:lnTo>
                    <a:pt x="798" y="1245"/>
                  </a:lnTo>
                  <a:lnTo>
                    <a:pt x="705" y="1220"/>
                  </a:lnTo>
                  <a:lnTo>
                    <a:pt x="617" y="1189"/>
                  </a:lnTo>
                  <a:lnTo>
                    <a:pt x="532" y="1155"/>
                  </a:lnTo>
                  <a:lnTo>
                    <a:pt x="452" y="1118"/>
                  </a:lnTo>
                  <a:lnTo>
                    <a:pt x="377" y="1077"/>
                  </a:lnTo>
                  <a:lnTo>
                    <a:pt x="307" y="1032"/>
                  </a:lnTo>
                  <a:lnTo>
                    <a:pt x="245" y="984"/>
                  </a:lnTo>
                  <a:lnTo>
                    <a:pt x="186" y="937"/>
                  </a:lnTo>
                  <a:lnTo>
                    <a:pt x="137" y="885"/>
                  </a:lnTo>
                  <a:lnTo>
                    <a:pt x="95" y="831"/>
                  </a:lnTo>
                  <a:lnTo>
                    <a:pt x="61" y="777"/>
                  </a:lnTo>
                  <a:lnTo>
                    <a:pt x="33" y="723"/>
                  </a:lnTo>
                  <a:lnTo>
                    <a:pt x="13" y="667"/>
                  </a:lnTo>
                  <a:lnTo>
                    <a:pt x="5" y="611"/>
                  </a:lnTo>
                  <a:lnTo>
                    <a:pt x="0" y="555"/>
                  </a:lnTo>
                  <a:lnTo>
                    <a:pt x="7" y="501"/>
                  </a:lnTo>
                  <a:lnTo>
                    <a:pt x="22" y="447"/>
                  </a:lnTo>
                  <a:lnTo>
                    <a:pt x="44" y="395"/>
                  </a:lnTo>
                  <a:lnTo>
                    <a:pt x="74" y="345"/>
                  </a:lnTo>
                  <a:lnTo>
                    <a:pt x="113" y="298"/>
                  </a:lnTo>
                  <a:lnTo>
                    <a:pt x="158" y="252"/>
                  </a:lnTo>
                  <a:lnTo>
                    <a:pt x="212" y="209"/>
                  </a:lnTo>
                  <a:lnTo>
                    <a:pt x="273" y="170"/>
                  </a:lnTo>
                  <a:lnTo>
                    <a:pt x="338" y="133"/>
                  </a:lnTo>
                  <a:lnTo>
                    <a:pt x="411" y="103"/>
                  </a:lnTo>
                  <a:lnTo>
                    <a:pt x="489" y="75"/>
                  </a:lnTo>
                  <a:lnTo>
                    <a:pt x="571" y="49"/>
                  </a:lnTo>
                  <a:lnTo>
                    <a:pt x="658" y="30"/>
                  </a:lnTo>
                  <a:lnTo>
                    <a:pt x="747" y="17"/>
                  </a:lnTo>
                  <a:lnTo>
                    <a:pt x="840" y="6"/>
                  </a:lnTo>
                  <a:lnTo>
                    <a:pt x="937" y="0"/>
                  </a:lnTo>
                  <a:lnTo>
                    <a:pt x="1034" y="0"/>
                  </a:lnTo>
                  <a:lnTo>
                    <a:pt x="1132" y="2"/>
                  </a:lnTo>
                  <a:lnTo>
                    <a:pt x="1229" y="1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80" name="Rectangle 112">
              <a:extLst>
                <a:ext uri="{FF2B5EF4-FFF2-40B4-BE49-F238E27FC236}">
                  <a16:creationId xmlns:a16="http://schemas.microsoft.com/office/drawing/2014/main" id="{1CFC4D61-FC17-77F8-8960-3142600C8E6E}"/>
                </a:ext>
              </a:extLst>
            </p:cNvPr>
            <p:cNvSpPr>
              <a:spLocks noChangeAspect="1" noChangeArrowheads="1"/>
            </p:cNvSpPr>
            <p:nvPr/>
          </p:nvSpPr>
          <p:spPr bwMode="auto">
            <a:xfrm>
              <a:off x="1390" y="1305"/>
              <a:ext cx="11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3</a:t>
              </a:r>
              <a:endParaRPr lang="en-US" altLang="en-US" sz="1600" b="1">
                <a:latin typeface="Arial" panose="020B0604020202020204" pitchFamily="34" charset="0"/>
              </a:endParaRPr>
            </a:p>
          </p:txBody>
        </p:sp>
      </p:grpSp>
      <p:grpSp>
        <p:nvGrpSpPr>
          <p:cNvPr id="24" name="Group 113">
            <a:extLst>
              <a:ext uri="{FF2B5EF4-FFF2-40B4-BE49-F238E27FC236}">
                <a16:creationId xmlns:a16="http://schemas.microsoft.com/office/drawing/2014/main" id="{16C80A67-005A-A418-3271-D811D4278E03}"/>
              </a:ext>
            </a:extLst>
          </p:cNvPr>
          <p:cNvGrpSpPr>
            <a:grpSpLocks noChangeAspect="1"/>
          </p:cNvGrpSpPr>
          <p:nvPr/>
        </p:nvGrpSpPr>
        <p:grpSpPr bwMode="auto">
          <a:xfrm>
            <a:off x="2325689" y="1477965"/>
            <a:ext cx="2462213" cy="1887537"/>
            <a:chOff x="241" y="1229"/>
            <a:chExt cx="2391" cy="1834"/>
          </a:xfrm>
        </p:grpSpPr>
        <p:sp>
          <p:nvSpPr>
            <p:cNvPr id="31777" name="Freeform 114">
              <a:extLst>
                <a:ext uri="{FF2B5EF4-FFF2-40B4-BE49-F238E27FC236}">
                  <a16:creationId xmlns:a16="http://schemas.microsoft.com/office/drawing/2014/main" id="{0D118FC0-E6D6-1A68-A441-06A9F02ED41C}"/>
                </a:ext>
              </a:extLst>
            </p:cNvPr>
            <p:cNvSpPr>
              <a:spLocks noChangeAspect="1"/>
            </p:cNvSpPr>
            <p:nvPr/>
          </p:nvSpPr>
          <p:spPr bwMode="auto">
            <a:xfrm>
              <a:off x="241" y="1229"/>
              <a:ext cx="2391" cy="1611"/>
            </a:xfrm>
            <a:custGeom>
              <a:avLst/>
              <a:gdLst>
                <a:gd name="T0" fmla="*/ 1385 w 2391"/>
                <a:gd name="T1" fmla="*/ 24 h 1611"/>
                <a:gd name="T2" fmla="*/ 1582 w 2391"/>
                <a:gd name="T3" fmla="*/ 69 h 1611"/>
                <a:gd name="T4" fmla="*/ 1768 w 2391"/>
                <a:gd name="T5" fmla="*/ 136 h 1611"/>
                <a:gd name="T6" fmla="*/ 1936 w 2391"/>
                <a:gd name="T7" fmla="*/ 221 h 1611"/>
                <a:gd name="T8" fmla="*/ 2083 w 2391"/>
                <a:gd name="T9" fmla="*/ 322 h 1611"/>
                <a:gd name="T10" fmla="*/ 2207 w 2391"/>
                <a:gd name="T11" fmla="*/ 439 h 1611"/>
                <a:gd name="T12" fmla="*/ 2300 w 2391"/>
                <a:gd name="T13" fmla="*/ 566 h 1611"/>
                <a:gd name="T14" fmla="*/ 2360 w 2391"/>
                <a:gd name="T15" fmla="*/ 698 h 1611"/>
                <a:gd name="T16" fmla="*/ 2388 w 2391"/>
                <a:gd name="T17" fmla="*/ 836 h 1611"/>
                <a:gd name="T18" fmla="*/ 2382 w 2391"/>
                <a:gd name="T19" fmla="*/ 970 h 1611"/>
                <a:gd name="T20" fmla="*/ 2343 w 2391"/>
                <a:gd name="T21" fmla="*/ 1102 h 1611"/>
                <a:gd name="T22" fmla="*/ 2270 w 2391"/>
                <a:gd name="T23" fmla="*/ 1225 h 1611"/>
                <a:gd name="T24" fmla="*/ 2166 w 2391"/>
                <a:gd name="T25" fmla="*/ 1335 h 1611"/>
                <a:gd name="T26" fmla="*/ 2032 w 2391"/>
                <a:gd name="T27" fmla="*/ 1430 h 1611"/>
                <a:gd name="T28" fmla="*/ 1876 w 2391"/>
                <a:gd name="T29" fmla="*/ 1508 h 1611"/>
                <a:gd name="T30" fmla="*/ 1701 w 2391"/>
                <a:gd name="T31" fmla="*/ 1564 h 1611"/>
                <a:gd name="T32" fmla="*/ 1510 w 2391"/>
                <a:gd name="T33" fmla="*/ 1598 h 1611"/>
                <a:gd name="T34" fmla="*/ 1311 w 2391"/>
                <a:gd name="T35" fmla="*/ 1611 h 1611"/>
                <a:gd name="T36" fmla="*/ 1108 w 2391"/>
                <a:gd name="T37" fmla="*/ 1600 h 1611"/>
                <a:gd name="T38" fmla="*/ 907 w 2391"/>
                <a:gd name="T39" fmla="*/ 1568 h 1611"/>
                <a:gd name="T40" fmla="*/ 716 w 2391"/>
                <a:gd name="T41" fmla="*/ 1512 h 1611"/>
                <a:gd name="T42" fmla="*/ 537 w 2391"/>
                <a:gd name="T43" fmla="*/ 1436 h 1611"/>
                <a:gd name="T44" fmla="*/ 379 w 2391"/>
                <a:gd name="T45" fmla="*/ 1341 h 1611"/>
                <a:gd name="T46" fmla="*/ 243 w 2391"/>
                <a:gd name="T47" fmla="*/ 1233 h 1611"/>
                <a:gd name="T48" fmla="*/ 134 w 2391"/>
                <a:gd name="T49" fmla="*/ 1110 h 1611"/>
                <a:gd name="T50" fmla="*/ 57 w 2391"/>
                <a:gd name="T51" fmla="*/ 981 h 1611"/>
                <a:gd name="T52" fmla="*/ 11 w 2391"/>
                <a:gd name="T53" fmla="*/ 845 h 1611"/>
                <a:gd name="T54" fmla="*/ 0 w 2391"/>
                <a:gd name="T55" fmla="*/ 709 h 1611"/>
                <a:gd name="T56" fmla="*/ 24 w 2391"/>
                <a:gd name="T57" fmla="*/ 575 h 1611"/>
                <a:gd name="T58" fmla="*/ 83 w 2391"/>
                <a:gd name="T59" fmla="*/ 447 h 1611"/>
                <a:gd name="T60" fmla="*/ 171 w 2391"/>
                <a:gd name="T61" fmla="*/ 331 h 1611"/>
                <a:gd name="T62" fmla="*/ 290 w 2391"/>
                <a:gd name="T63" fmla="*/ 227 h 1611"/>
                <a:gd name="T64" fmla="*/ 435 w 2391"/>
                <a:gd name="T65" fmla="*/ 141 h 1611"/>
                <a:gd name="T66" fmla="*/ 602 w 2391"/>
                <a:gd name="T67" fmla="*/ 74 h 1611"/>
                <a:gd name="T68" fmla="*/ 786 w 2391"/>
                <a:gd name="T69" fmla="*/ 28 h 1611"/>
                <a:gd name="T70" fmla="*/ 980 w 2391"/>
                <a:gd name="T71" fmla="*/ 3 h 1611"/>
                <a:gd name="T72" fmla="*/ 1181 w 2391"/>
                <a:gd name="T73" fmla="*/ 3 h 16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91"/>
                <a:gd name="T112" fmla="*/ 0 h 1611"/>
                <a:gd name="T113" fmla="*/ 2391 w 2391"/>
                <a:gd name="T114" fmla="*/ 1611 h 16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91" h="1611">
                  <a:moveTo>
                    <a:pt x="1283" y="11"/>
                  </a:moveTo>
                  <a:lnTo>
                    <a:pt x="1385" y="24"/>
                  </a:lnTo>
                  <a:lnTo>
                    <a:pt x="1484" y="46"/>
                  </a:lnTo>
                  <a:lnTo>
                    <a:pt x="1582" y="69"/>
                  </a:lnTo>
                  <a:lnTo>
                    <a:pt x="1675" y="100"/>
                  </a:lnTo>
                  <a:lnTo>
                    <a:pt x="1768" y="136"/>
                  </a:lnTo>
                  <a:lnTo>
                    <a:pt x="1854" y="175"/>
                  </a:lnTo>
                  <a:lnTo>
                    <a:pt x="1936" y="221"/>
                  </a:lnTo>
                  <a:lnTo>
                    <a:pt x="2012" y="270"/>
                  </a:lnTo>
                  <a:lnTo>
                    <a:pt x="2083" y="322"/>
                  </a:lnTo>
                  <a:lnTo>
                    <a:pt x="2148" y="380"/>
                  </a:lnTo>
                  <a:lnTo>
                    <a:pt x="2207" y="439"/>
                  </a:lnTo>
                  <a:lnTo>
                    <a:pt x="2257" y="501"/>
                  </a:lnTo>
                  <a:lnTo>
                    <a:pt x="2300" y="566"/>
                  </a:lnTo>
                  <a:lnTo>
                    <a:pt x="2334" y="631"/>
                  </a:lnTo>
                  <a:lnTo>
                    <a:pt x="2360" y="698"/>
                  </a:lnTo>
                  <a:lnTo>
                    <a:pt x="2380" y="767"/>
                  </a:lnTo>
                  <a:lnTo>
                    <a:pt x="2388" y="836"/>
                  </a:lnTo>
                  <a:lnTo>
                    <a:pt x="2391" y="903"/>
                  </a:lnTo>
                  <a:lnTo>
                    <a:pt x="2382" y="970"/>
                  </a:lnTo>
                  <a:lnTo>
                    <a:pt x="2367" y="1037"/>
                  </a:lnTo>
                  <a:lnTo>
                    <a:pt x="2343" y="1102"/>
                  </a:lnTo>
                  <a:lnTo>
                    <a:pt x="2311" y="1164"/>
                  </a:lnTo>
                  <a:lnTo>
                    <a:pt x="2270" y="1225"/>
                  </a:lnTo>
                  <a:lnTo>
                    <a:pt x="2220" y="1281"/>
                  </a:lnTo>
                  <a:lnTo>
                    <a:pt x="2166" y="1335"/>
                  </a:lnTo>
                  <a:lnTo>
                    <a:pt x="2101" y="1384"/>
                  </a:lnTo>
                  <a:lnTo>
                    <a:pt x="2032" y="1430"/>
                  </a:lnTo>
                  <a:lnTo>
                    <a:pt x="1958" y="1471"/>
                  </a:lnTo>
                  <a:lnTo>
                    <a:pt x="1876" y="1508"/>
                  </a:lnTo>
                  <a:lnTo>
                    <a:pt x="1789" y="1538"/>
                  </a:lnTo>
                  <a:lnTo>
                    <a:pt x="1701" y="1564"/>
                  </a:lnTo>
                  <a:lnTo>
                    <a:pt x="1608" y="1585"/>
                  </a:lnTo>
                  <a:lnTo>
                    <a:pt x="1510" y="1598"/>
                  </a:lnTo>
                  <a:lnTo>
                    <a:pt x="1411" y="1609"/>
                  </a:lnTo>
                  <a:lnTo>
                    <a:pt x="1311" y="1611"/>
                  </a:lnTo>
                  <a:lnTo>
                    <a:pt x="1210" y="1609"/>
                  </a:lnTo>
                  <a:lnTo>
                    <a:pt x="1108" y="1600"/>
                  </a:lnTo>
                  <a:lnTo>
                    <a:pt x="1006" y="1587"/>
                  </a:lnTo>
                  <a:lnTo>
                    <a:pt x="907" y="1568"/>
                  </a:lnTo>
                  <a:lnTo>
                    <a:pt x="809" y="1542"/>
                  </a:lnTo>
                  <a:lnTo>
                    <a:pt x="716" y="1512"/>
                  </a:lnTo>
                  <a:lnTo>
                    <a:pt x="626" y="1475"/>
                  </a:lnTo>
                  <a:lnTo>
                    <a:pt x="537" y="1436"/>
                  </a:lnTo>
                  <a:lnTo>
                    <a:pt x="455" y="1391"/>
                  </a:lnTo>
                  <a:lnTo>
                    <a:pt x="379" y="1341"/>
                  </a:lnTo>
                  <a:lnTo>
                    <a:pt x="308" y="1289"/>
                  </a:lnTo>
                  <a:lnTo>
                    <a:pt x="243" y="1233"/>
                  </a:lnTo>
                  <a:lnTo>
                    <a:pt x="184" y="1173"/>
                  </a:lnTo>
                  <a:lnTo>
                    <a:pt x="134" y="1110"/>
                  </a:lnTo>
                  <a:lnTo>
                    <a:pt x="91" y="1045"/>
                  </a:lnTo>
                  <a:lnTo>
                    <a:pt x="57" y="981"/>
                  </a:lnTo>
                  <a:lnTo>
                    <a:pt x="31" y="914"/>
                  </a:lnTo>
                  <a:lnTo>
                    <a:pt x="11" y="845"/>
                  </a:lnTo>
                  <a:lnTo>
                    <a:pt x="3" y="776"/>
                  </a:lnTo>
                  <a:lnTo>
                    <a:pt x="0" y="709"/>
                  </a:lnTo>
                  <a:lnTo>
                    <a:pt x="9" y="642"/>
                  </a:lnTo>
                  <a:lnTo>
                    <a:pt x="24" y="575"/>
                  </a:lnTo>
                  <a:lnTo>
                    <a:pt x="48" y="510"/>
                  </a:lnTo>
                  <a:lnTo>
                    <a:pt x="83" y="447"/>
                  </a:lnTo>
                  <a:lnTo>
                    <a:pt x="121" y="387"/>
                  </a:lnTo>
                  <a:lnTo>
                    <a:pt x="171" y="331"/>
                  </a:lnTo>
                  <a:lnTo>
                    <a:pt x="227" y="277"/>
                  </a:lnTo>
                  <a:lnTo>
                    <a:pt x="290" y="227"/>
                  </a:lnTo>
                  <a:lnTo>
                    <a:pt x="359" y="182"/>
                  </a:lnTo>
                  <a:lnTo>
                    <a:pt x="435" y="141"/>
                  </a:lnTo>
                  <a:lnTo>
                    <a:pt x="515" y="104"/>
                  </a:lnTo>
                  <a:lnTo>
                    <a:pt x="602" y="74"/>
                  </a:lnTo>
                  <a:lnTo>
                    <a:pt x="690" y="48"/>
                  </a:lnTo>
                  <a:lnTo>
                    <a:pt x="786" y="28"/>
                  </a:lnTo>
                  <a:lnTo>
                    <a:pt x="881" y="13"/>
                  </a:lnTo>
                  <a:lnTo>
                    <a:pt x="980" y="3"/>
                  </a:lnTo>
                  <a:lnTo>
                    <a:pt x="1082" y="0"/>
                  </a:lnTo>
                  <a:lnTo>
                    <a:pt x="1181" y="3"/>
                  </a:lnTo>
                  <a:lnTo>
                    <a:pt x="1283" y="11"/>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78" name="Rectangle 115">
              <a:extLst>
                <a:ext uri="{FF2B5EF4-FFF2-40B4-BE49-F238E27FC236}">
                  <a16:creationId xmlns:a16="http://schemas.microsoft.com/office/drawing/2014/main" id="{A909BD07-6483-3D03-7128-04EE4BDB70C2}"/>
                </a:ext>
              </a:extLst>
            </p:cNvPr>
            <p:cNvSpPr>
              <a:spLocks noChangeAspect="1" noChangeArrowheads="1"/>
            </p:cNvSpPr>
            <p:nvPr/>
          </p:nvSpPr>
          <p:spPr bwMode="auto">
            <a:xfrm>
              <a:off x="1238" y="2826"/>
              <a:ext cx="11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4</a:t>
              </a:r>
              <a:endParaRPr lang="en-US" altLang="en-US" sz="1600" b="1">
                <a:latin typeface="Arial" panose="020B0604020202020204" pitchFamily="34" charset="0"/>
              </a:endParaRPr>
            </a:p>
          </p:txBody>
        </p:sp>
      </p:grpSp>
      <p:grpSp>
        <p:nvGrpSpPr>
          <p:cNvPr id="25" name="Group 116">
            <a:extLst>
              <a:ext uri="{FF2B5EF4-FFF2-40B4-BE49-F238E27FC236}">
                <a16:creationId xmlns:a16="http://schemas.microsoft.com/office/drawing/2014/main" id="{F9D67C85-3C1E-6936-493F-030F9E95A7BB}"/>
              </a:ext>
            </a:extLst>
          </p:cNvPr>
          <p:cNvGrpSpPr>
            <a:grpSpLocks noChangeAspect="1"/>
          </p:cNvGrpSpPr>
          <p:nvPr/>
        </p:nvGrpSpPr>
        <p:grpSpPr bwMode="auto">
          <a:xfrm>
            <a:off x="2278064" y="1216027"/>
            <a:ext cx="2595563" cy="2289175"/>
            <a:chOff x="194" y="975"/>
            <a:chExt cx="2522" cy="2224"/>
          </a:xfrm>
        </p:grpSpPr>
        <p:sp>
          <p:nvSpPr>
            <p:cNvPr id="31775" name="Rectangle 117">
              <a:extLst>
                <a:ext uri="{FF2B5EF4-FFF2-40B4-BE49-F238E27FC236}">
                  <a16:creationId xmlns:a16="http://schemas.microsoft.com/office/drawing/2014/main" id="{C02C7EF6-F4A4-D6BF-4809-E501244632F0}"/>
                </a:ext>
              </a:extLst>
            </p:cNvPr>
            <p:cNvSpPr>
              <a:spLocks noChangeAspect="1" noChangeArrowheads="1"/>
            </p:cNvSpPr>
            <p:nvPr/>
          </p:nvSpPr>
          <p:spPr bwMode="auto">
            <a:xfrm>
              <a:off x="2138" y="975"/>
              <a:ext cx="11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b="1">
                  <a:solidFill>
                    <a:srgbClr val="FF0000"/>
                  </a:solidFill>
                  <a:latin typeface="Arial" panose="020B0604020202020204" pitchFamily="34" charset="0"/>
                </a:rPr>
                <a:t>5</a:t>
              </a:r>
              <a:endParaRPr lang="en-US" altLang="en-US" sz="1600" b="1">
                <a:latin typeface="Arial" panose="020B0604020202020204" pitchFamily="34" charset="0"/>
              </a:endParaRPr>
            </a:p>
          </p:txBody>
        </p:sp>
        <p:sp>
          <p:nvSpPr>
            <p:cNvPr id="31776" name="Freeform 118">
              <a:extLst>
                <a:ext uri="{FF2B5EF4-FFF2-40B4-BE49-F238E27FC236}">
                  <a16:creationId xmlns:a16="http://schemas.microsoft.com/office/drawing/2014/main" id="{A05C8368-A8D2-F965-4D19-BCB93B38EE42}"/>
                </a:ext>
              </a:extLst>
            </p:cNvPr>
            <p:cNvSpPr>
              <a:spLocks noChangeAspect="1"/>
            </p:cNvSpPr>
            <p:nvPr/>
          </p:nvSpPr>
          <p:spPr bwMode="auto">
            <a:xfrm>
              <a:off x="194" y="988"/>
              <a:ext cx="2522" cy="2211"/>
            </a:xfrm>
            <a:custGeom>
              <a:avLst/>
              <a:gdLst>
                <a:gd name="T0" fmla="*/ 1363 w 2522"/>
                <a:gd name="T1" fmla="*/ 4 h 2211"/>
                <a:gd name="T2" fmla="*/ 1568 w 2522"/>
                <a:gd name="T3" fmla="*/ 34 h 2211"/>
                <a:gd name="T4" fmla="*/ 1765 w 2522"/>
                <a:gd name="T5" fmla="*/ 92 h 2211"/>
                <a:gd name="T6" fmla="*/ 1949 w 2522"/>
                <a:gd name="T7" fmla="*/ 179 h 2211"/>
                <a:gd name="T8" fmla="*/ 2113 w 2522"/>
                <a:gd name="T9" fmla="*/ 291 h 2211"/>
                <a:gd name="T10" fmla="*/ 2254 w 2522"/>
                <a:gd name="T11" fmla="*/ 425 h 2211"/>
                <a:gd name="T12" fmla="*/ 2368 w 2522"/>
                <a:gd name="T13" fmla="*/ 578 h 2211"/>
                <a:gd name="T14" fmla="*/ 2453 w 2522"/>
                <a:gd name="T15" fmla="*/ 744 h 2211"/>
                <a:gd name="T16" fmla="*/ 2505 w 2522"/>
                <a:gd name="T17" fmla="*/ 922 h 2211"/>
                <a:gd name="T18" fmla="*/ 2522 w 2522"/>
                <a:gd name="T19" fmla="*/ 1103 h 2211"/>
                <a:gd name="T20" fmla="*/ 2505 w 2522"/>
                <a:gd name="T21" fmla="*/ 1284 h 2211"/>
                <a:gd name="T22" fmla="*/ 2453 w 2522"/>
                <a:gd name="T23" fmla="*/ 1461 h 2211"/>
                <a:gd name="T24" fmla="*/ 2371 w 2522"/>
                <a:gd name="T25" fmla="*/ 1630 h 2211"/>
                <a:gd name="T26" fmla="*/ 2256 w 2522"/>
                <a:gd name="T27" fmla="*/ 1783 h 2211"/>
                <a:gd name="T28" fmla="*/ 2115 w 2522"/>
                <a:gd name="T29" fmla="*/ 1917 h 2211"/>
                <a:gd name="T30" fmla="*/ 1951 w 2522"/>
                <a:gd name="T31" fmla="*/ 2029 h 2211"/>
                <a:gd name="T32" fmla="*/ 1769 w 2522"/>
                <a:gd name="T33" fmla="*/ 2118 h 2211"/>
                <a:gd name="T34" fmla="*/ 1572 w 2522"/>
                <a:gd name="T35" fmla="*/ 2176 h 2211"/>
                <a:gd name="T36" fmla="*/ 1367 w 2522"/>
                <a:gd name="T37" fmla="*/ 2206 h 2211"/>
                <a:gd name="T38" fmla="*/ 1159 w 2522"/>
                <a:gd name="T39" fmla="*/ 2206 h 2211"/>
                <a:gd name="T40" fmla="*/ 954 w 2522"/>
                <a:gd name="T41" fmla="*/ 2178 h 2211"/>
                <a:gd name="T42" fmla="*/ 755 w 2522"/>
                <a:gd name="T43" fmla="*/ 2118 h 2211"/>
                <a:gd name="T44" fmla="*/ 573 w 2522"/>
                <a:gd name="T45" fmla="*/ 2031 h 2211"/>
                <a:gd name="T46" fmla="*/ 409 w 2522"/>
                <a:gd name="T47" fmla="*/ 1919 h 2211"/>
                <a:gd name="T48" fmla="*/ 266 w 2522"/>
                <a:gd name="T49" fmla="*/ 1785 h 2211"/>
                <a:gd name="T50" fmla="*/ 151 w 2522"/>
                <a:gd name="T51" fmla="*/ 1634 h 2211"/>
                <a:gd name="T52" fmla="*/ 69 w 2522"/>
                <a:gd name="T53" fmla="*/ 1466 h 2211"/>
                <a:gd name="T54" fmla="*/ 17 w 2522"/>
                <a:gd name="T55" fmla="*/ 1289 h 2211"/>
                <a:gd name="T56" fmla="*/ 0 w 2522"/>
                <a:gd name="T57" fmla="*/ 1107 h 2211"/>
                <a:gd name="T58" fmla="*/ 17 w 2522"/>
                <a:gd name="T59" fmla="*/ 926 h 2211"/>
                <a:gd name="T60" fmla="*/ 67 w 2522"/>
                <a:gd name="T61" fmla="*/ 749 h 2211"/>
                <a:gd name="T62" fmla="*/ 151 w 2522"/>
                <a:gd name="T63" fmla="*/ 580 h 2211"/>
                <a:gd name="T64" fmla="*/ 264 w 2522"/>
                <a:gd name="T65" fmla="*/ 429 h 2211"/>
                <a:gd name="T66" fmla="*/ 404 w 2522"/>
                <a:gd name="T67" fmla="*/ 293 h 2211"/>
                <a:gd name="T68" fmla="*/ 569 w 2522"/>
                <a:gd name="T69" fmla="*/ 181 h 2211"/>
                <a:gd name="T70" fmla="*/ 753 w 2522"/>
                <a:gd name="T71" fmla="*/ 95 h 2211"/>
                <a:gd name="T72" fmla="*/ 949 w 2522"/>
                <a:gd name="T73" fmla="*/ 34 h 2211"/>
                <a:gd name="T74" fmla="*/ 1155 w 2522"/>
                <a:gd name="T75" fmla="*/ 4 h 221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22"/>
                <a:gd name="T115" fmla="*/ 0 h 2211"/>
                <a:gd name="T116" fmla="*/ 2522 w 2522"/>
                <a:gd name="T117" fmla="*/ 2211 h 221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22" h="2211">
                  <a:moveTo>
                    <a:pt x="1259" y="0"/>
                  </a:moveTo>
                  <a:lnTo>
                    <a:pt x="1363" y="4"/>
                  </a:lnTo>
                  <a:lnTo>
                    <a:pt x="1466" y="15"/>
                  </a:lnTo>
                  <a:lnTo>
                    <a:pt x="1568" y="34"/>
                  </a:lnTo>
                  <a:lnTo>
                    <a:pt x="1668" y="60"/>
                  </a:lnTo>
                  <a:lnTo>
                    <a:pt x="1765" y="92"/>
                  </a:lnTo>
                  <a:lnTo>
                    <a:pt x="1858" y="131"/>
                  </a:lnTo>
                  <a:lnTo>
                    <a:pt x="1949" y="179"/>
                  </a:lnTo>
                  <a:lnTo>
                    <a:pt x="2033" y="233"/>
                  </a:lnTo>
                  <a:lnTo>
                    <a:pt x="2113" y="291"/>
                  </a:lnTo>
                  <a:lnTo>
                    <a:pt x="2187" y="356"/>
                  </a:lnTo>
                  <a:lnTo>
                    <a:pt x="2254" y="425"/>
                  </a:lnTo>
                  <a:lnTo>
                    <a:pt x="2314" y="498"/>
                  </a:lnTo>
                  <a:lnTo>
                    <a:pt x="2368" y="578"/>
                  </a:lnTo>
                  <a:lnTo>
                    <a:pt x="2414" y="660"/>
                  </a:lnTo>
                  <a:lnTo>
                    <a:pt x="2453" y="744"/>
                  </a:lnTo>
                  <a:lnTo>
                    <a:pt x="2483" y="831"/>
                  </a:lnTo>
                  <a:lnTo>
                    <a:pt x="2505" y="922"/>
                  </a:lnTo>
                  <a:lnTo>
                    <a:pt x="2518" y="1012"/>
                  </a:lnTo>
                  <a:lnTo>
                    <a:pt x="2522" y="1103"/>
                  </a:lnTo>
                  <a:lnTo>
                    <a:pt x="2518" y="1194"/>
                  </a:lnTo>
                  <a:lnTo>
                    <a:pt x="2505" y="1284"/>
                  </a:lnTo>
                  <a:lnTo>
                    <a:pt x="2483" y="1375"/>
                  </a:lnTo>
                  <a:lnTo>
                    <a:pt x="2453" y="1461"/>
                  </a:lnTo>
                  <a:lnTo>
                    <a:pt x="2416" y="1548"/>
                  </a:lnTo>
                  <a:lnTo>
                    <a:pt x="2371" y="1630"/>
                  </a:lnTo>
                  <a:lnTo>
                    <a:pt x="2317" y="1707"/>
                  </a:lnTo>
                  <a:lnTo>
                    <a:pt x="2256" y="1783"/>
                  </a:lnTo>
                  <a:lnTo>
                    <a:pt x="2189" y="1852"/>
                  </a:lnTo>
                  <a:lnTo>
                    <a:pt x="2115" y="1917"/>
                  </a:lnTo>
                  <a:lnTo>
                    <a:pt x="2037" y="1975"/>
                  </a:lnTo>
                  <a:lnTo>
                    <a:pt x="1951" y="2029"/>
                  </a:lnTo>
                  <a:lnTo>
                    <a:pt x="1862" y="2077"/>
                  </a:lnTo>
                  <a:lnTo>
                    <a:pt x="1769" y="2118"/>
                  </a:lnTo>
                  <a:lnTo>
                    <a:pt x="1672" y="2150"/>
                  </a:lnTo>
                  <a:lnTo>
                    <a:pt x="1572" y="2176"/>
                  </a:lnTo>
                  <a:lnTo>
                    <a:pt x="1471" y="2195"/>
                  </a:lnTo>
                  <a:lnTo>
                    <a:pt x="1367" y="2206"/>
                  </a:lnTo>
                  <a:lnTo>
                    <a:pt x="1263" y="2211"/>
                  </a:lnTo>
                  <a:lnTo>
                    <a:pt x="1159" y="2206"/>
                  </a:lnTo>
                  <a:lnTo>
                    <a:pt x="1055" y="2195"/>
                  </a:lnTo>
                  <a:lnTo>
                    <a:pt x="954" y="2178"/>
                  </a:lnTo>
                  <a:lnTo>
                    <a:pt x="852" y="2152"/>
                  </a:lnTo>
                  <a:lnTo>
                    <a:pt x="755" y="2118"/>
                  </a:lnTo>
                  <a:lnTo>
                    <a:pt x="662" y="2079"/>
                  </a:lnTo>
                  <a:lnTo>
                    <a:pt x="573" y="2031"/>
                  </a:lnTo>
                  <a:lnTo>
                    <a:pt x="486" y="1980"/>
                  </a:lnTo>
                  <a:lnTo>
                    <a:pt x="409" y="1919"/>
                  </a:lnTo>
                  <a:lnTo>
                    <a:pt x="333" y="1856"/>
                  </a:lnTo>
                  <a:lnTo>
                    <a:pt x="266" y="1785"/>
                  </a:lnTo>
                  <a:lnTo>
                    <a:pt x="205" y="1712"/>
                  </a:lnTo>
                  <a:lnTo>
                    <a:pt x="151" y="1634"/>
                  </a:lnTo>
                  <a:lnTo>
                    <a:pt x="106" y="1552"/>
                  </a:lnTo>
                  <a:lnTo>
                    <a:pt x="69" y="1466"/>
                  </a:lnTo>
                  <a:lnTo>
                    <a:pt x="39" y="1379"/>
                  </a:lnTo>
                  <a:lnTo>
                    <a:pt x="17" y="1289"/>
                  </a:lnTo>
                  <a:lnTo>
                    <a:pt x="4" y="1198"/>
                  </a:lnTo>
                  <a:lnTo>
                    <a:pt x="0" y="1107"/>
                  </a:lnTo>
                  <a:lnTo>
                    <a:pt x="4" y="1017"/>
                  </a:lnTo>
                  <a:lnTo>
                    <a:pt x="17" y="926"/>
                  </a:lnTo>
                  <a:lnTo>
                    <a:pt x="37" y="835"/>
                  </a:lnTo>
                  <a:lnTo>
                    <a:pt x="67" y="749"/>
                  </a:lnTo>
                  <a:lnTo>
                    <a:pt x="106" y="662"/>
                  </a:lnTo>
                  <a:lnTo>
                    <a:pt x="151" y="580"/>
                  </a:lnTo>
                  <a:lnTo>
                    <a:pt x="203" y="503"/>
                  </a:lnTo>
                  <a:lnTo>
                    <a:pt x="264" y="429"/>
                  </a:lnTo>
                  <a:lnTo>
                    <a:pt x="331" y="358"/>
                  </a:lnTo>
                  <a:lnTo>
                    <a:pt x="404" y="293"/>
                  </a:lnTo>
                  <a:lnTo>
                    <a:pt x="484" y="235"/>
                  </a:lnTo>
                  <a:lnTo>
                    <a:pt x="569" y="181"/>
                  </a:lnTo>
                  <a:lnTo>
                    <a:pt x="660" y="133"/>
                  </a:lnTo>
                  <a:lnTo>
                    <a:pt x="753" y="95"/>
                  </a:lnTo>
                  <a:lnTo>
                    <a:pt x="850" y="60"/>
                  </a:lnTo>
                  <a:lnTo>
                    <a:pt x="949" y="34"/>
                  </a:lnTo>
                  <a:lnTo>
                    <a:pt x="1051" y="15"/>
                  </a:lnTo>
                  <a:lnTo>
                    <a:pt x="1155" y="4"/>
                  </a:lnTo>
                  <a:lnTo>
                    <a:pt x="1259"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1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2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24"/>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11"/>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499"/>
                                          </p:stCondLst>
                                        </p:cTn>
                                        <p:tgtEl>
                                          <p:spTgt spid="17"/>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D5EC26-37B3-04D1-50E0-75791D902D05}"/>
              </a:ext>
            </a:extLst>
          </p:cNvPr>
          <p:cNvSpPr>
            <a:spLocks noGrp="1"/>
          </p:cNvSpPr>
          <p:nvPr>
            <p:ph type="title"/>
          </p:nvPr>
        </p:nvSpPr>
        <p:spPr>
          <a:xfrm>
            <a:off x="868362" y="2769483"/>
            <a:ext cx="10515600" cy="1319037"/>
          </a:xfrm>
        </p:spPr>
        <p:txBody>
          <a:bodyPr/>
          <a:lstStyle/>
          <a:p>
            <a:pPr algn="ctr"/>
            <a:r>
              <a:rPr lang="en-US" b="1" dirty="0"/>
              <a:t>K-means Clustering</a:t>
            </a:r>
          </a:p>
        </p:txBody>
      </p:sp>
    </p:spTree>
    <p:extLst>
      <p:ext uri="{BB962C8B-B14F-4D97-AF65-F5344CB8AC3E}">
        <p14:creationId xmlns:p14="http://schemas.microsoft.com/office/powerpoint/2010/main" val="3976893575"/>
      </p:ext>
    </p:extLst>
  </p:cSld>
  <p:clrMapOvr>
    <a:masterClrMapping/>
  </p:clrMapOvr>
  <mc:AlternateContent xmlns:mc="http://schemas.openxmlformats.org/markup-compatibility/2006" xmlns:p14="http://schemas.microsoft.com/office/powerpoint/2010/main">
    <mc:Choice Requires="p14">
      <p:transition spd="med" p14:dur="700" advTm="38351">
        <p:fade/>
      </p:transition>
    </mc:Choice>
    <mc:Fallback xmlns="">
      <p:transition spd="med" advTm="3835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K-means Clustering</a:t>
            </a:r>
          </a:p>
        </p:txBody>
      </p:sp>
      <p:sp>
        <p:nvSpPr>
          <p:cNvPr id="5" name="Subtitle 2">
            <a:extLst>
              <a:ext uri="{FF2B5EF4-FFF2-40B4-BE49-F238E27FC236}">
                <a16:creationId xmlns:a16="http://schemas.microsoft.com/office/drawing/2014/main" id="{941BD6FF-9110-482D-829B-CB43D0E927BE}"/>
              </a:ext>
            </a:extLst>
          </p:cNvPr>
          <p:cNvSpPr txBox="1">
            <a:spLocks/>
          </p:cNvSpPr>
          <p:nvPr/>
        </p:nvSpPr>
        <p:spPr>
          <a:xfrm>
            <a:off x="239915" y="1064779"/>
            <a:ext cx="11772494" cy="5028350"/>
          </a:xfrm>
          <a:prstGeom prst="rect">
            <a:avLst/>
          </a:prstGeom>
          <a:solidFill>
            <a:schemeClr val="bg1"/>
          </a:solidFill>
          <a:ln>
            <a:solidFill>
              <a:schemeClr val="bg1"/>
            </a:solidFill>
          </a:ln>
        </p:spPr>
        <p:txBody>
          <a:bodyPr vert="horz" lIns="90990" tIns="45495" rIns="90990" bIns="45495"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125000"/>
              </a:lnSpc>
              <a:buFont typeface="Wingdings" panose="05000000000000000000" pitchFamily="2" charset="2"/>
              <a:buChar char="Ø"/>
            </a:pPr>
            <a:r>
              <a:rPr lang="en-US" sz="3085" dirty="0"/>
              <a:t>K-means algorithm is used to cluster data that share similar features into several classes.</a:t>
            </a:r>
          </a:p>
          <a:p>
            <a:pPr algn="just">
              <a:lnSpc>
                <a:spcPct val="125000"/>
              </a:lnSpc>
              <a:buFont typeface="Wingdings" panose="05000000000000000000" pitchFamily="2" charset="2"/>
              <a:buChar char="Ø"/>
            </a:pPr>
            <a:r>
              <a:rPr lang="en-US" sz="3085" dirty="0"/>
              <a:t>Each class is identified by its class center (centroid). The goal is to find these sets of class centers that minimize a certain error criterion.  </a:t>
            </a:r>
          </a:p>
          <a:p>
            <a:pPr algn="just">
              <a:lnSpc>
                <a:spcPct val="125000"/>
              </a:lnSpc>
              <a:buFont typeface="Wingdings" panose="05000000000000000000" pitchFamily="2" charset="2"/>
              <a:buChar char="Ø"/>
            </a:pPr>
            <a:r>
              <a:rPr lang="en-US" sz="3085" dirty="0"/>
              <a:t>For color images, the cluster center is a 3D color vector for each class </a:t>
            </a:r>
            <a:r>
              <a:rPr lang="en-US" sz="3085" dirty="0">
                <a:solidFill>
                  <a:srgbClr val="FF0000"/>
                </a:solidFill>
              </a:rPr>
              <a:t>k</a:t>
            </a:r>
            <a:r>
              <a:rPr lang="en-US" sz="3085" dirty="0"/>
              <a:t> of the assumed number of classes </a:t>
            </a:r>
            <a:r>
              <a:rPr lang="en-US" sz="3085" dirty="0">
                <a:solidFill>
                  <a:srgbClr val="FF0000"/>
                </a:solidFill>
              </a:rPr>
              <a:t>K</a:t>
            </a:r>
            <a:r>
              <a:rPr lang="en-US" sz="3085" dirty="0"/>
              <a:t>. For example, </a:t>
            </a:r>
            <a:r>
              <a:rPr lang="en-US" sz="3085" dirty="0">
                <a:solidFill>
                  <a:srgbClr val="FF0000"/>
                </a:solidFill>
              </a:rPr>
              <a:t>C</a:t>
            </a:r>
            <a:r>
              <a:rPr lang="en-US" sz="3085" baseline="-25000" dirty="0">
                <a:solidFill>
                  <a:srgbClr val="FF0000"/>
                </a:solidFill>
              </a:rPr>
              <a:t>k</a:t>
            </a:r>
            <a:r>
              <a:rPr lang="en-US" sz="3085" dirty="0">
                <a:solidFill>
                  <a:srgbClr val="FF0000"/>
                </a:solidFill>
              </a:rPr>
              <a:t>={</a:t>
            </a:r>
            <a:r>
              <a:rPr lang="en-US" sz="3085" dirty="0" err="1">
                <a:solidFill>
                  <a:srgbClr val="FF0000"/>
                </a:solidFill>
              </a:rPr>
              <a:t>C</a:t>
            </a:r>
            <a:r>
              <a:rPr lang="en-US" sz="3085" baseline="-25000" dirty="0" err="1">
                <a:solidFill>
                  <a:srgbClr val="FF0000"/>
                </a:solidFill>
              </a:rPr>
              <a:t>kr</a:t>
            </a:r>
            <a:r>
              <a:rPr lang="en-US" sz="3085" dirty="0">
                <a:solidFill>
                  <a:srgbClr val="FF0000"/>
                </a:solidFill>
              </a:rPr>
              <a:t>, </a:t>
            </a:r>
            <a:r>
              <a:rPr lang="en-US" sz="3085" dirty="0" err="1">
                <a:solidFill>
                  <a:srgbClr val="FF0000"/>
                </a:solidFill>
              </a:rPr>
              <a:t>C</a:t>
            </a:r>
            <a:r>
              <a:rPr lang="en-US" sz="3085" baseline="-25000" dirty="0" err="1">
                <a:solidFill>
                  <a:srgbClr val="FF0000"/>
                </a:solidFill>
              </a:rPr>
              <a:t>kg</a:t>
            </a:r>
            <a:r>
              <a:rPr lang="en-US" sz="3085" dirty="0">
                <a:solidFill>
                  <a:srgbClr val="FF0000"/>
                </a:solidFill>
              </a:rPr>
              <a:t>, </a:t>
            </a:r>
            <a:r>
              <a:rPr lang="en-US" sz="3085" dirty="0" err="1">
                <a:solidFill>
                  <a:srgbClr val="FF0000"/>
                </a:solidFill>
              </a:rPr>
              <a:t>C</a:t>
            </a:r>
            <a:r>
              <a:rPr lang="en-US" sz="3085" baseline="-25000" dirty="0" err="1">
                <a:solidFill>
                  <a:srgbClr val="FF0000"/>
                </a:solidFill>
              </a:rPr>
              <a:t>kb</a:t>
            </a:r>
            <a:r>
              <a:rPr lang="en-US" sz="3085" dirty="0">
                <a:solidFill>
                  <a:srgbClr val="FF0000"/>
                </a:solidFill>
              </a:rPr>
              <a:t>}, </a:t>
            </a:r>
            <a:r>
              <a:rPr lang="en-US" sz="3085" dirty="0"/>
              <a:t>where </a:t>
            </a:r>
            <a:r>
              <a:rPr lang="en-US" sz="3085" dirty="0">
                <a:solidFill>
                  <a:srgbClr val="FF0000"/>
                </a:solidFill>
              </a:rPr>
              <a:t>k = 1, …, K </a:t>
            </a:r>
            <a:r>
              <a:rPr lang="en-US" sz="3085" dirty="0"/>
              <a:t>and </a:t>
            </a:r>
            <a:r>
              <a:rPr lang="en-US" sz="3085" dirty="0" err="1">
                <a:solidFill>
                  <a:srgbClr val="FF0000"/>
                </a:solidFill>
              </a:rPr>
              <a:t>C</a:t>
            </a:r>
            <a:r>
              <a:rPr lang="en-US" sz="3085" baseline="-25000" dirty="0" err="1">
                <a:solidFill>
                  <a:srgbClr val="FF0000"/>
                </a:solidFill>
              </a:rPr>
              <a:t>kr</a:t>
            </a:r>
            <a:r>
              <a:rPr lang="en-US" sz="3085" baseline="-25000" dirty="0">
                <a:solidFill>
                  <a:srgbClr val="FF0000"/>
                </a:solidFill>
              </a:rPr>
              <a:t>,</a:t>
            </a:r>
            <a:r>
              <a:rPr lang="en-US" sz="3085" dirty="0">
                <a:solidFill>
                  <a:srgbClr val="FF0000"/>
                </a:solidFill>
              </a:rPr>
              <a:t> </a:t>
            </a:r>
            <a:r>
              <a:rPr lang="en-US" sz="3085" dirty="0" err="1">
                <a:solidFill>
                  <a:srgbClr val="FF0000"/>
                </a:solidFill>
              </a:rPr>
              <a:t>C</a:t>
            </a:r>
            <a:r>
              <a:rPr lang="en-US" sz="3085" baseline="-25000" dirty="0" err="1">
                <a:solidFill>
                  <a:srgbClr val="FF0000"/>
                </a:solidFill>
              </a:rPr>
              <a:t>kg</a:t>
            </a:r>
            <a:r>
              <a:rPr lang="en-US" sz="3085" dirty="0">
                <a:solidFill>
                  <a:srgbClr val="FF0000"/>
                </a:solidFill>
              </a:rPr>
              <a:t>, </a:t>
            </a:r>
            <a:r>
              <a:rPr lang="en-US" sz="3085" dirty="0"/>
              <a:t>and </a:t>
            </a:r>
            <a:r>
              <a:rPr lang="en-US" sz="3085" dirty="0" err="1">
                <a:solidFill>
                  <a:srgbClr val="FF0000"/>
                </a:solidFill>
              </a:rPr>
              <a:t>C</a:t>
            </a:r>
            <a:r>
              <a:rPr lang="en-US" sz="3085" baseline="-25000" dirty="0" err="1">
                <a:solidFill>
                  <a:srgbClr val="FF0000"/>
                </a:solidFill>
              </a:rPr>
              <a:t>kb</a:t>
            </a:r>
            <a:r>
              <a:rPr lang="en-US" sz="3085" dirty="0"/>
              <a:t> are the RGB components of the mean color of pixels that belong to cluster k.</a:t>
            </a:r>
          </a:p>
          <a:p>
            <a:pPr algn="just">
              <a:lnSpc>
                <a:spcPct val="125000"/>
              </a:lnSpc>
              <a:buFont typeface="Wingdings" panose="05000000000000000000" pitchFamily="2" charset="2"/>
              <a:buChar char="Ø"/>
            </a:pPr>
            <a:endParaRPr lang="en-US" sz="3085" dirty="0"/>
          </a:p>
          <a:p>
            <a:pPr algn="just">
              <a:lnSpc>
                <a:spcPct val="125000"/>
              </a:lnSpc>
              <a:buFont typeface="Wingdings" panose="05000000000000000000" pitchFamily="2" charset="2"/>
              <a:buChar char="Ø"/>
            </a:pPr>
            <a:endParaRPr lang="en-US" sz="3085" dirty="0"/>
          </a:p>
          <a:p>
            <a:pPr algn="just">
              <a:lnSpc>
                <a:spcPct val="125000"/>
              </a:lnSpc>
              <a:buFont typeface="Wingdings" panose="05000000000000000000" pitchFamily="2" charset="2"/>
              <a:buChar char="Ø"/>
            </a:pPr>
            <a:endParaRPr lang="en-US" sz="3085" dirty="0"/>
          </a:p>
          <a:p>
            <a:pPr algn="just">
              <a:lnSpc>
                <a:spcPct val="125000"/>
              </a:lnSpc>
              <a:buFont typeface="Wingdings" panose="05000000000000000000" pitchFamily="2" charset="2"/>
              <a:buChar char="Ø"/>
            </a:pPr>
            <a:endParaRPr lang="en-US" sz="3085" dirty="0"/>
          </a:p>
        </p:txBody>
      </p:sp>
    </p:spTree>
    <p:custDataLst>
      <p:tags r:id="rId1"/>
    </p:custDataLst>
    <p:extLst>
      <p:ext uri="{BB962C8B-B14F-4D97-AF65-F5344CB8AC3E}">
        <p14:creationId xmlns:p14="http://schemas.microsoft.com/office/powerpoint/2010/main" val="2802856548"/>
      </p:ext>
    </p:extLst>
  </p:cSld>
  <p:clrMapOvr>
    <a:masterClrMapping/>
  </p:clrMapOvr>
  <mc:AlternateContent xmlns:mc="http://schemas.openxmlformats.org/markup-compatibility/2006" xmlns:p14="http://schemas.microsoft.com/office/powerpoint/2010/main">
    <mc:Choice Requires="p14">
      <p:transition spd="med" p14:dur="700" advTm="250008">
        <p:fade/>
      </p:transition>
    </mc:Choice>
    <mc:Fallback xmlns="">
      <p:transition spd="med" advTm="25000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circle(in)">
                                      <p:cBhvr>
                                        <p:cTn id="10" dur="20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circle(in)">
                                      <p:cBhvr>
                                        <p:cTn id="15" dur="20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circle(in)">
                                      <p:cBhvr>
                                        <p:cTn id="20"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Algorithm: K-means Clustering</a:t>
            </a:r>
          </a:p>
        </p:txBody>
      </p:sp>
      <p:sp>
        <p:nvSpPr>
          <p:cNvPr id="5" name="Subtitle 2">
            <a:extLst>
              <a:ext uri="{FF2B5EF4-FFF2-40B4-BE49-F238E27FC236}">
                <a16:creationId xmlns:a16="http://schemas.microsoft.com/office/drawing/2014/main" id="{941BD6FF-9110-482D-829B-CB43D0E927BE}"/>
              </a:ext>
            </a:extLst>
          </p:cNvPr>
          <p:cNvSpPr txBox="1">
            <a:spLocks/>
          </p:cNvSpPr>
          <p:nvPr/>
        </p:nvSpPr>
        <p:spPr>
          <a:xfrm>
            <a:off x="249793" y="1106960"/>
            <a:ext cx="11639172" cy="2951289"/>
          </a:xfrm>
          <a:prstGeom prst="rect">
            <a:avLst/>
          </a:prstGeom>
          <a:solidFill>
            <a:schemeClr val="bg1"/>
          </a:solidFill>
          <a:ln>
            <a:solidFill>
              <a:schemeClr val="bg1"/>
            </a:solidFill>
          </a:ln>
        </p:spPr>
        <p:txBody>
          <a:bodyPr vert="horz" lIns="90990" tIns="45495" rIns="90990" bIns="45495"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125000"/>
              </a:lnSpc>
              <a:buFont typeface="Wingdings" panose="05000000000000000000" pitchFamily="2" charset="2"/>
              <a:buChar char="Ø"/>
            </a:pPr>
            <a:r>
              <a:rPr lang="en-US" sz="2388" dirty="0"/>
              <a:t>The following are the steps to implement the k-means algorithm for color images:</a:t>
            </a:r>
          </a:p>
          <a:p>
            <a:pPr marL="1364879" lvl="2" indent="-568700" algn="just">
              <a:lnSpc>
                <a:spcPct val="125000"/>
              </a:lnSpc>
              <a:buFont typeface="+mj-lt"/>
              <a:buAutoNum type="romanUcPeriod"/>
            </a:pPr>
            <a:r>
              <a:rPr lang="en-US" sz="2388" dirty="0"/>
              <a:t>Initialization: determine the number of clusters K, then initialize the cluster centers C</a:t>
            </a:r>
            <a:r>
              <a:rPr lang="en-US" sz="2388" baseline="-25000" dirty="0"/>
              <a:t>k</a:t>
            </a:r>
            <a:r>
              <a:rPr lang="en-US" sz="2388" dirty="0"/>
              <a:t>. The initialization can simply be random values.</a:t>
            </a:r>
          </a:p>
          <a:p>
            <a:pPr marL="1364879" lvl="2" indent="-568700" algn="just">
              <a:lnSpc>
                <a:spcPct val="125000"/>
              </a:lnSpc>
              <a:buFont typeface="+mj-lt"/>
              <a:buAutoNum type="romanUcPeriod"/>
            </a:pPr>
            <a:r>
              <a:rPr lang="en-US" sz="2388" dirty="0"/>
              <a:t>Assignment: for each input pixel p(</a:t>
            </a:r>
            <a:r>
              <a:rPr lang="en-US" sz="2388" dirty="0" err="1"/>
              <a:t>x,y</a:t>
            </a:r>
            <a:r>
              <a:rPr lang="en-US" sz="2388" dirty="0"/>
              <a:t>) = {</a:t>
            </a:r>
            <a:r>
              <a:rPr lang="en-US" sz="2388" dirty="0" err="1"/>
              <a:t>p</a:t>
            </a:r>
            <a:r>
              <a:rPr lang="en-US" sz="2388" baseline="-25000" dirty="0" err="1"/>
              <a:t>r</a:t>
            </a:r>
            <a:r>
              <a:rPr lang="en-US" sz="2388" dirty="0"/>
              <a:t>, </a:t>
            </a:r>
            <a:r>
              <a:rPr lang="en-US" sz="2388" dirty="0" err="1"/>
              <a:t>p</a:t>
            </a:r>
            <a:r>
              <a:rPr lang="en-US" sz="2388" baseline="-25000" dirty="0" err="1"/>
              <a:t>g</a:t>
            </a:r>
            <a:r>
              <a:rPr lang="en-US" sz="2388" dirty="0"/>
              <a:t>, p</a:t>
            </a:r>
            <a:r>
              <a:rPr lang="en-US" sz="2388" baseline="-25000" dirty="0"/>
              <a:t>b</a:t>
            </a:r>
            <a:r>
              <a:rPr lang="en-US" sz="2388" dirty="0"/>
              <a:t>}, find the winner cluster k, whose 	cluster center C</a:t>
            </a:r>
            <a:r>
              <a:rPr lang="en-US" sz="2388" baseline="-25000" dirty="0"/>
              <a:t>k</a:t>
            </a:r>
            <a:r>
              <a:rPr lang="en-US" sz="2388" dirty="0"/>
              <a:t> has the smallest distance to the input pixel. This distance can be 	calculated using the Euclidean distance as: </a:t>
            </a:r>
          </a:p>
        </p:txBody>
      </p:sp>
      <mc:AlternateContent xmlns:mc="http://schemas.openxmlformats.org/markup-compatibility/2006">
        <mc:Choice xmlns:a14="http://schemas.microsoft.com/office/drawing/2010/main" Requires="a14">
          <p:sp>
            <p:nvSpPr>
              <p:cNvPr id="3" name="Rectangle 2"/>
              <p:cNvSpPr/>
              <p:nvPr/>
            </p:nvSpPr>
            <p:spPr>
              <a:xfrm>
                <a:off x="2028555" y="4171894"/>
                <a:ext cx="7722950" cy="9644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786" b="1" i="1">
                              <a:solidFill>
                                <a:srgbClr val="FF0000"/>
                              </a:solidFill>
                              <a:latin typeface="Cambria Math" panose="02040503050406030204" pitchFamily="18" charset="0"/>
                            </a:rPr>
                          </m:ctrlPr>
                        </m:sSubPr>
                        <m:e>
                          <m:r>
                            <a:rPr lang="en-US" sz="2786" b="1" i="1">
                              <a:solidFill>
                                <a:srgbClr val="FF0000"/>
                              </a:solidFill>
                              <a:latin typeface="Cambria Math" panose="02040503050406030204" pitchFamily="18" charset="0"/>
                            </a:rPr>
                            <m:t>𝑬</m:t>
                          </m:r>
                        </m:e>
                        <m:sub>
                          <m:r>
                            <a:rPr lang="en-US" sz="2786" b="1" i="1">
                              <a:solidFill>
                                <a:srgbClr val="FF0000"/>
                              </a:solidFill>
                              <a:latin typeface="Cambria Math" panose="02040503050406030204" pitchFamily="18" charset="0"/>
                            </a:rPr>
                            <m:t>𝒌</m:t>
                          </m:r>
                        </m:sub>
                      </m:sSub>
                      <m:r>
                        <a:rPr lang="en-US" sz="2786" b="1" i="1">
                          <a:solidFill>
                            <a:srgbClr val="FF0000"/>
                          </a:solidFill>
                          <a:latin typeface="Cambria Math" panose="02040503050406030204" pitchFamily="18" charset="0"/>
                        </a:rPr>
                        <m:t>= </m:t>
                      </m:r>
                      <m:rad>
                        <m:radPr>
                          <m:degHide m:val="on"/>
                          <m:ctrlPr>
                            <a:rPr lang="en-US" sz="2786" b="1" i="1">
                              <a:solidFill>
                                <a:srgbClr val="FF0000"/>
                              </a:solidFill>
                              <a:latin typeface="Cambria Math" panose="02040503050406030204" pitchFamily="18" charset="0"/>
                            </a:rPr>
                          </m:ctrlPr>
                        </m:radPr>
                        <m:deg/>
                        <m:e>
                          <m:d>
                            <m:dPr>
                              <m:ctrlPr>
                                <a:rPr lang="en-US" sz="2786" b="1" i="1">
                                  <a:solidFill>
                                    <a:srgbClr val="FF0000"/>
                                  </a:solidFill>
                                  <a:latin typeface="Cambria Math" panose="02040503050406030204" pitchFamily="18" charset="0"/>
                                </a:rPr>
                              </m:ctrlPr>
                            </m:dPr>
                            <m:e>
                              <m:r>
                                <a:rPr lang="en-US" sz="2786" b="1" i="1">
                                  <a:solidFill>
                                    <a:srgbClr val="FF0000"/>
                                  </a:solidFill>
                                  <a:latin typeface="Cambria Math" panose="02040503050406030204" pitchFamily="18" charset="0"/>
                                </a:rPr>
                                <m:t>𝒑</m:t>
                              </m:r>
                              <m:r>
                                <a:rPr lang="en-US" sz="2786" b="1" i="1" baseline="-25000">
                                  <a:solidFill>
                                    <a:srgbClr val="FF0000"/>
                                  </a:solidFill>
                                  <a:latin typeface="Cambria Math" panose="02040503050406030204" pitchFamily="18" charset="0"/>
                                </a:rPr>
                                <m:t>𝒓</m:t>
                              </m:r>
                              <m:r>
                                <a:rPr lang="en-US" sz="2786" b="1" i="1">
                                  <a:solidFill>
                                    <a:srgbClr val="FF0000"/>
                                  </a:solidFill>
                                  <a:latin typeface="Cambria Math" panose="02040503050406030204" pitchFamily="18" charset="0"/>
                                </a:rPr>
                                <m:t>−</m:t>
                              </m:r>
                              <m:sSub>
                                <m:sSubPr>
                                  <m:ctrlPr>
                                    <a:rPr lang="en-US" sz="2786" b="1" i="1">
                                      <a:solidFill>
                                        <a:srgbClr val="FF0000"/>
                                      </a:solidFill>
                                      <a:latin typeface="Cambria Math" panose="02040503050406030204" pitchFamily="18" charset="0"/>
                                    </a:rPr>
                                  </m:ctrlPr>
                                </m:sSubPr>
                                <m:e>
                                  <m:r>
                                    <a:rPr lang="en-US" sz="2786" b="1" i="1">
                                      <a:solidFill>
                                        <a:srgbClr val="FF0000"/>
                                      </a:solidFill>
                                      <a:latin typeface="Cambria Math" panose="02040503050406030204" pitchFamily="18" charset="0"/>
                                    </a:rPr>
                                    <m:t>𝑪</m:t>
                                  </m:r>
                                </m:e>
                                <m:sub>
                                  <m:r>
                                    <a:rPr lang="en-US" sz="2786" b="1" i="1">
                                      <a:solidFill>
                                        <a:srgbClr val="FF0000"/>
                                      </a:solidFill>
                                      <a:latin typeface="Cambria Math" panose="02040503050406030204" pitchFamily="18" charset="0"/>
                                    </a:rPr>
                                    <m:t>𝒌𝒓</m:t>
                                  </m:r>
                                </m:sub>
                              </m:sSub>
                            </m:e>
                          </m:d>
                          <m:r>
                            <a:rPr lang="en-US" sz="2786" b="1" i="1" baseline="30000">
                              <a:solidFill>
                                <a:srgbClr val="FF0000"/>
                              </a:solidFill>
                              <a:latin typeface="Cambria Math" panose="02040503050406030204" pitchFamily="18" charset="0"/>
                            </a:rPr>
                            <m:t>𝟐</m:t>
                          </m:r>
                          <m:r>
                            <a:rPr lang="en-US" sz="2786" b="1" i="1">
                              <a:solidFill>
                                <a:srgbClr val="FF0000"/>
                              </a:solidFill>
                              <a:latin typeface="Cambria Math" panose="02040503050406030204" pitchFamily="18" charset="0"/>
                            </a:rPr>
                            <m:t>+</m:t>
                          </m:r>
                          <m:d>
                            <m:dPr>
                              <m:ctrlPr>
                                <a:rPr lang="en-US" sz="2786" b="1" i="1">
                                  <a:solidFill>
                                    <a:srgbClr val="FF0000"/>
                                  </a:solidFill>
                                  <a:latin typeface="Cambria Math" panose="02040503050406030204" pitchFamily="18" charset="0"/>
                                </a:rPr>
                              </m:ctrlPr>
                            </m:dPr>
                            <m:e>
                              <m:r>
                                <a:rPr lang="en-US" sz="2786" b="1" i="1">
                                  <a:solidFill>
                                    <a:srgbClr val="FF0000"/>
                                  </a:solidFill>
                                  <a:latin typeface="Cambria Math" panose="02040503050406030204" pitchFamily="18" charset="0"/>
                                </a:rPr>
                                <m:t>𝒑</m:t>
                              </m:r>
                              <m:r>
                                <a:rPr lang="en-US" sz="2786" b="1" i="1" baseline="-25000">
                                  <a:solidFill>
                                    <a:srgbClr val="FF0000"/>
                                  </a:solidFill>
                                  <a:latin typeface="Cambria Math" panose="02040503050406030204" pitchFamily="18" charset="0"/>
                                </a:rPr>
                                <m:t>𝒈</m:t>
                              </m:r>
                              <m:r>
                                <a:rPr lang="en-US" sz="2786" b="1" i="1">
                                  <a:solidFill>
                                    <a:srgbClr val="FF0000"/>
                                  </a:solidFill>
                                  <a:latin typeface="Cambria Math" panose="02040503050406030204" pitchFamily="18" charset="0"/>
                                </a:rPr>
                                <m:t>−</m:t>
                              </m:r>
                              <m:sSub>
                                <m:sSubPr>
                                  <m:ctrlPr>
                                    <a:rPr lang="en-US" sz="2786" b="1" i="1">
                                      <a:solidFill>
                                        <a:srgbClr val="FF0000"/>
                                      </a:solidFill>
                                      <a:latin typeface="Cambria Math" panose="02040503050406030204" pitchFamily="18" charset="0"/>
                                    </a:rPr>
                                  </m:ctrlPr>
                                </m:sSubPr>
                                <m:e>
                                  <m:r>
                                    <a:rPr lang="en-US" sz="2786" b="1" i="1">
                                      <a:solidFill>
                                        <a:srgbClr val="FF0000"/>
                                      </a:solidFill>
                                      <a:latin typeface="Cambria Math" panose="02040503050406030204" pitchFamily="18" charset="0"/>
                                    </a:rPr>
                                    <m:t>𝑪</m:t>
                                  </m:r>
                                </m:e>
                                <m:sub>
                                  <m:r>
                                    <a:rPr lang="en-US" sz="2786" b="1" i="1">
                                      <a:solidFill>
                                        <a:srgbClr val="FF0000"/>
                                      </a:solidFill>
                                      <a:latin typeface="Cambria Math" panose="02040503050406030204" pitchFamily="18" charset="0"/>
                                    </a:rPr>
                                    <m:t>𝒌𝒈</m:t>
                                  </m:r>
                                </m:sub>
                              </m:sSub>
                            </m:e>
                          </m:d>
                          <m:r>
                            <a:rPr lang="en-US" sz="2786" b="1" i="1" baseline="30000">
                              <a:solidFill>
                                <a:srgbClr val="FF0000"/>
                              </a:solidFill>
                              <a:latin typeface="Cambria Math" panose="02040503050406030204" pitchFamily="18" charset="0"/>
                            </a:rPr>
                            <m:t>𝟐</m:t>
                          </m:r>
                          <m:r>
                            <a:rPr lang="en-US" sz="2786" b="1" i="1">
                              <a:solidFill>
                                <a:srgbClr val="FF0000"/>
                              </a:solidFill>
                              <a:latin typeface="Cambria Math" panose="02040503050406030204" pitchFamily="18" charset="0"/>
                            </a:rPr>
                            <m:t>+</m:t>
                          </m:r>
                          <m:d>
                            <m:dPr>
                              <m:ctrlPr>
                                <a:rPr lang="en-US" sz="2786" b="1" i="1">
                                  <a:solidFill>
                                    <a:srgbClr val="FF0000"/>
                                  </a:solidFill>
                                  <a:latin typeface="Cambria Math" panose="02040503050406030204" pitchFamily="18" charset="0"/>
                                </a:rPr>
                              </m:ctrlPr>
                            </m:dPr>
                            <m:e>
                              <m:r>
                                <a:rPr lang="en-US" sz="2786" b="1" i="1">
                                  <a:solidFill>
                                    <a:srgbClr val="FF0000"/>
                                  </a:solidFill>
                                  <a:latin typeface="Cambria Math" panose="02040503050406030204" pitchFamily="18" charset="0"/>
                                </a:rPr>
                                <m:t>𝒑</m:t>
                              </m:r>
                              <m:r>
                                <a:rPr lang="en-US" sz="2786" b="1" i="1" baseline="-25000">
                                  <a:solidFill>
                                    <a:srgbClr val="FF0000"/>
                                  </a:solidFill>
                                  <a:latin typeface="Cambria Math" panose="02040503050406030204" pitchFamily="18" charset="0"/>
                                </a:rPr>
                                <m:t>𝒃</m:t>
                              </m:r>
                              <m:r>
                                <a:rPr lang="en-US" sz="2786" b="1" i="1">
                                  <a:solidFill>
                                    <a:srgbClr val="FF0000"/>
                                  </a:solidFill>
                                  <a:latin typeface="Cambria Math" panose="02040503050406030204" pitchFamily="18" charset="0"/>
                                </a:rPr>
                                <m:t>−</m:t>
                              </m:r>
                              <m:sSub>
                                <m:sSubPr>
                                  <m:ctrlPr>
                                    <a:rPr lang="en-US" sz="2786" b="1" i="1">
                                      <a:solidFill>
                                        <a:srgbClr val="FF0000"/>
                                      </a:solidFill>
                                      <a:latin typeface="Cambria Math" panose="02040503050406030204" pitchFamily="18" charset="0"/>
                                    </a:rPr>
                                  </m:ctrlPr>
                                </m:sSubPr>
                                <m:e>
                                  <m:r>
                                    <a:rPr lang="en-US" sz="2786" b="1" i="1">
                                      <a:solidFill>
                                        <a:srgbClr val="FF0000"/>
                                      </a:solidFill>
                                      <a:latin typeface="Cambria Math" panose="02040503050406030204" pitchFamily="18" charset="0"/>
                                    </a:rPr>
                                    <m:t>𝑪</m:t>
                                  </m:r>
                                </m:e>
                                <m:sub>
                                  <m:r>
                                    <a:rPr lang="en-US" sz="2786" b="1" i="1">
                                      <a:solidFill>
                                        <a:srgbClr val="FF0000"/>
                                      </a:solidFill>
                                      <a:latin typeface="Cambria Math" panose="02040503050406030204" pitchFamily="18" charset="0"/>
                                    </a:rPr>
                                    <m:t>𝒌𝒃</m:t>
                                  </m:r>
                                </m:sub>
                              </m:sSub>
                            </m:e>
                          </m:d>
                          <m:r>
                            <a:rPr lang="en-US" sz="2786" b="1" i="1" baseline="30000">
                              <a:solidFill>
                                <a:srgbClr val="FF0000"/>
                              </a:solidFill>
                              <a:latin typeface="Cambria Math" panose="02040503050406030204" pitchFamily="18" charset="0"/>
                            </a:rPr>
                            <m:t>𝟐</m:t>
                          </m:r>
                        </m:e>
                      </m:rad>
                    </m:oMath>
                  </m:oMathPara>
                </a14:m>
                <a:endParaRPr lang="en-US" sz="2786" b="1" dirty="0">
                  <a:solidFill>
                    <a:srgbClr val="FF0000"/>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2028555" y="4171894"/>
                <a:ext cx="7722950" cy="964404"/>
              </a:xfrm>
              <a:prstGeom prst="rect">
                <a:avLst/>
              </a:prstGeom>
              <a:blipFill>
                <a:blip r:embed="rId4"/>
                <a:stretch>
                  <a:fillRect/>
                </a:stretch>
              </a:blipFill>
            </p:spPr>
            <p:txBody>
              <a:bodyPr/>
              <a:lstStyle/>
              <a:p>
                <a:r>
                  <a:rPr lang="en-US">
                    <a:noFill/>
                  </a:rPr>
                  <a:t> </a:t>
                </a:r>
              </a:p>
            </p:txBody>
          </p:sp>
        </mc:Fallback>
      </mc:AlternateContent>
      <p:sp>
        <p:nvSpPr>
          <p:cNvPr id="4" name="Rectangle 3"/>
          <p:cNvSpPr/>
          <p:nvPr/>
        </p:nvSpPr>
        <p:spPr>
          <a:xfrm>
            <a:off x="273897" y="5305236"/>
            <a:ext cx="11590965" cy="570412"/>
          </a:xfrm>
          <a:prstGeom prst="rect">
            <a:avLst/>
          </a:prstGeom>
          <a:solidFill>
            <a:schemeClr val="bg1"/>
          </a:solidFill>
          <a:ln>
            <a:solidFill>
              <a:schemeClr val="bg1"/>
            </a:solidFill>
          </a:ln>
        </p:spPr>
        <p:txBody>
          <a:bodyPr wrap="square">
            <a:spAutoFit/>
          </a:bodyPr>
          <a:lstStyle/>
          <a:p>
            <a:pPr marL="0" lvl="2" algn="just">
              <a:lnSpc>
                <a:spcPct val="125000"/>
              </a:lnSpc>
            </a:pPr>
            <a:r>
              <a:rPr lang="en-US" sz="2687" dirty="0"/>
              <a:t>Add pixel p to the set </a:t>
            </a:r>
            <a:r>
              <a:rPr lang="en-US" sz="2687" dirty="0" err="1"/>
              <a:t>S</a:t>
            </a:r>
            <a:r>
              <a:rPr lang="en-US" sz="2687" baseline="-25000" dirty="0" err="1"/>
              <a:t>k</a:t>
            </a:r>
            <a:r>
              <a:rPr lang="en-US" sz="2687" dirty="0"/>
              <a:t> of the winner class k. Repeat for each pixel of the image. </a:t>
            </a:r>
          </a:p>
        </p:txBody>
      </p:sp>
    </p:spTree>
    <p:custDataLst>
      <p:tags r:id="rId1"/>
    </p:custDataLst>
    <p:extLst>
      <p:ext uri="{BB962C8B-B14F-4D97-AF65-F5344CB8AC3E}">
        <p14:creationId xmlns:p14="http://schemas.microsoft.com/office/powerpoint/2010/main" val="612603506"/>
      </p:ext>
    </p:extLst>
  </p:cSld>
  <p:clrMapOvr>
    <a:masterClrMapping/>
  </p:clrMapOvr>
  <mc:AlternateContent xmlns:mc="http://schemas.openxmlformats.org/markup-compatibility/2006" xmlns:p14="http://schemas.microsoft.com/office/powerpoint/2010/main">
    <mc:Choice Requires="p14">
      <p:transition spd="med" p14:dur="700" advTm="173422">
        <p:fade/>
      </p:transition>
    </mc:Choice>
    <mc:Fallback xmlns="">
      <p:transition spd="med" advTm="17342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ircle(in)">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circle(in)">
                                      <p:cBhvr>
                                        <p:cTn id="15" dur="2000"/>
                                        <p:tgtEl>
                                          <p:spTgt spid="5">
                                            <p:txEl>
                                              <p:pRg st="2" end="2"/>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circle(in)">
                                      <p:cBhvr>
                                        <p:cTn id="2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Subtitle 2">
                <a:extLst>
                  <a:ext uri="{FF2B5EF4-FFF2-40B4-BE49-F238E27FC236}">
                    <a16:creationId xmlns:a16="http://schemas.microsoft.com/office/drawing/2014/main" id="{941BD6FF-9110-482D-829B-CB43D0E927BE}"/>
                  </a:ext>
                </a:extLst>
              </p:cNvPr>
              <p:cNvSpPr txBox="1">
                <a:spLocks/>
              </p:cNvSpPr>
              <p:nvPr/>
            </p:nvSpPr>
            <p:spPr>
              <a:xfrm>
                <a:off x="210271" y="1181696"/>
                <a:ext cx="11772495" cy="4494611"/>
              </a:xfrm>
              <a:prstGeom prst="rect">
                <a:avLst/>
              </a:prstGeom>
              <a:solidFill>
                <a:schemeClr val="bg1"/>
              </a:solidFill>
              <a:ln>
                <a:solidFill>
                  <a:schemeClr val="bg1"/>
                </a:solidFill>
              </a:ln>
            </p:spPr>
            <p:txBody>
              <a:bodyPr vert="horz" lIns="90990" tIns="45495" rIns="90990" bIns="45495"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478619" lvl="2" indent="-568700" algn="just">
                  <a:lnSpc>
                    <a:spcPct val="125000"/>
                  </a:lnSpc>
                  <a:buFont typeface="+mj-lt"/>
                  <a:buAutoNum type="romanUcPeriod" startAt="3"/>
                </a:pPr>
                <a:r>
                  <a:rPr lang="en-US" sz="3184" dirty="0"/>
                  <a:t>Update: for each cluster find the number of pixels, </a:t>
                </a:r>
                <a:r>
                  <a:rPr lang="en-US" sz="3184" i="1" dirty="0" err="1"/>
                  <a:t>N</a:t>
                </a:r>
                <a:r>
                  <a:rPr lang="en-US" sz="3184" i="1" baseline="-25000" dirty="0" err="1"/>
                  <a:t>k</a:t>
                </a:r>
                <a:r>
                  <a:rPr lang="en-US" sz="3184" dirty="0"/>
                  <a:t>, assigned to set </a:t>
                </a:r>
                <a:r>
                  <a:rPr lang="en-US" sz="3184" i="1" dirty="0"/>
                  <a:t>S</a:t>
                </a:r>
                <a:r>
                  <a:rPr lang="en-US" sz="3184" i="1" baseline="-25000" dirty="0"/>
                  <a:t>k</a:t>
                </a:r>
                <a:r>
                  <a:rPr lang="en-US" sz="3184" dirty="0"/>
                  <a:t>. Find the new cluster centers, </a:t>
                </a:r>
                <a14:m>
                  <m:oMath xmlns:m="http://schemas.openxmlformats.org/officeDocument/2006/math">
                    <m:sSubSup>
                      <m:sSubSupPr>
                        <m:ctrlPr>
                          <a:rPr lang="en-US" sz="3184" i="1">
                            <a:latin typeface="Cambria Math" panose="02040503050406030204" pitchFamily="18" charset="0"/>
                          </a:rPr>
                        </m:ctrlPr>
                      </m:sSubSupPr>
                      <m:e>
                        <m:r>
                          <a:rPr lang="en-US" sz="3184" i="1">
                            <a:latin typeface="Cambria Math" panose="02040503050406030204" pitchFamily="18" charset="0"/>
                          </a:rPr>
                          <m:t>𝐶</m:t>
                        </m:r>
                      </m:e>
                      <m:sub>
                        <m:r>
                          <a:rPr lang="en-US" sz="3184" i="1">
                            <a:latin typeface="Cambria Math" panose="02040503050406030204" pitchFamily="18" charset="0"/>
                          </a:rPr>
                          <m:t>𝑘</m:t>
                        </m:r>
                      </m:sub>
                      <m:sup>
                        <m:r>
                          <a:rPr lang="en-US" sz="3184" i="1">
                            <a:latin typeface="Cambria Math" panose="02040503050406030204" pitchFamily="18" charset="0"/>
                          </a:rPr>
                          <m:t>𝑛𝑒𝑤</m:t>
                        </m:r>
                      </m:sup>
                    </m:sSubSup>
                    <m:r>
                      <a:rPr lang="en-US" sz="3184" i="1">
                        <a:latin typeface="Cambria Math" panose="02040503050406030204" pitchFamily="18" charset="0"/>
                      </a:rPr>
                      <m:t> </m:t>
                    </m:r>
                  </m:oMath>
                </a14:m>
                <a:r>
                  <a:rPr lang="en-US" sz="3184" dirty="0"/>
                  <a:t>for each cluster as:  </a:t>
                </a:r>
              </a:p>
              <a:p>
                <a:pPr marL="909919" lvl="2" indent="0" algn="just">
                  <a:lnSpc>
                    <a:spcPct val="125000"/>
                  </a:lnSpc>
                  <a:buNone/>
                </a:pPr>
                <a:endParaRPr lang="en-US" sz="3184" baseline="-25000" dirty="0"/>
              </a:p>
              <a:p>
                <a:pPr marL="909919" lvl="2" indent="0" algn="just">
                  <a:lnSpc>
                    <a:spcPct val="125000"/>
                  </a:lnSpc>
                  <a:buNone/>
                </a:pPr>
                <a:r>
                  <a:rPr lang="en-US" sz="3184" baseline="-25000" dirty="0"/>
                  <a:t> </a:t>
                </a:r>
              </a:p>
              <a:p>
                <a:pPr marL="1478619" lvl="2" indent="-568700" algn="just">
                  <a:lnSpc>
                    <a:spcPct val="125000"/>
                  </a:lnSpc>
                  <a:buFont typeface="+mj-lt"/>
                  <a:buAutoNum type="romanLcPeriod" startAt="4"/>
                </a:pPr>
                <a:r>
                  <a:rPr lang="en-US" sz="3184" dirty="0"/>
                  <a:t>Repeat step II and III. Stop when </a:t>
                </a:r>
                <a:r>
                  <a:rPr lang="en-US" sz="3184" dirty="0" err="1"/>
                  <a:t>C</a:t>
                </a:r>
                <a:r>
                  <a:rPr lang="en-US" sz="3184" baseline="-25000" dirty="0" err="1"/>
                  <a:t>k</a:t>
                </a:r>
                <a:r>
                  <a:rPr lang="en-US" sz="3184" dirty="0"/>
                  <a:t> didn’t change or update significantly between iterations. </a:t>
                </a:r>
              </a:p>
            </p:txBody>
          </p:sp>
        </mc:Choice>
        <mc:Fallback>
          <p:sp>
            <p:nvSpPr>
              <p:cNvPr id="6" name="Subtitle 2">
                <a:extLst>
                  <a:ext uri="{FF2B5EF4-FFF2-40B4-BE49-F238E27FC236}">
                    <a16:creationId xmlns:a16="http://schemas.microsoft.com/office/drawing/2014/main" id="{941BD6FF-9110-482D-829B-CB43D0E927BE}"/>
                  </a:ext>
                </a:extLst>
              </p:cNvPr>
              <p:cNvSpPr txBox="1">
                <a:spLocks noRot="1" noChangeAspect="1" noMove="1" noResize="1" noEditPoints="1" noAdjustHandles="1" noChangeArrowheads="1" noChangeShapeType="1" noTextEdit="1"/>
              </p:cNvSpPr>
              <p:nvPr/>
            </p:nvSpPr>
            <p:spPr>
              <a:xfrm>
                <a:off x="210271" y="1181696"/>
                <a:ext cx="11772495" cy="4494611"/>
              </a:xfrm>
              <a:prstGeom prst="rect">
                <a:avLst/>
              </a:prstGeom>
              <a:blipFill>
                <a:blip r:embed="rId3"/>
                <a:stretch>
                  <a:fillRect r="-1189"/>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0BF4992-1004-437C-BECE-17F980392418}"/>
                  </a:ext>
                </a:extLst>
              </p:cNvPr>
              <p:cNvSpPr txBox="1"/>
              <p:nvPr/>
            </p:nvSpPr>
            <p:spPr>
              <a:xfrm>
                <a:off x="4035318" y="2748805"/>
                <a:ext cx="4941167" cy="11625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687" i="1">
                              <a:solidFill>
                                <a:srgbClr val="FF0000"/>
                              </a:solidFill>
                              <a:latin typeface="Cambria Math" panose="02040503050406030204" pitchFamily="18" charset="0"/>
                            </a:rPr>
                          </m:ctrlPr>
                        </m:sSubSupPr>
                        <m:e>
                          <m:r>
                            <a:rPr lang="en-US" sz="2687" i="1">
                              <a:solidFill>
                                <a:srgbClr val="FF0000"/>
                              </a:solidFill>
                              <a:latin typeface="Cambria Math" panose="02040503050406030204" pitchFamily="18" charset="0"/>
                            </a:rPr>
                            <m:t>𝐶</m:t>
                          </m:r>
                        </m:e>
                        <m:sub>
                          <m:r>
                            <a:rPr lang="en-US" sz="2687" i="1">
                              <a:solidFill>
                                <a:srgbClr val="FF0000"/>
                              </a:solidFill>
                              <a:latin typeface="Cambria Math" panose="02040503050406030204" pitchFamily="18" charset="0"/>
                            </a:rPr>
                            <m:t>𝑘</m:t>
                          </m:r>
                        </m:sub>
                        <m:sup>
                          <m:r>
                            <a:rPr lang="en-US" sz="2687" i="1">
                              <a:solidFill>
                                <a:srgbClr val="FF0000"/>
                              </a:solidFill>
                              <a:latin typeface="Cambria Math" panose="02040503050406030204" pitchFamily="18" charset="0"/>
                            </a:rPr>
                            <m:t>𝑛𝑒𝑤</m:t>
                          </m:r>
                        </m:sup>
                      </m:sSubSup>
                      <m:r>
                        <a:rPr lang="en-US" sz="2687" i="1">
                          <a:solidFill>
                            <a:srgbClr val="FF0000"/>
                          </a:solidFill>
                          <a:latin typeface="Cambria Math" panose="02040503050406030204" pitchFamily="18" charset="0"/>
                        </a:rPr>
                        <m:t>=</m:t>
                      </m:r>
                      <m:f>
                        <m:fPr>
                          <m:ctrlPr>
                            <a:rPr lang="en-US" sz="2687" i="1">
                              <a:solidFill>
                                <a:srgbClr val="FF0000"/>
                              </a:solidFill>
                              <a:latin typeface="Cambria Math" panose="02040503050406030204" pitchFamily="18" charset="0"/>
                            </a:rPr>
                          </m:ctrlPr>
                        </m:fPr>
                        <m:num>
                          <m:r>
                            <a:rPr lang="en-US" sz="2687" i="1">
                              <a:solidFill>
                                <a:srgbClr val="FF0000"/>
                              </a:solidFill>
                              <a:latin typeface="Cambria Math" panose="02040503050406030204" pitchFamily="18" charset="0"/>
                            </a:rPr>
                            <m:t>1</m:t>
                          </m:r>
                        </m:num>
                        <m:den>
                          <m:r>
                            <a:rPr lang="en-US" sz="2687" i="1">
                              <a:solidFill>
                                <a:srgbClr val="FF0000"/>
                              </a:solidFill>
                              <a:latin typeface="Cambria Math" panose="02040503050406030204" pitchFamily="18" charset="0"/>
                            </a:rPr>
                            <m:t>𝑁</m:t>
                          </m:r>
                          <m:r>
                            <a:rPr lang="en-US" sz="2687" i="1" baseline="-25000">
                              <a:solidFill>
                                <a:srgbClr val="FF0000"/>
                              </a:solidFill>
                              <a:latin typeface="Cambria Math" panose="02040503050406030204" pitchFamily="18" charset="0"/>
                            </a:rPr>
                            <m:t>𝑘</m:t>
                          </m:r>
                        </m:den>
                      </m:f>
                      <m:nary>
                        <m:naryPr>
                          <m:chr m:val="∑"/>
                          <m:ctrlPr>
                            <a:rPr lang="en-US" sz="2687" i="1">
                              <a:solidFill>
                                <a:srgbClr val="FF0000"/>
                              </a:solidFill>
                              <a:latin typeface="Cambria Math" panose="02040503050406030204" pitchFamily="18" charset="0"/>
                            </a:rPr>
                          </m:ctrlPr>
                        </m:naryPr>
                        <m:sub>
                          <m:r>
                            <m:rPr>
                              <m:brk m:alnAt="23"/>
                            </m:rPr>
                            <a:rPr lang="en-US" sz="2687" i="1">
                              <a:solidFill>
                                <a:srgbClr val="FF0000"/>
                              </a:solidFill>
                              <a:latin typeface="Cambria Math" panose="02040503050406030204" pitchFamily="18" charset="0"/>
                            </a:rPr>
                            <m:t>𝑖</m:t>
                          </m:r>
                          <m:r>
                            <a:rPr lang="en-US" sz="2687" i="1">
                              <a:solidFill>
                                <a:srgbClr val="FF0000"/>
                              </a:solidFill>
                              <a:latin typeface="Cambria Math" panose="02040503050406030204" pitchFamily="18" charset="0"/>
                            </a:rPr>
                            <m:t>=</m:t>
                          </m:r>
                          <m:r>
                            <a:rPr lang="en-US" sz="2687" i="1">
                              <a:solidFill>
                                <a:srgbClr val="FF0000"/>
                              </a:solidFill>
                              <a:latin typeface="Cambria Math" panose="02040503050406030204" pitchFamily="18" charset="0"/>
                            </a:rPr>
                            <m:t>1</m:t>
                          </m:r>
                        </m:sub>
                        <m:sup>
                          <m:r>
                            <a:rPr lang="en-US" sz="2687" i="1">
                              <a:solidFill>
                                <a:srgbClr val="FF0000"/>
                              </a:solidFill>
                              <a:latin typeface="Cambria Math" panose="02040503050406030204" pitchFamily="18" charset="0"/>
                            </a:rPr>
                            <m:t>𝑁</m:t>
                          </m:r>
                          <m:r>
                            <a:rPr lang="en-US" sz="2687" i="1" baseline="-25000">
                              <a:solidFill>
                                <a:srgbClr val="FF0000"/>
                              </a:solidFill>
                              <a:latin typeface="Cambria Math" panose="02040503050406030204" pitchFamily="18" charset="0"/>
                            </a:rPr>
                            <m:t>𝑘</m:t>
                          </m:r>
                        </m:sup>
                        <m:e>
                          <m:r>
                            <a:rPr lang="en-US" sz="2687" i="1">
                              <a:solidFill>
                                <a:srgbClr val="FF0000"/>
                              </a:solidFill>
                              <a:latin typeface="Cambria Math" panose="02040503050406030204" pitchFamily="18" charset="0"/>
                            </a:rPr>
                            <m:t>𝑝</m:t>
                          </m:r>
                          <m:r>
                            <a:rPr lang="en-US" sz="2687" i="1" baseline="-25000">
                              <a:solidFill>
                                <a:srgbClr val="FF0000"/>
                              </a:solidFill>
                              <a:latin typeface="Cambria Math" panose="02040503050406030204" pitchFamily="18" charset="0"/>
                            </a:rPr>
                            <m:t>𝑘</m:t>
                          </m:r>
                          <m:r>
                            <a:rPr lang="en-US" sz="2687" i="1">
                              <a:solidFill>
                                <a:srgbClr val="FF0000"/>
                              </a:solidFill>
                              <a:latin typeface="Cambria Math" panose="02040503050406030204" pitchFamily="18" charset="0"/>
                            </a:rPr>
                            <m:t>, </m:t>
                          </m:r>
                          <m:r>
                            <a:rPr lang="en-US" sz="2687" i="1">
                              <a:solidFill>
                                <a:srgbClr val="FF0000"/>
                              </a:solidFill>
                              <a:latin typeface="Cambria Math" panose="02040503050406030204" pitchFamily="18" charset="0"/>
                            </a:rPr>
                            <m:t>𝑤</m:t>
                          </m:r>
                          <m:r>
                            <a:rPr lang="en-US" sz="2687" i="1">
                              <a:solidFill>
                                <a:srgbClr val="FF0000"/>
                              </a:solidFill>
                              <a:latin typeface="Cambria Math" panose="02040503050406030204" pitchFamily="18" charset="0"/>
                            </a:rPr>
                            <m:t>h</m:t>
                          </m:r>
                          <m:r>
                            <a:rPr lang="en-US" sz="2687" i="1">
                              <a:solidFill>
                                <a:srgbClr val="FF0000"/>
                              </a:solidFill>
                              <a:latin typeface="Cambria Math" panose="02040503050406030204" pitchFamily="18" charset="0"/>
                            </a:rPr>
                            <m:t>𝑒𝑟𝑒</m:t>
                          </m:r>
                          <m:r>
                            <a:rPr lang="en-US" sz="2687" i="1">
                              <a:solidFill>
                                <a:srgbClr val="FF0000"/>
                              </a:solidFill>
                              <a:latin typeface="Cambria Math" panose="02040503050406030204" pitchFamily="18" charset="0"/>
                            </a:rPr>
                            <m:t>  </m:t>
                          </m:r>
                          <m:r>
                            <a:rPr lang="en-US" sz="2687" i="1">
                              <a:solidFill>
                                <a:srgbClr val="FF0000"/>
                              </a:solidFill>
                              <a:latin typeface="Cambria Math" panose="02040503050406030204" pitchFamily="18" charset="0"/>
                            </a:rPr>
                            <m:t>𝑝𝑘</m:t>
                          </m:r>
                          <m:r>
                            <a:rPr lang="en-US" sz="2687" i="1">
                              <a:solidFill>
                                <a:srgbClr val="FF0000"/>
                              </a:solidFill>
                              <a:latin typeface="Cambria Math" panose="02040503050406030204" pitchFamily="18" charset="0"/>
                              <a:ea typeface="Cambria Math" panose="02040503050406030204" pitchFamily="18" charset="0"/>
                            </a:rPr>
                            <m:t>∈</m:t>
                          </m:r>
                          <m:r>
                            <a:rPr lang="en-US" sz="2687" i="1">
                              <a:solidFill>
                                <a:srgbClr val="FF0000"/>
                              </a:solidFill>
                              <a:latin typeface="Cambria Math" panose="02040503050406030204" pitchFamily="18" charset="0"/>
                              <a:ea typeface="Cambria Math" panose="02040503050406030204" pitchFamily="18" charset="0"/>
                            </a:rPr>
                            <m:t>𝑆𝑘</m:t>
                          </m:r>
                        </m:e>
                      </m:nary>
                    </m:oMath>
                  </m:oMathPara>
                </a14:m>
                <a:endParaRPr lang="en-US" sz="2687" dirty="0">
                  <a:solidFill>
                    <a:srgbClr val="FF0000"/>
                  </a:solidFill>
                </a:endParaRPr>
              </a:p>
            </p:txBody>
          </p:sp>
        </mc:Choice>
        <mc:Fallback>
          <p:sp>
            <p:nvSpPr>
              <p:cNvPr id="8" name="TextBox 7">
                <a:extLst>
                  <a:ext uri="{FF2B5EF4-FFF2-40B4-BE49-F238E27FC236}">
                    <a16:creationId xmlns:a16="http://schemas.microsoft.com/office/drawing/2014/main" id="{B0BF4992-1004-437C-BECE-17F980392418}"/>
                  </a:ext>
                </a:extLst>
              </p:cNvPr>
              <p:cNvSpPr txBox="1">
                <a:spLocks noRot="1" noChangeAspect="1" noMove="1" noResize="1" noEditPoints="1" noAdjustHandles="1" noChangeArrowheads="1" noChangeShapeType="1" noTextEdit="1"/>
              </p:cNvSpPr>
              <p:nvPr/>
            </p:nvSpPr>
            <p:spPr>
              <a:xfrm>
                <a:off x="4035318" y="2748805"/>
                <a:ext cx="4941167" cy="1162517"/>
              </a:xfrm>
              <a:prstGeom prst="rect">
                <a:avLst/>
              </a:prstGeom>
              <a:blipFill>
                <a:blip r:embed="rId4"/>
                <a:stretch>
                  <a:fillRect/>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AEE912A1-8518-4EBA-A3A6-6DDF583746F8}"/>
              </a:ext>
            </a:extLst>
          </p:cNvPr>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Algorithm: K-means Clustering</a:t>
            </a:r>
          </a:p>
        </p:txBody>
      </p:sp>
    </p:spTree>
    <p:custDataLst>
      <p:tags r:id="rId1"/>
    </p:custDataLst>
    <p:extLst>
      <p:ext uri="{BB962C8B-B14F-4D97-AF65-F5344CB8AC3E}">
        <p14:creationId xmlns:p14="http://schemas.microsoft.com/office/powerpoint/2010/main" val="2420707537"/>
      </p:ext>
    </p:extLst>
  </p:cSld>
  <p:clrMapOvr>
    <a:masterClrMapping/>
  </p:clrMapOvr>
  <mc:AlternateContent xmlns:mc="http://schemas.openxmlformats.org/markup-compatibility/2006" xmlns:p14="http://schemas.microsoft.com/office/powerpoint/2010/main">
    <mc:Choice Requires="p14">
      <p:transition spd="med" p14:dur="700" advTm="100789">
        <p:fade/>
      </p:transition>
    </mc:Choice>
    <mc:Fallback xmlns="">
      <p:transition spd="med" advTm="10078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par>
                                <p:cTn id="13" presetID="6" presetClass="entr" presetSubtype="16" fill="hold"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circle(in)">
                                      <p:cBhvr>
                                        <p:cTn id="15" dur="2000"/>
                                        <p:tgtEl>
                                          <p:spTgt spid="6">
                                            <p:txEl>
                                              <p:pRg st="0" end="0"/>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circle(in)">
                                      <p:cBhvr>
                                        <p:cTn id="18" dur="2000"/>
                                        <p:tgtEl>
                                          <p:spTgt spid="6">
                                            <p:txEl>
                                              <p:pRg st="2" end="2"/>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circle(in)">
                                      <p:cBhvr>
                                        <p:cTn id="21"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Code</a:t>
            </a:r>
          </a:p>
        </p:txBody>
      </p:sp>
      <p:pic>
        <p:nvPicPr>
          <p:cNvPr id="25" name="Picture 24" descr="A screenshot of a social media post&#10;&#10;Description automatically generated">
            <a:extLst>
              <a:ext uri="{FF2B5EF4-FFF2-40B4-BE49-F238E27FC236}">
                <a16:creationId xmlns:a16="http://schemas.microsoft.com/office/drawing/2014/main" id="{B97C90DC-489F-4111-A626-35B437699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036" y="1127451"/>
            <a:ext cx="10330479" cy="5062122"/>
          </a:xfrm>
          <a:prstGeom prst="rect">
            <a:avLst/>
          </a:prstGeom>
        </p:spPr>
      </p:pic>
    </p:spTree>
    <p:custDataLst>
      <p:tags r:id="rId1"/>
    </p:custDataLst>
    <p:extLst>
      <p:ext uri="{BB962C8B-B14F-4D97-AF65-F5344CB8AC3E}">
        <p14:creationId xmlns:p14="http://schemas.microsoft.com/office/powerpoint/2010/main" val="3552913932"/>
      </p:ext>
    </p:extLst>
  </p:cSld>
  <p:clrMapOvr>
    <a:masterClrMapping/>
  </p:clrMapOvr>
  <mc:AlternateContent xmlns:mc="http://schemas.openxmlformats.org/markup-compatibility/2006" xmlns:p14="http://schemas.microsoft.com/office/powerpoint/2010/main">
    <mc:Choice Requires="p14">
      <p:transition spd="med" p14:dur="700" advTm="830018">
        <p:fade/>
      </p:transition>
    </mc:Choice>
    <mc:Fallback xmlns="">
      <p:transition spd="med" advTm="830018">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Example_1</a:t>
            </a:r>
          </a:p>
        </p:txBody>
      </p:sp>
      <p:pic>
        <p:nvPicPr>
          <p:cNvPr id="8" name="Picture 7" descr="A screenshot of a cell phone&#10;&#10;Description automatically generated">
            <a:extLst>
              <a:ext uri="{FF2B5EF4-FFF2-40B4-BE49-F238E27FC236}">
                <a16:creationId xmlns:a16="http://schemas.microsoft.com/office/drawing/2014/main" id="{20869D43-9C00-416A-B67B-45F662F017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793" y="1120420"/>
            <a:ext cx="5507546" cy="3422073"/>
          </a:xfrm>
          <a:prstGeom prst="rect">
            <a:avLst/>
          </a:prstGeom>
        </p:spPr>
      </p:pic>
      <p:pic>
        <p:nvPicPr>
          <p:cNvPr id="11" name="Picture 10" descr="A close up of a colorful background&#10;&#10;Description automatically generated">
            <a:extLst>
              <a:ext uri="{FF2B5EF4-FFF2-40B4-BE49-F238E27FC236}">
                <a16:creationId xmlns:a16="http://schemas.microsoft.com/office/drawing/2014/main" id="{FED07AB8-1723-4429-8ABC-8AC9111B69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0281" y="1120419"/>
            <a:ext cx="3877086" cy="2369856"/>
          </a:xfrm>
          <a:prstGeom prst="rect">
            <a:avLst/>
          </a:prstGeom>
        </p:spPr>
      </p:pic>
      <p:pic>
        <p:nvPicPr>
          <p:cNvPr id="13" name="Picture 12" descr="A picture containing light, colorful, lot, room&#10;&#10;Description automatically generated">
            <a:extLst>
              <a:ext uri="{FF2B5EF4-FFF2-40B4-BE49-F238E27FC236}">
                <a16:creationId xmlns:a16="http://schemas.microsoft.com/office/drawing/2014/main" id="{E0E71357-E02D-4CFF-962F-7D55C3EAEB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1843" y="3696485"/>
            <a:ext cx="3905524" cy="2493089"/>
          </a:xfrm>
          <a:prstGeom prst="rect">
            <a:avLst/>
          </a:prstGeom>
        </p:spPr>
      </p:pic>
      <p:pic>
        <p:nvPicPr>
          <p:cNvPr id="15" name="Picture 14" descr="A picture containing room, table&#10;&#10;Description automatically generated">
            <a:extLst>
              <a:ext uri="{FF2B5EF4-FFF2-40B4-BE49-F238E27FC236}">
                <a16:creationId xmlns:a16="http://schemas.microsoft.com/office/drawing/2014/main" id="{136B7B38-3997-484D-A7E6-1FB87E6835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1344" y="4698164"/>
            <a:ext cx="1346079" cy="1194408"/>
          </a:xfrm>
          <a:prstGeom prst="rect">
            <a:avLst/>
          </a:prstGeom>
        </p:spPr>
      </p:pic>
    </p:spTree>
    <p:custDataLst>
      <p:tags r:id="rId1"/>
    </p:custDataLst>
    <p:extLst>
      <p:ext uri="{BB962C8B-B14F-4D97-AF65-F5344CB8AC3E}">
        <p14:creationId xmlns:p14="http://schemas.microsoft.com/office/powerpoint/2010/main" val="2304724867"/>
      </p:ext>
    </p:extLst>
  </p:cSld>
  <p:clrMapOvr>
    <a:masterClrMapping/>
  </p:clrMapOvr>
  <mc:AlternateContent xmlns:mc="http://schemas.openxmlformats.org/markup-compatibility/2006" xmlns:p14="http://schemas.microsoft.com/office/powerpoint/2010/main">
    <mc:Choice Requires="p14">
      <p:transition spd="med" p14:dur="700" advTm="252670">
        <p:fade/>
      </p:transition>
    </mc:Choice>
    <mc:Fallback xmlns="">
      <p:transition spd="med" advTm="25267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Example_2</a:t>
            </a:r>
          </a:p>
        </p:txBody>
      </p:sp>
      <p:sp>
        <p:nvSpPr>
          <p:cNvPr id="6" name="Subtitle 2">
            <a:extLst>
              <a:ext uri="{FF2B5EF4-FFF2-40B4-BE49-F238E27FC236}">
                <a16:creationId xmlns:a16="http://schemas.microsoft.com/office/drawing/2014/main" id="{941BD6FF-9110-482D-829B-CB43D0E927BE}"/>
              </a:ext>
            </a:extLst>
          </p:cNvPr>
          <p:cNvSpPr txBox="1">
            <a:spLocks/>
          </p:cNvSpPr>
          <p:nvPr/>
        </p:nvSpPr>
        <p:spPr>
          <a:xfrm>
            <a:off x="279924" y="1114223"/>
            <a:ext cx="11772495" cy="782714"/>
          </a:xfrm>
          <a:prstGeom prst="rect">
            <a:avLst/>
          </a:prstGeom>
          <a:solidFill>
            <a:schemeClr val="bg1"/>
          </a:solidFill>
          <a:ln>
            <a:solidFill>
              <a:schemeClr val="bg1"/>
            </a:solidFill>
          </a:ln>
        </p:spPr>
        <p:txBody>
          <a:bodyPr vert="horz" lIns="90990" tIns="45495" rIns="90990" bIns="45495"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9060" lvl="2" indent="0" algn="just">
              <a:lnSpc>
                <a:spcPct val="125000"/>
              </a:lnSpc>
              <a:buNone/>
            </a:pPr>
            <a:r>
              <a:rPr lang="en-US" sz="3184" dirty="0"/>
              <a:t>Use K-means to cluster the below fundus image to four classes.</a:t>
            </a:r>
          </a:p>
        </p:txBody>
      </p:sp>
      <p:pic>
        <p:nvPicPr>
          <p:cNvPr id="4" name="Picture 3" descr="A picture containing photo, person, dark, holding&#10;&#10;Description automatically generated">
            <a:extLst>
              <a:ext uri="{FF2B5EF4-FFF2-40B4-BE49-F238E27FC236}">
                <a16:creationId xmlns:a16="http://schemas.microsoft.com/office/drawing/2014/main" id="{FEE2AAC3-F986-4253-A965-CA0DD08AE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6208" y="2037731"/>
            <a:ext cx="4802248" cy="4085291"/>
          </a:xfrm>
          <a:prstGeom prst="rect">
            <a:avLst/>
          </a:prstGeom>
        </p:spPr>
      </p:pic>
    </p:spTree>
    <p:custDataLst>
      <p:tags r:id="rId1"/>
    </p:custDataLst>
    <p:extLst>
      <p:ext uri="{BB962C8B-B14F-4D97-AF65-F5344CB8AC3E}">
        <p14:creationId xmlns:p14="http://schemas.microsoft.com/office/powerpoint/2010/main" val="1733397657"/>
      </p:ext>
    </p:extLst>
  </p:cSld>
  <p:clrMapOvr>
    <a:masterClrMapping/>
  </p:clrMapOvr>
  <mc:AlternateContent xmlns:mc="http://schemas.openxmlformats.org/markup-compatibility/2006" xmlns:p14="http://schemas.microsoft.com/office/powerpoint/2010/main">
    <mc:Choice Requires="p14">
      <p:transition spd="med" p14:dur="700" advTm="17309">
        <p:fade/>
      </p:transition>
    </mc:Choice>
    <mc:Fallback xmlns="">
      <p:transition spd="med" advTm="1730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Results</a:t>
            </a:r>
          </a:p>
        </p:txBody>
      </p:sp>
      <p:pic>
        <p:nvPicPr>
          <p:cNvPr id="4" name="Picture 3" descr="A close up of a logo&#10;&#10;Description automatically generated">
            <a:extLst>
              <a:ext uri="{FF2B5EF4-FFF2-40B4-BE49-F238E27FC236}">
                <a16:creationId xmlns:a16="http://schemas.microsoft.com/office/drawing/2014/main" id="{B0DBBE35-DCD5-447C-A151-46F2FC158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6222" y="3241190"/>
            <a:ext cx="2879081" cy="2466231"/>
          </a:xfrm>
          <a:prstGeom prst="rect">
            <a:avLst/>
          </a:prstGeom>
        </p:spPr>
      </p:pic>
      <p:pic>
        <p:nvPicPr>
          <p:cNvPr id="7" name="Picture 6" descr="A close up of a logo&#10;&#10;Description automatically generated">
            <a:extLst>
              <a:ext uri="{FF2B5EF4-FFF2-40B4-BE49-F238E27FC236}">
                <a16:creationId xmlns:a16="http://schemas.microsoft.com/office/drawing/2014/main" id="{EE836898-4A07-48C8-A64E-AF9D33053B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5303" y="3236568"/>
            <a:ext cx="2879081" cy="2470852"/>
          </a:xfrm>
          <a:prstGeom prst="rect">
            <a:avLst/>
          </a:prstGeom>
        </p:spPr>
      </p:pic>
      <p:pic>
        <p:nvPicPr>
          <p:cNvPr id="12" name="Picture 11" descr="A close up of a logo&#10;&#10;Description automatically generated">
            <a:extLst>
              <a:ext uri="{FF2B5EF4-FFF2-40B4-BE49-F238E27FC236}">
                <a16:creationId xmlns:a16="http://schemas.microsoft.com/office/drawing/2014/main" id="{49F94B9F-F079-4722-84BE-8F5DCC438B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6717" y="3228756"/>
            <a:ext cx="2879081" cy="2486479"/>
          </a:xfrm>
          <a:prstGeom prst="rect">
            <a:avLst/>
          </a:prstGeom>
        </p:spPr>
      </p:pic>
      <p:pic>
        <p:nvPicPr>
          <p:cNvPr id="13" name="Picture 12" descr="A picture containing photo, person, dark, holding&#10;&#10;Description automatically generated">
            <a:extLst>
              <a:ext uri="{FF2B5EF4-FFF2-40B4-BE49-F238E27FC236}">
                <a16:creationId xmlns:a16="http://schemas.microsoft.com/office/drawing/2014/main" id="{A573DD50-6C5E-4D60-8FE5-4771FB4119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528" y="3306084"/>
            <a:ext cx="2729694" cy="2331823"/>
          </a:xfrm>
          <a:prstGeom prst="rect">
            <a:avLst/>
          </a:prstGeom>
        </p:spPr>
      </p:pic>
      <p:pic>
        <p:nvPicPr>
          <p:cNvPr id="17" name="Picture 16" descr="A screenshot of a cell phone&#10;&#10;Description automatically generated">
            <a:extLst>
              <a:ext uri="{FF2B5EF4-FFF2-40B4-BE49-F238E27FC236}">
                <a16:creationId xmlns:a16="http://schemas.microsoft.com/office/drawing/2014/main" id="{73030573-79ED-4448-85F7-88DCF7D96F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529" y="1107893"/>
            <a:ext cx="5943601" cy="1981200"/>
          </a:xfrm>
          <a:prstGeom prst="rect">
            <a:avLst/>
          </a:prstGeom>
        </p:spPr>
      </p:pic>
      <p:pic>
        <p:nvPicPr>
          <p:cNvPr id="20" name="Picture 19" descr="A screenshot of a computer&#10;&#10;Description automatically generated">
            <a:extLst>
              <a:ext uri="{FF2B5EF4-FFF2-40B4-BE49-F238E27FC236}">
                <a16:creationId xmlns:a16="http://schemas.microsoft.com/office/drawing/2014/main" id="{AB7178A2-540E-4EFA-ABDA-7FB4276977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84843" y="1801084"/>
            <a:ext cx="3412594" cy="796272"/>
          </a:xfrm>
          <a:prstGeom prst="rect">
            <a:avLst/>
          </a:prstGeom>
        </p:spPr>
      </p:pic>
      <p:sp>
        <p:nvSpPr>
          <p:cNvPr id="24" name="Rectangle 23">
            <a:extLst>
              <a:ext uri="{FF2B5EF4-FFF2-40B4-BE49-F238E27FC236}">
                <a16:creationId xmlns:a16="http://schemas.microsoft.com/office/drawing/2014/main" id="{E3E9819C-76E9-4002-975C-D163BFED86B0}"/>
              </a:ext>
            </a:extLst>
          </p:cNvPr>
          <p:cNvSpPr/>
          <p:nvPr/>
        </p:nvSpPr>
        <p:spPr>
          <a:xfrm>
            <a:off x="7980215" y="1446899"/>
            <a:ext cx="2657250" cy="336887"/>
          </a:xfrm>
          <a:prstGeom prst="rect">
            <a:avLst/>
          </a:prstGeom>
        </p:spPr>
        <p:txBody>
          <a:bodyPr wrap="square">
            <a:spAutoFit/>
          </a:bodyPr>
          <a:lstStyle/>
          <a:p>
            <a:r>
              <a:rPr lang="en-US" sz="1592" b="1" dirty="0">
                <a:solidFill>
                  <a:srgbClr val="FF0000"/>
                </a:solidFill>
              </a:rPr>
              <a:t>Initial BGR cluster centers</a:t>
            </a:r>
            <a:endParaRPr lang="en-US" sz="1592" dirty="0">
              <a:solidFill>
                <a:srgbClr val="FF0000"/>
              </a:solidFill>
            </a:endParaRPr>
          </a:p>
        </p:txBody>
      </p:sp>
      <p:sp>
        <p:nvSpPr>
          <p:cNvPr id="26" name="TextBox 25">
            <a:extLst>
              <a:ext uri="{FF2B5EF4-FFF2-40B4-BE49-F238E27FC236}">
                <a16:creationId xmlns:a16="http://schemas.microsoft.com/office/drawing/2014/main" id="{58F62FB3-D886-4EDB-8CE9-2C1363FC3892}"/>
              </a:ext>
            </a:extLst>
          </p:cNvPr>
          <p:cNvSpPr txBox="1"/>
          <p:nvPr/>
        </p:nvSpPr>
        <p:spPr>
          <a:xfrm>
            <a:off x="1303272" y="5610042"/>
            <a:ext cx="676646" cy="367514"/>
          </a:xfrm>
          <a:prstGeom prst="rect">
            <a:avLst/>
          </a:prstGeom>
          <a:noFill/>
        </p:spPr>
        <p:txBody>
          <a:bodyPr wrap="none" rtlCol="0">
            <a:spAutoFit/>
          </a:bodyPr>
          <a:lstStyle/>
          <a:p>
            <a:r>
              <a:rPr lang="en-US" sz="1791" dirty="0">
                <a:solidFill>
                  <a:srgbClr val="002060"/>
                </a:solidFill>
              </a:rPr>
              <a:t>input</a:t>
            </a:r>
          </a:p>
        </p:txBody>
      </p:sp>
      <p:sp>
        <p:nvSpPr>
          <p:cNvPr id="28" name="TextBox 27">
            <a:extLst>
              <a:ext uri="{FF2B5EF4-FFF2-40B4-BE49-F238E27FC236}">
                <a16:creationId xmlns:a16="http://schemas.microsoft.com/office/drawing/2014/main" id="{D3ABCD1F-9F92-4430-A707-3154CFC44A8B}"/>
              </a:ext>
            </a:extLst>
          </p:cNvPr>
          <p:cNvSpPr txBox="1"/>
          <p:nvPr/>
        </p:nvSpPr>
        <p:spPr>
          <a:xfrm>
            <a:off x="3796252" y="5631706"/>
            <a:ext cx="1520715" cy="367514"/>
          </a:xfrm>
          <a:prstGeom prst="rect">
            <a:avLst/>
          </a:prstGeom>
          <a:noFill/>
        </p:spPr>
        <p:txBody>
          <a:bodyPr wrap="none" rtlCol="0">
            <a:spAutoFit/>
          </a:bodyPr>
          <a:lstStyle/>
          <a:p>
            <a:r>
              <a:rPr lang="en-US" sz="1791" dirty="0">
                <a:solidFill>
                  <a:srgbClr val="002060"/>
                </a:solidFill>
              </a:rPr>
              <a:t>#iterations = 2</a:t>
            </a:r>
          </a:p>
        </p:txBody>
      </p:sp>
      <p:sp>
        <p:nvSpPr>
          <p:cNvPr id="30" name="TextBox 29">
            <a:extLst>
              <a:ext uri="{FF2B5EF4-FFF2-40B4-BE49-F238E27FC236}">
                <a16:creationId xmlns:a16="http://schemas.microsoft.com/office/drawing/2014/main" id="{671A7268-5DD2-4AAC-B1A4-E0A0DD12D3D1}"/>
              </a:ext>
            </a:extLst>
          </p:cNvPr>
          <p:cNvSpPr txBox="1"/>
          <p:nvPr/>
        </p:nvSpPr>
        <p:spPr>
          <a:xfrm>
            <a:off x="6657912" y="5619250"/>
            <a:ext cx="1520715" cy="367514"/>
          </a:xfrm>
          <a:prstGeom prst="rect">
            <a:avLst/>
          </a:prstGeom>
          <a:noFill/>
        </p:spPr>
        <p:txBody>
          <a:bodyPr wrap="none" rtlCol="0">
            <a:spAutoFit/>
          </a:bodyPr>
          <a:lstStyle/>
          <a:p>
            <a:r>
              <a:rPr lang="en-US" sz="1791" dirty="0">
                <a:solidFill>
                  <a:srgbClr val="002060"/>
                </a:solidFill>
              </a:rPr>
              <a:t>#iterations = 5</a:t>
            </a:r>
          </a:p>
        </p:txBody>
      </p:sp>
      <p:sp>
        <p:nvSpPr>
          <p:cNvPr id="44" name="TextBox 43">
            <a:extLst>
              <a:ext uri="{FF2B5EF4-FFF2-40B4-BE49-F238E27FC236}">
                <a16:creationId xmlns:a16="http://schemas.microsoft.com/office/drawing/2014/main" id="{27A63C61-C135-4B89-B9D3-789977846BAC}"/>
              </a:ext>
            </a:extLst>
          </p:cNvPr>
          <p:cNvSpPr txBox="1"/>
          <p:nvPr/>
        </p:nvSpPr>
        <p:spPr>
          <a:xfrm>
            <a:off x="9487504" y="5638181"/>
            <a:ext cx="1637158" cy="367514"/>
          </a:xfrm>
          <a:prstGeom prst="rect">
            <a:avLst/>
          </a:prstGeom>
          <a:noFill/>
        </p:spPr>
        <p:txBody>
          <a:bodyPr wrap="none" rtlCol="0">
            <a:spAutoFit/>
          </a:bodyPr>
          <a:lstStyle/>
          <a:p>
            <a:r>
              <a:rPr lang="en-US" sz="1791" dirty="0">
                <a:solidFill>
                  <a:srgbClr val="002060"/>
                </a:solidFill>
              </a:rPr>
              <a:t>#iterations = 10</a:t>
            </a:r>
          </a:p>
        </p:txBody>
      </p:sp>
    </p:spTree>
    <p:extLst>
      <p:ext uri="{BB962C8B-B14F-4D97-AF65-F5344CB8AC3E}">
        <p14:creationId xmlns:p14="http://schemas.microsoft.com/office/powerpoint/2010/main" val="4048696856"/>
      </p:ext>
    </p:extLst>
  </p:cSld>
  <p:clrMapOvr>
    <a:masterClrMapping/>
  </p:clrMapOvr>
  <mc:AlternateContent xmlns:mc="http://schemas.openxmlformats.org/markup-compatibility/2006" xmlns:p14="http://schemas.microsoft.com/office/powerpoint/2010/main">
    <mc:Choice Requires="p14">
      <p:transition spd="med" p14:dur="700" advTm="392393">
        <p:fade/>
      </p:transition>
    </mc:Choice>
    <mc:Fallback xmlns="">
      <p:transition spd="med" advTm="392393">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close up of a logo&#10;&#10;Description automatically generated">
            <a:extLst>
              <a:ext uri="{FF2B5EF4-FFF2-40B4-BE49-F238E27FC236}">
                <a16:creationId xmlns:a16="http://schemas.microsoft.com/office/drawing/2014/main" id="{922DB667-73B8-4B11-8BBD-9991B64A28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2176" y="2582301"/>
            <a:ext cx="3355717" cy="2862786"/>
          </a:xfrm>
          <a:prstGeom prst="rect">
            <a:avLst/>
          </a:prstGeom>
        </p:spPr>
      </p:pic>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Results</a:t>
            </a:r>
          </a:p>
        </p:txBody>
      </p:sp>
      <p:pic>
        <p:nvPicPr>
          <p:cNvPr id="6" name="Picture 5" descr="A picture containing photo, person, dark, holding&#10;&#10;Description automatically generated">
            <a:extLst>
              <a:ext uri="{FF2B5EF4-FFF2-40B4-BE49-F238E27FC236}">
                <a16:creationId xmlns:a16="http://schemas.microsoft.com/office/drawing/2014/main" id="{DF3F45A3-EB8E-40FC-BDC6-2BAB6BB6EB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026" y="2550530"/>
            <a:ext cx="3365196" cy="2862786"/>
          </a:xfrm>
          <a:prstGeom prst="rect">
            <a:avLst/>
          </a:prstGeom>
        </p:spPr>
      </p:pic>
      <p:cxnSp>
        <p:nvCxnSpPr>
          <p:cNvPr id="14" name="Straight Arrow Connector 13">
            <a:extLst>
              <a:ext uri="{FF2B5EF4-FFF2-40B4-BE49-F238E27FC236}">
                <a16:creationId xmlns:a16="http://schemas.microsoft.com/office/drawing/2014/main" id="{242B1074-9BFB-421A-AB52-A7D13AC260A0}"/>
              </a:ext>
            </a:extLst>
          </p:cNvPr>
          <p:cNvCxnSpPr>
            <a:cxnSpLocks/>
          </p:cNvCxnSpPr>
          <p:nvPr/>
        </p:nvCxnSpPr>
        <p:spPr>
          <a:xfrm flipH="1">
            <a:off x="6994282" y="1999646"/>
            <a:ext cx="173316" cy="192711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D7FA48A-AE66-40DA-ACB3-F03C523154B7}"/>
              </a:ext>
            </a:extLst>
          </p:cNvPr>
          <p:cNvSpPr txBox="1"/>
          <p:nvPr/>
        </p:nvSpPr>
        <p:spPr>
          <a:xfrm>
            <a:off x="6814311" y="1575920"/>
            <a:ext cx="1370519" cy="366110"/>
          </a:xfrm>
          <a:prstGeom prst="rect">
            <a:avLst/>
          </a:prstGeom>
          <a:noFill/>
        </p:spPr>
        <p:txBody>
          <a:bodyPr wrap="none" rtlCol="0">
            <a:spAutoFit/>
          </a:bodyPr>
          <a:lstStyle/>
          <a:p>
            <a:r>
              <a:rPr lang="en-US" sz="1791" dirty="0">
                <a:solidFill>
                  <a:srgbClr val="FF0000"/>
                </a:solidFill>
              </a:rPr>
              <a:t>[69,131,222]</a:t>
            </a:r>
          </a:p>
        </p:txBody>
      </p:sp>
      <p:cxnSp>
        <p:nvCxnSpPr>
          <p:cNvPr id="18" name="Straight Arrow Connector 17">
            <a:extLst>
              <a:ext uri="{FF2B5EF4-FFF2-40B4-BE49-F238E27FC236}">
                <a16:creationId xmlns:a16="http://schemas.microsoft.com/office/drawing/2014/main" id="{F7E5E41C-3352-46A9-9633-294A9E513326}"/>
              </a:ext>
            </a:extLst>
          </p:cNvPr>
          <p:cNvCxnSpPr>
            <a:cxnSpLocks/>
          </p:cNvCxnSpPr>
          <p:nvPr/>
        </p:nvCxnSpPr>
        <p:spPr>
          <a:xfrm flipH="1" flipV="1">
            <a:off x="7145934" y="4821625"/>
            <a:ext cx="2046432" cy="101336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8002FBC-8879-4FE9-AFEE-FDEEE933A37A}"/>
              </a:ext>
            </a:extLst>
          </p:cNvPr>
          <p:cNvSpPr txBox="1"/>
          <p:nvPr/>
        </p:nvSpPr>
        <p:spPr>
          <a:xfrm>
            <a:off x="8685695" y="5877457"/>
            <a:ext cx="1254076" cy="366110"/>
          </a:xfrm>
          <a:prstGeom prst="rect">
            <a:avLst/>
          </a:prstGeom>
          <a:noFill/>
        </p:spPr>
        <p:txBody>
          <a:bodyPr wrap="none" rtlCol="0">
            <a:spAutoFit/>
          </a:bodyPr>
          <a:lstStyle/>
          <a:p>
            <a:r>
              <a:rPr lang="en-US" sz="1791" dirty="0">
                <a:solidFill>
                  <a:srgbClr val="FF0000"/>
                </a:solidFill>
              </a:rPr>
              <a:t>[35,75,158]</a:t>
            </a:r>
          </a:p>
        </p:txBody>
      </p:sp>
      <p:cxnSp>
        <p:nvCxnSpPr>
          <p:cNvPr id="22" name="Straight Arrow Connector 21">
            <a:extLst>
              <a:ext uri="{FF2B5EF4-FFF2-40B4-BE49-F238E27FC236}">
                <a16:creationId xmlns:a16="http://schemas.microsoft.com/office/drawing/2014/main" id="{B18F1D29-15DA-4C5C-8A37-59B614EDEF14}"/>
              </a:ext>
            </a:extLst>
          </p:cNvPr>
          <p:cNvCxnSpPr>
            <a:cxnSpLocks/>
          </p:cNvCxnSpPr>
          <p:nvPr/>
        </p:nvCxnSpPr>
        <p:spPr>
          <a:xfrm flipV="1">
            <a:off x="5932735" y="4555377"/>
            <a:ext cx="334513" cy="127961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3AFEBCB-FED0-4A81-AA26-0CD7E575486E}"/>
              </a:ext>
            </a:extLst>
          </p:cNvPr>
          <p:cNvSpPr txBox="1"/>
          <p:nvPr/>
        </p:nvSpPr>
        <p:spPr>
          <a:xfrm>
            <a:off x="4992130" y="5859868"/>
            <a:ext cx="1254076" cy="366110"/>
          </a:xfrm>
          <a:prstGeom prst="rect">
            <a:avLst/>
          </a:prstGeom>
          <a:noFill/>
        </p:spPr>
        <p:txBody>
          <a:bodyPr wrap="none" rtlCol="0">
            <a:spAutoFit/>
          </a:bodyPr>
          <a:lstStyle/>
          <a:p>
            <a:r>
              <a:rPr lang="en-US" sz="1791" dirty="0">
                <a:solidFill>
                  <a:srgbClr val="FF0000"/>
                </a:solidFill>
              </a:rPr>
              <a:t>[24,54,127]</a:t>
            </a:r>
          </a:p>
        </p:txBody>
      </p:sp>
      <p:pic>
        <p:nvPicPr>
          <p:cNvPr id="31" name="Picture 30" descr="A picture containing clock, orange, holding, room&#10;&#10;Description automatically generated">
            <a:extLst>
              <a:ext uri="{FF2B5EF4-FFF2-40B4-BE49-F238E27FC236}">
                <a16:creationId xmlns:a16="http://schemas.microsoft.com/office/drawing/2014/main" id="{A85FDE4C-EA40-4B1A-954D-5D37C3B21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5505" y="3292324"/>
            <a:ext cx="2579931" cy="1495612"/>
          </a:xfrm>
          <a:prstGeom prst="rect">
            <a:avLst/>
          </a:prstGeom>
        </p:spPr>
      </p:pic>
      <p:cxnSp>
        <p:nvCxnSpPr>
          <p:cNvPr id="35" name="Straight Arrow Connector 34">
            <a:extLst>
              <a:ext uri="{FF2B5EF4-FFF2-40B4-BE49-F238E27FC236}">
                <a16:creationId xmlns:a16="http://schemas.microsoft.com/office/drawing/2014/main" id="{31A07585-3E02-4BCA-9AAF-3B47B46D59B8}"/>
              </a:ext>
            </a:extLst>
          </p:cNvPr>
          <p:cNvCxnSpPr>
            <a:cxnSpLocks/>
          </p:cNvCxnSpPr>
          <p:nvPr/>
        </p:nvCxnSpPr>
        <p:spPr>
          <a:xfrm flipH="1">
            <a:off x="8685696" y="2429140"/>
            <a:ext cx="1188763" cy="51668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4DBAE3C-FF00-4514-9F72-C9E6725E4222}"/>
              </a:ext>
            </a:extLst>
          </p:cNvPr>
          <p:cNvSpPr txBox="1"/>
          <p:nvPr/>
        </p:nvSpPr>
        <p:spPr>
          <a:xfrm>
            <a:off x="9908216" y="2158575"/>
            <a:ext cx="890391" cy="366110"/>
          </a:xfrm>
          <a:prstGeom prst="rect">
            <a:avLst/>
          </a:prstGeom>
          <a:noFill/>
        </p:spPr>
        <p:txBody>
          <a:bodyPr wrap="none" rtlCol="0">
            <a:spAutoFit/>
          </a:bodyPr>
          <a:lstStyle/>
          <a:p>
            <a:r>
              <a:rPr lang="en-US" sz="1791" dirty="0">
                <a:solidFill>
                  <a:srgbClr val="FF0000"/>
                </a:solidFill>
              </a:rPr>
              <a:t>[1, 1, 3]</a:t>
            </a:r>
          </a:p>
        </p:txBody>
      </p:sp>
      <p:sp>
        <p:nvSpPr>
          <p:cNvPr id="41" name="TextBox 40">
            <a:extLst>
              <a:ext uri="{FF2B5EF4-FFF2-40B4-BE49-F238E27FC236}">
                <a16:creationId xmlns:a16="http://schemas.microsoft.com/office/drawing/2014/main" id="{FB356D34-55C9-40A6-B62C-970062D4362C}"/>
              </a:ext>
            </a:extLst>
          </p:cNvPr>
          <p:cNvSpPr txBox="1"/>
          <p:nvPr/>
        </p:nvSpPr>
        <p:spPr>
          <a:xfrm>
            <a:off x="6464736" y="5500393"/>
            <a:ext cx="1637158" cy="367514"/>
          </a:xfrm>
          <a:prstGeom prst="rect">
            <a:avLst/>
          </a:prstGeom>
          <a:noFill/>
        </p:spPr>
        <p:txBody>
          <a:bodyPr wrap="none" rtlCol="0">
            <a:spAutoFit/>
          </a:bodyPr>
          <a:lstStyle/>
          <a:p>
            <a:r>
              <a:rPr lang="en-US" sz="1791" dirty="0">
                <a:solidFill>
                  <a:srgbClr val="002060"/>
                </a:solidFill>
              </a:rPr>
              <a:t>#iterations = 20</a:t>
            </a:r>
          </a:p>
        </p:txBody>
      </p:sp>
      <p:sp>
        <p:nvSpPr>
          <p:cNvPr id="44" name="TextBox 43">
            <a:extLst>
              <a:ext uri="{FF2B5EF4-FFF2-40B4-BE49-F238E27FC236}">
                <a16:creationId xmlns:a16="http://schemas.microsoft.com/office/drawing/2014/main" id="{26DE9482-3EB5-4108-8E54-EB0F22CF7025}"/>
              </a:ext>
            </a:extLst>
          </p:cNvPr>
          <p:cNvSpPr txBox="1"/>
          <p:nvPr/>
        </p:nvSpPr>
        <p:spPr>
          <a:xfrm>
            <a:off x="2277300" y="5445086"/>
            <a:ext cx="676646" cy="367514"/>
          </a:xfrm>
          <a:prstGeom prst="rect">
            <a:avLst/>
          </a:prstGeom>
          <a:noFill/>
        </p:spPr>
        <p:txBody>
          <a:bodyPr wrap="none" rtlCol="0">
            <a:spAutoFit/>
          </a:bodyPr>
          <a:lstStyle/>
          <a:p>
            <a:r>
              <a:rPr lang="en-US" sz="1791" dirty="0">
                <a:solidFill>
                  <a:srgbClr val="002060"/>
                </a:solidFill>
              </a:rPr>
              <a:t>input</a:t>
            </a:r>
          </a:p>
        </p:txBody>
      </p:sp>
      <p:pic>
        <p:nvPicPr>
          <p:cNvPr id="48" name="Picture 47" descr="A picture containing indoor, bird, table&#10;&#10;Description automatically generated">
            <a:extLst>
              <a:ext uri="{FF2B5EF4-FFF2-40B4-BE49-F238E27FC236}">
                <a16:creationId xmlns:a16="http://schemas.microsoft.com/office/drawing/2014/main" id="{FCC1E46C-12A8-494E-B375-BD79ABD36E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395" y="1062607"/>
            <a:ext cx="3981359" cy="1450352"/>
          </a:xfrm>
          <a:prstGeom prst="rect">
            <a:avLst/>
          </a:prstGeom>
        </p:spPr>
      </p:pic>
    </p:spTree>
    <p:extLst>
      <p:ext uri="{BB962C8B-B14F-4D97-AF65-F5344CB8AC3E}">
        <p14:creationId xmlns:p14="http://schemas.microsoft.com/office/powerpoint/2010/main" val="476916479"/>
      </p:ext>
    </p:extLst>
  </p:cSld>
  <p:clrMapOvr>
    <a:masterClrMapping/>
  </p:clrMapOvr>
  <mc:AlternateContent xmlns:mc="http://schemas.openxmlformats.org/markup-compatibility/2006" xmlns:p14="http://schemas.microsoft.com/office/powerpoint/2010/main">
    <mc:Choice Requires="p14">
      <p:transition spd="med" p14:dur="700" advTm="119355">
        <p:fade/>
      </p:transition>
    </mc:Choice>
    <mc:Fallback xmlns="">
      <p:transition spd="med" advTm="119355">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More Results: K-means Clustering</a:t>
            </a:r>
          </a:p>
        </p:txBody>
      </p:sp>
      <p:sp>
        <p:nvSpPr>
          <p:cNvPr id="21" name="TextBox 20">
            <a:extLst>
              <a:ext uri="{FF2B5EF4-FFF2-40B4-BE49-F238E27FC236}">
                <a16:creationId xmlns:a16="http://schemas.microsoft.com/office/drawing/2014/main" id="{39CB2DE9-547C-40B5-A64F-92C8D3C967A9}"/>
              </a:ext>
            </a:extLst>
          </p:cNvPr>
          <p:cNvSpPr txBox="1"/>
          <p:nvPr/>
        </p:nvSpPr>
        <p:spPr>
          <a:xfrm>
            <a:off x="1563246" y="5242705"/>
            <a:ext cx="919103" cy="505331"/>
          </a:xfrm>
          <a:prstGeom prst="rect">
            <a:avLst/>
          </a:prstGeom>
          <a:noFill/>
        </p:spPr>
        <p:txBody>
          <a:bodyPr wrap="none" rtlCol="0">
            <a:spAutoFit/>
          </a:bodyPr>
          <a:lstStyle/>
          <a:p>
            <a:r>
              <a:rPr lang="en-US" sz="2687" dirty="0">
                <a:solidFill>
                  <a:srgbClr val="002060"/>
                </a:solidFill>
              </a:rPr>
              <a:t>input</a:t>
            </a:r>
          </a:p>
        </p:txBody>
      </p:sp>
      <p:sp>
        <p:nvSpPr>
          <p:cNvPr id="22" name="TextBox 21">
            <a:extLst>
              <a:ext uri="{FF2B5EF4-FFF2-40B4-BE49-F238E27FC236}">
                <a16:creationId xmlns:a16="http://schemas.microsoft.com/office/drawing/2014/main" id="{F110F3F9-9AB6-4665-841D-62AA82514B68}"/>
              </a:ext>
            </a:extLst>
          </p:cNvPr>
          <p:cNvSpPr txBox="1"/>
          <p:nvPr/>
        </p:nvSpPr>
        <p:spPr>
          <a:xfrm>
            <a:off x="4808210" y="5242706"/>
            <a:ext cx="2358275" cy="505331"/>
          </a:xfrm>
          <a:prstGeom prst="rect">
            <a:avLst/>
          </a:prstGeom>
          <a:noFill/>
        </p:spPr>
        <p:txBody>
          <a:bodyPr wrap="none" rtlCol="0">
            <a:spAutoFit/>
          </a:bodyPr>
          <a:lstStyle/>
          <a:p>
            <a:r>
              <a:rPr lang="en-US" sz="2687" dirty="0">
                <a:solidFill>
                  <a:srgbClr val="002060"/>
                </a:solidFill>
              </a:rPr>
              <a:t>#iterations = 10</a:t>
            </a:r>
          </a:p>
        </p:txBody>
      </p:sp>
      <p:sp>
        <p:nvSpPr>
          <p:cNvPr id="23" name="TextBox 22">
            <a:extLst>
              <a:ext uri="{FF2B5EF4-FFF2-40B4-BE49-F238E27FC236}">
                <a16:creationId xmlns:a16="http://schemas.microsoft.com/office/drawing/2014/main" id="{AF5B312B-E0DE-42D4-902F-E202D4ED2C10}"/>
              </a:ext>
            </a:extLst>
          </p:cNvPr>
          <p:cNvSpPr txBox="1"/>
          <p:nvPr/>
        </p:nvSpPr>
        <p:spPr>
          <a:xfrm>
            <a:off x="8939471" y="5273573"/>
            <a:ext cx="2358275" cy="505331"/>
          </a:xfrm>
          <a:prstGeom prst="rect">
            <a:avLst/>
          </a:prstGeom>
          <a:noFill/>
        </p:spPr>
        <p:txBody>
          <a:bodyPr wrap="none" rtlCol="0">
            <a:spAutoFit/>
          </a:bodyPr>
          <a:lstStyle/>
          <a:p>
            <a:r>
              <a:rPr lang="en-US" sz="2687" dirty="0">
                <a:solidFill>
                  <a:srgbClr val="002060"/>
                </a:solidFill>
              </a:rPr>
              <a:t>#iterations = 20</a:t>
            </a:r>
          </a:p>
        </p:txBody>
      </p:sp>
      <p:sp>
        <p:nvSpPr>
          <p:cNvPr id="27" name="TextBox 26">
            <a:extLst>
              <a:ext uri="{FF2B5EF4-FFF2-40B4-BE49-F238E27FC236}">
                <a16:creationId xmlns:a16="http://schemas.microsoft.com/office/drawing/2014/main" id="{25554BF7-2D6D-4716-8B46-95BFA0751DEC}"/>
              </a:ext>
            </a:extLst>
          </p:cNvPr>
          <p:cNvSpPr txBox="1"/>
          <p:nvPr/>
        </p:nvSpPr>
        <p:spPr>
          <a:xfrm>
            <a:off x="249793" y="1101312"/>
            <a:ext cx="10255604" cy="505331"/>
          </a:xfrm>
          <a:prstGeom prst="rect">
            <a:avLst/>
          </a:prstGeom>
          <a:noFill/>
        </p:spPr>
        <p:txBody>
          <a:bodyPr wrap="none" rtlCol="0">
            <a:spAutoFit/>
          </a:bodyPr>
          <a:lstStyle/>
          <a:p>
            <a:r>
              <a:rPr lang="en-US" sz="2687" b="1" dirty="0">
                <a:solidFill>
                  <a:srgbClr val="002060"/>
                </a:solidFill>
              </a:rPr>
              <a:t>K-means results in RGB color space with different number of iterations</a:t>
            </a:r>
          </a:p>
        </p:txBody>
      </p:sp>
      <p:pic>
        <p:nvPicPr>
          <p:cNvPr id="6" name="Picture 5" descr="A picture containing photo, colorful, sitting, toy&#10;&#10;Description automatically generated">
            <a:extLst>
              <a:ext uri="{FF2B5EF4-FFF2-40B4-BE49-F238E27FC236}">
                <a16:creationId xmlns:a16="http://schemas.microsoft.com/office/drawing/2014/main" id="{5F7D030E-D420-47E8-95B6-582FDB8CC4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16" y="2299481"/>
            <a:ext cx="3639592" cy="2828217"/>
          </a:xfrm>
          <a:prstGeom prst="rect">
            <a:avLst/>
          </a:prstGeom>
        </p:spPr>
      </p:pic>
      <p:pic>
        <p:nvPicPr>
          <p:cNvPr id="8" name="Picture 7" descr="A close up of a logo&#10;&#10;Description automatically generated">
            <a:extLst>
              <a:ext uri="{FF2B5EF4-FFF2-40B4-BE49-F238E27FC236}">
                <a16:creationId xmlns:a16="http://schemas.microsoft.com/office/drawing/2014/main" id="{EB9F280F-968E-4611-9CCE-2C6BD89157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6722" y="2390245"/>
            <a:ext cx="3639592" cy="2764963"/>
          </a:xfrm>
          <a:prstGeom prst="rect">
            <a:avLst/>
          </a:prstGeom>
        </p:spPr>
      </p:pic>
      <p:pic>
        <p:nvPicPr>
          <p:cNvPr id="12" name="Picture 11" descr="A close up of a logo&#10;&#10;Description automatically generated">
            <a:extLst>
              <a:ext uri="{FF2B5EF4-FFF2-40B4-BE49-F238E27FC236}">
                <a16:creationId xmlns:a16="http://schemas.microsoft.com/office/drawing/2014/main" id="{3311EECC-AA55-4711-8359-E6980576F7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1817" y="2390245"/>
            <a:ext cx="3639592" cy="2764962"/>
          </a:xfrm>
          <a:prstGeom prst="rect">
            <a:avLst/>
          </a:prstGeom>
        </p:spPr>
      </p:pic>
    </p:spTree>
    <p:extLst>
      <p:ext uri="{BB962C8B-B14F-4D97-AF65-F5344CB8AC3E}">
        <p14:creationId xmlns:p14="http://schemas.microsoft.com/office/powerpoint/2010/main" val="479283906"/>
      </p:ext>
    </p:extLst>
  </p:cSld>
  <p:clrMapOvr>
    <a:masterClrMapping/>
  </p:clrMapOvr>
  <mc:AlternateContent xmlns:mc="http://schemas.openxmlformats.org/markup-compatibility/2006" xmlns:p14="http://schemas.microsoft.com/office/powerpoint/2010/main">
    <mc:Choice Requires="p14">
      <p:transition spd="med" p14:dur="700" advTm="93582">
        <p:fade/>
      </p:transition>
    </mc:Choice>
    <mc:Fallback xmlns="">
      <p:transition spd="med" advTm="93582">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More Results: K-means Clustering</a:t>
            </a:r>
          </a:p>
        </p:txBody>
      </p:sp>
      <p:sp>
        <p:nvSpPr>
          <p:cNvPr id="23" name="TextBox 22">
            <a:extLst>
              <a:ext uri="{FF2B5EF4-FFF2-40B4-BE49-F238E27FC236}">
                <a16:creationId xmlns:a16="http://schemas.microsoft.com/office/drawing/2014/main" id="{6CAFF602-4325-4C02-B7B8-A4BD11541A8D}"/>
              </a:ext>
            </a:extLst>
          </p:cNvPr>
          <p:cNvSpPr txBox="1"/>
          <p:nvPr/>
        </p:nvSpPr>
        <p:spPr>
          <a:xfrm>
            <a:off x="3491663" y="5816423"/>
            <a:ext cx="687812" cy="366110"/>
          </a:xfrm>
          <a:prstGeom prst="rect">
            <a:avLst/>
          </a:prstGeom>
          <a:noFill/>
        </p:spPr>
        <p:txBody>
          <a:bodyPr wrap="none" rtlCol="0">
            <a:spAutoFit/>
          </a:bodyPr>
          <a:lstStyle/>
          <a:p>
            <a:r>
              <a:rPr lang="en-US" sz="1791" b="1" dirty="0">
                <a:solidFill>
                  <a:srgbClr val="FF0000"/>
                </a:solidFill>
              </a:rPr>
              <a:t>input</a:t>
            </a:r>
          </a:p>
        </p:txBody>
      </p:sp>
      <p:sp>
        <p:nvSpPr>
          <p:cNvPr id="24" name="TextBox 23">
            <a:extLst>
              <a:ext uri="{FF2B5EF4-FFF2-40B4-BE49-F238E27FC236}">
                <a16:creationId xmlns:a16="http://schemas.microsoft.com/office/drawing/2014/main" id="{5B4CEC4D-4EB4-491A-BF0A-8AD943276549}"/>
              </a:ext>
            </a:extLst>
          </p:cNvPr>
          <p:cNvSpPr txBox="1"/>
          <p:nvPr/>
        </p:nvSpPr>
        <p:spPr>
          <a:xfrm>
            <a:off x="6391847" y="5816423"/>
            <a:ext cx="2682720" cy="366110"/>
          </a:xfrm>
          <a:prstGeom prst="rect">
            <a:avLst/>
          </a:prstGeom>
          <a:noFill/>
        </p:spPr>
        <p:txBody>
          <a:bodyPr wrap="none" rtlCol="0">
            <a:spAutoFit/>
          </a:bodyPr>
          <a:lstStyle/>
          <a:p>
            <a:r>
              <a:rPr lang="en-US" sz="1791" b="1" dirty="0">
                <a:solidFill>
                  <a:srgbClr val="FF0000"/>
                </a:solidFill>
              </a:rPr>
              <a:t>K-means clustering output</a:t>
            </a:r>
          </a:p>
        </p:txBody>
      </p:sp>
      <p:sp>
        <p:nvSpPr>
          <p:cNvPr id="25" name="TextBox 24">
            <a:extLst>
              <a:ext uri="{FF2B5EF4-FFF2-40B4-BE49-F238E27FC236}">
                <a16:creationId xmlns:a16="http://schemas.microsoft.com/office/drawing/2014/main" id="{25554BF7-2D6D-4716-8B46-95BFA0751DEC}"/>
              </a:ext>
            </a:extLst>
          </p:cNvPr>
          <p:cNvSpPr txBox="1"/>
          <p:nvPr/>
        </p:nvSpPr>
        <p:spPr>
          <a:xfrm>
            <a:off x="252919" y="979024"/>
            <a:ext cx="5176198" cy="505331"/>
          </a:xfrm>
          <a:prstGeom prst="rect">
            <a:avLst/>
          </a:prstGeom>
          <a:noFill/>
        </p:spPr>
        <p:txBody>
          <a:bodyPr wrap="none" rtlCol="0">
            <a:spAutoFit/>
          </a:bodyPr>
          <a:lstStyle/>
          <a:p>
            <a:r>
              <a:rPr lang="en-US" sz="2687" b="1" dirty="0">
                <a:solidFill>
                  <a:srgbClr val="002060"/>
                </a:solidFill>
              </a:rPr>
              <a:t>K-means results in RGB color space</a:t>
            </a:r>
          </a:p>
        </p:txBody>
      </p:sp>
      <p:pic>
        <p:nvPicPr>
          <p:cNvPr id="8" name="Picture 7" descr="A starfish on a sunny day&#10;&#10;Description automatically generated">
            <a:extLst>
              <a:ext uri="{FF2B5EF4-FFF2-40B4-BE49-F238E27FC236}">
                <a16:creationId xmlns:a16="http://schemas.microsoft.com/office/drawing/2014/main" id="{2622E25E-B2DE-492C-B304-DE2C36504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4474" y="3926635"/>
            <a:ext cx="3184643" cy="1889788"/>
          </a:xfrm>
          <a:prstGeom prst="rect">
            <a:avLst/>
          </a:prstGeom>
        </p:spPr>
      </p:pic>
      <p:pic>
        <p:nvPicPr>
          <p:cNvPr id="10" name="Picture 9" descr="A picture containing starfish, cake, coral&#10;&#10;Description automatically generated">
            <a:extLst>
              <a:ext uri="{FF2B5EF4-FFF2-40B4-BE49-F238E27FC236}">
                <a16:creationId xmlns:a16="http://schemas.microsoft.com/office/drawing/2014/main" id="{9F7DEBBC-4AC9-4D31-8086-951AFA4D2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1848" y="3907925"/>
            <a:ext cx="3184643" cy="1936450"/>
          </a:xfrm>
          <a:prstGeom prst="rect">
            <a:avLst/>
          </a:prstGeom>
        </p:spPr>
      </p:pic>
      <p:pic>
        <p:nvPicPr>
          <p:cNvPr id="14" name="Picture 13" descr="A picture containing hanging, clock, wooden, room&#10;&#10;Description automatically generated">
            <a:extLst>
              <a:ext uri="{FF2B5EF4-FFF2-40B4-BE49-F238E27FC236}">
                <a16:creationId xmlns:a16="http://schemas.microsoft.com/office/drawing/2014/main" id="{FA57C57B-8675-4630-AE33-045E3EF9BE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231" y="4589262"/>
            <a:ext cx="1232326" cy="928983"/>
          </a:xfrm>
          <a:prstGeom prst="rect">
            <a:avLst/>
          </a:prstGeom>
        </p:spPr>
      </p:pic>
      <p:pic>
        <p:nvPicPr>
          <p:cNvPr id="16" name="Picture 15" descr="A starfish on a sunny day&#10;&#10;Description automatically generated">
            <a:extLst>
              <a:ext uri="{FF2B5EF4-FFF2-40B4-BE49-F238E27FC236}">
                <a16:creationId xmlns:a16="http://schemas.microsoft.com/office/drawing/2014/main" id="{44D57E75-95DA-4A61-A4A9-81E482E5B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44474" y="1429189"/>
            <a:ext cx="3156649" cy="2407775"/>
          </a:xfrm>
          <a:prstGeom prst="rect">
            <a:avLst/>
          </a:prstGeom>
        </p:spPr>
      </p:pic>
      <p:pic>
        <p:nvPicPr>
          <p:cNvPr id="22" name="Picture 21" descr="A picture containing photo, board, small, laying&#10;&#10;Description automatically generated">
            <a:extLst>
              <a:ext uri="{FF2B5EF4-FFF2-40B4-BE49-F238E27FC236}">
                <a16:creationId xmlns:a16="http://schemas.microsoft.com/office/drawing/2014/main" id="{BA32EB31-A414-47E5-A86F-7C70CAB03C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1848" y="1482094"/>
            <a:ext cx="3223005" cy="2407775"/>
          </a:xfrm>
          <a:prstGeom prst="rect">
            <a:avLst/>
          </a:prstGeom>
        </p:spPr>
      </p:pic>
      <p:pic>
        <p:nvPicPr>
          <p:cNvPr id="27" name="Picture 26" descr="A close up of a keyboard&#10;&#10;Description automatically generated">
            <a:extLst>
              <a:ext uri="{FF2B5EF4-FFF2-40B4-BE49-F238E27FC236}">
                <a16:creationId xmlns:a16="http://schemas.microsoft.com/office/drawing/2014/main" id="{1C8D1AE6-3387-4565-A7CA-0023A1D5B2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03150" y="2212122"/>
            <a:ext cx="1260764" cy="910025"/>
          </a:xfrm>
          <a:prstGeom prst="rect">
            <a:avLst/>
          </a:prstGeom>
        </p:spPr>
      </p:pic>
      <p:sp>
        <p:nvSpPr>
          <p:cNvPr id="29" name="Rectangle 28">
            <a:extLst>
              <a:ext uri="{FF2B5EF4-FFF2-40B4-BE49-F238E27FC236}">
                <a16:creationId xmlns:a16="http://schemas.microsoft.com/office/drawing/2014/main" id="{B15EB4B4-A6BF-452F-B905-3425903EF145}"/>
              </a:ext>
            </a:extLst>
          </p:cNvPr>
          <p:cNvSpPr/>
          <p:nvPr/>
        </p:nvSpPr>
        <p:spPr>
          <a:xfrm>
            <a:off x="9876074" y="1859797"/>
            <a:ext cx="1901906" cy="336887"/>
          </a:xfrm>
          <a:prstGeom prst="rect">
            <a:avLst/>
          </a:prstGeom>
        </p:spPr>
        <p:txBody>
          <a:bodyPr wrap="square">
            <a:spAutoFit/>
          </a:bodyPr>
          <a:lstStyle/>
          <a:p>
            <a:r>
              <a:rPr lang="en-US" sz="1592" b="1" dirty="0">
                <a:solidFill>
                  <a:srgbClr val="FF0000"/>
                </a:solidFill>
              </a:rPr>
              <a:t>BGR cluster centers</a:t>
            </a:r>
            <a:endParaRPr lang="en-US" sz="1592" dirty="0">
              <a:solidFill>
                <a:srgbClr val="FF0000"/>
              </a:solidFill>
            </a:endParaRPr>
          </a:p>
        </p:txBody>
      </p:sp>
      <p:sp>
        <p:nvSpPr>
          <p:cNvPr id="33" name="Rectangle 32">
            <a:extLst>
              <a:ext uri="{FF2B5EF4-FFF2-40B4-BE49-F238E27FC236}">
                <a16:creationId xmlns:a16="http://schemas.microsoft.com/office/drawing/2014/main" id="{C79CCC66-71CC-4676-B239-A3D91D39B2A2}"/>
              </a:ext>
            </a:extLst>
          </p:cNvPr>
          <p:cNvSpPr/>
          <p:nvPr/>
        </p:nvSpPr>
        <p:spPr>
          <a:xfrm>
            <a:off x="9882579" y="4239896"/>
            <a:ext cx="1901906" cy="336887"/>
          </a:xfrm>
          <a:prstGeom prst="rect">
            <a:avLst/>
          </a:prstGeom>
        </p:spPr>
        <p:txBody>
          <a:bodyPr wrap="square">
            <a:spAutoFit/>
          </a:bodyPr>
          <a:lstStyle/>
          <a:p>
            <a:r>
              <a:rPr lang="en-US" sz="1592" b="1" dirty="0">
                <a:solidFill>
                  <a:srgbClr val="FF0000"/>
                </a:solidFill>
              </a:rPr>
              <a:t>BGR cluster centers</a:t>
            </a:r>
            <a:endParaRPr lang="en-US" sz="1592" dirty="0">
              <a:solidFill>
                <a:srgbClr val="FF0000"/>
              </a:solidFill>
            </a:endParaRPr>
          </a:p>
        </p:txBody>
      </p:sp>
    </p:spTree>
    <p:extLst>
      <p:ext uri="{BB962C8B-B14F-4D97-AF65-F5344CB8AC3E}">
        <p14:creationId xmlns:p14="http://schemas.microsoft.com/office/powerpoint/2010/main" val="2792199545"/>
      </p:ext>
    </p:extLst>
  </p:cSld>
  <p:clrMapOvr>
    <a:masterClrMapping/>
  </p:clrMapOvr>
  <mc:AlternateContent xmlns:mc="http://schemas.openxmlformats.org/markup-compatibility/2006" xmlns:p14="http://schemas.microsoft.com/office/powerpoint/2010/main">
    <mc:Choice Requires="p14">
      <p:transition spd="med" p14:dur="700" advTm="121584">
        <p:fade/>
      </p:transition>
    </mc:Choice>
    <mc:Fallback xmlns="">
      <p:transition spd="med" advTm="121584">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More Results: K-means Clustering</a:t>
            </a:r>
          </a:p>
        </p:txBody>
      </p:sp>
      <p:sp>
        <p:nvSpPr>
          <p:cNvPr id="25" name="TextBox 24">
            <a:extLst>
              <a:ext uri="{FF2B5EF4-FFF2-40B4-BE49-F238E27FC236}">
                <a16:creationId xmlns:a16="http://schemas.microsoft.com/office/drawing/2014/main" id="{25554BF7-2D6D-4716-8B46-95BFA0751DEC}"/>
              </a:ext>
            </a:extLst>
          </p:cNvPr>
          <p:cNvSpPr txBox="1"/>
          <p:nvPr/>
        </p:nvSpPr>
        <p:spPr>
          <a:xfrm>
            <a:off x="249794" y="971984"/>
            <a:ext cx="2632187" cy="398140"/>
          </a:xfrm>
          <a:prstGeom prst="rect">
            <a:avLst/>
          </a:prstGeom>
          <a:noFill/>
        </p:spPr>
        <p:txBody>
          <a:bodyPr wrap="none" rtlCol="0">
            <a:spAutoFit/>
          </a:bodyPr>
          <a:lstStyle/>
          <a:p>
            <a:r>
              <a:rPr lang="en-US" sz="1990" b="1" dirty="0">
                <a:solidFill>
                  <a:srgbClr val="002060"/>
                </a:solidFill>
              </a:rPr>
              <a:t>K-means results in RGB</a:t>
            </a:r>
          </a:p>
        </p:txBody>
      </p:sp>
      <p:sp>
        <p:nvSpPr>
          <p:cNvPr id="26" name="TextBox 25">
            <a:extLst>
              <a:ext uri="{FF2B5EF4-FFF2-40B4-BE49-F238E27FC236}">
                <a16:creationId xmlns:a16="http://schemas.microsoft.com/office/drawing/2014/main" id="{B97E87FA-CAC4-448D-BE7B-E9F621FD13A4}"/>
              </a:ext>
            </a:extLst>
          </p:cNvPr>
          <p:cNvSpPr txBox="1"/>
          <p:nvPr/>
        </p:nvSpPr>
        <p:spPr>
          <a:xfrm rot="16200000">
            <a:off x="725565" y="3444740"/>
            <a:ext cx="943029" cy="505331"/>
          </a:xfrm>
          <a:prstGeom prst="rect">
            <a:avLst/>
          </a:prstGeom>
          <a:noFill/>
        </p:spPr>
        <p:txBody>
          <a:bodyPr wrap="none" rtlCol="0">
            <a:spAutoFit/>
          </a:bodyPr>
          <a:lstStyle/>
          <a:p>
            <a:r>
              <a:rPr lang="en-US" sz="2687" b="1" dirty="0">
                <a:solidFill>
                  <a:srgbClr val="FF0000"/>
                </a:solidFill>
              </a:rPr>
              <a:t>input</a:t>
            </a:r>
          </a:p>
        </p:txBody>
      </p:sp>
      <p:sp>
        <p:nvSpPr>
          <p:cNvPr id="27" name="TextBox 26">
            <a:extLst>
              <a:ext uri="{FF2B5EF4-FFF2-40B4-BE49-F238E27FC236}">
                <a16:creationId xmlns:a16="http://schemas.microsoft.com/office/drawing/2014/main" id="{B5DA8163-2923-43CC-958A-226E472D0E6E}"/>
              </a:ext>
            </a:extLst>
          </p:cNvPr>
          <p:cNvSpPr txBox="1"/>
          <p:nvPr/>
        </p:nvSpPr>
        <p:spPr>
          <a:xfrm rot="16200000">
            <a:off x="4373544" y="3665627"/>
            <a:ext cx="3951280" cy="505331"/>
          </a:xfrm>
          <a:prstGeom prst="rect">
            <a:avLst/>
          </a:prstGeom>
          <a:noFill/>
        </p:spPr>
        <p:txBody>
          <a:bodyPr wrap="none" rtlCol="0">
            <a:spAutoFit/>
          </a:bodyPr>
          <a:lstStyle/>
          <a:p>
            <a:r>
              <a:rPr lang="en-US" sz="2687" b="1" dirty="0">
                <a:solidFill>
                  <a:srgbClr val="FF0000"/>
                </a:solidFill>
              </a:rPr>
              <a:t>K-means clustering output</a:t>
            </a:r>
          </a:p>
        </p:txBody>
      </p:sp>
      <p:pic>
        <p:nvPicPr>
          <p:cNvPr id="6" name="Picture 5">
            <a:extLst>
              <a:ext uri="{FF2B5EF4-FFF2-40B4-BE49-F238E27FC236}">
                <a16:creationId xmlns:a16="http://schemas.microsoft.com/office/drawing/2014/main" id="{A882B110-1B44-4FB4-BBB7-9BC2D5EEA9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632" y="1447457"/>
            <a:ext cx="3184643" cy="2396922"/>
          </a:xfrm>
          <a:prstGeom prst="rect">
            <a:avLst/>
          </a:prstGeom>
        </p:spPr>
      </p:pic>
      <p:pic>
        <p:nvPicPr>
          <p:cNvPr id="8" name="Picture 7" descr="A close up of a logo&#10;&#10;Description automatically generated">
            <a:extLst>
              <a:ext uri="{FF2B5EF4-FFF2-40B4-BE49-F238E27FC236}">
                <a16:creationId xmlns:a16="http://schemas.microsoft.com/office/drawing/2014/main" id="{E18B542F-83FD-41DD-AF8B-7EA7AA889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3401" y="1449652"/>
            <a:ext cx="3184643" cy="2402854"/>
          </a:xfrm>
          <a:prstGeom prst="rect">
            <a:avLst/>
          </a:prstGeom>
        </p:spPr>
      </p:pic>
      <p:pic>
        <p:nvPicPr>
          <p:cNvPr id="20" name="Picture 19" descr="A starfish on a sunny day&#10;&#10;Description automatically generated">
            <a:extLst>
              <a:ext uri="{FF2B5EF4-FFF2-40B4-BE49-F238E27FC236}">
                <a16:creationId xmlns:a16="http://schemas.microsoft.com/office/drawing/2014/main" id="{9C2590AD-B4E3-47F4-ADB5-363D2EB0E0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8632" y="4013614"/>
            <a:ext cx="3184643" cy="2147222"/>
          </a:xfrm>
          <a:prstGeom prst="rect">
            <a:avLst/>
          </a:prstGeom>
        </p:spPr>
      </p:pic>
      <p:pic>
        <p:nvPicPr>
          <p:cNvPr id="22" name="Picture 21">
            <a:extLst>
              <a:ext uri="{FF2B5EF4-FFF2-40B4-BE49-F238E27FC236}">
                <a16:creationId xmlns:a16="http://schemas.microsoft.com/office/drawing/2014/main" id="{8367CA68-7125-4EC2-A434-B33643F419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2635" y="4042989"/>
            <a:ext cx="3105408" cy="2046929"/>
          </a:xfrm>
          <a:prstGeom prst="rect">
            <a:avLst/>
          </a:prstGeom>
        </p:spPr>
      </p:pic>
      <p:pic>
        <p:nvPicPr>
          <p:cNvPr id="24" name="Picture 23" descr="A screenshot of a cell phone&#10;&#10;Description automatically generated">
            <a:extLst>
              <a:ext uri="{FF2B5EF4-FFF2-40B4-BE49-F238E27FC236}">
                <a16:creationId xmlns:a16="http://schemas.microsoft.com/office/drawing/2014/main" id="{9AA415BB-6194-4755-9006-BBFB202D17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06366" y="4705276"/>
            <a:ext cx="1270243" cy="947943"/>
          </a:xfrm>
          <a:prstGeom prst="rect">
            <a:avLst/>
          </a:prstGeom>
        </p:spPr>
      </p:pic>
      <p:sp>
        <p:nvSpPr>
          <p:cNvPr id="32" name="Rectangle 31">
            <a:extLst>
              <a:ext uri="{FF2B5EF4-FFF2-40B4-BE49-F238E27FC236}">
                <a16:creationId xmlns:a16="http://schemas.microsoft.com/office/drawing/2014/main" id="{39934FF3-08A8-465B-9667-9073F3CF47EC}"/>
              </a:ext>
            </a:extLst>
          </p:cNvPr>
          <p:cNvSpPr/>
          <p:nvPr/>
        </p:nvSpPr>
        <p:spPr>
          <a:xfrm>
            <a:off x="9882579" y="4239896"/>
            <a:ext cx="1901906" cy="336887"/>
          </a:xfrm>
          <a:prstGeom prst="rect">
            <a:avLst/>
          </a:prstGeom>
        </p:spPr>
        <p:txBody>
          <a:bodyPr wrap="square">
            <a:spAutoFit/>
          </a:bodyPr>
          <a:lstStyle/>
          <a:p>
            <a:r>
              <a:rPr lang="en-US" sz="1592" b="1" dirty="0">
                <a:solidFill>
                  <a:srgbClr val="FF0000"/>
                </a:solidFill>
              </a:rPr>
              <a:t>BGR cluster centers</a:t>
            </a:r>
            <a:endParaRPr lang="en-US" sz="1592" dirty="0">
              <a:solidFill>
                <a:srgbClr val="FF0000"/>
              </a:solidFill>
            </a:endParaRPr>
          </a:p>
        </p:txBody>
      </p:sp>
      <p:sp>
        <p:nvSpPr>
          <p:cNvPr id="34" name="Rectangle 33">
            <a:extLst>
              <a:ext uri="{FF2B5EF4-FFF2-40B4-BE49-F238E27FC236}">
                <a16:creationId xmlns:a16="http://schemas.microsoft.com/office/drawing/2014/main" id="{C8A0BEA2-642E-4A6C-8218-D6B97616E839}"/>
              </a:ext>
            </a:extLst>
          </p:cNvPr>
          <p:cNvSpPr/>
          <p:nvPr/>
        </p:nvSpPr>
        <p:spPr>
          <a:xfrm>
            <a:off x="9990533" y="2220559"/>
            <a:ext cx="1901906" cy="336887"/>
          </a:xfrm>
          <a:prstGeom prst="rect">
            <a:avLst/>
          </a:prstGeom>
        </p:spPr>
        <p:txBody>
          <a:bodyPr wrap="square">
            <a:spAutoFit/>
          </a:bodyPr>
          <a:lstStyle/>
          <a:p>
            <a:r>
              <a:rPr lang="en-US" sz="1592" b="1" dirty="0">
                <a:solidFill>
                  <a:srgbClr val="FF0000"/>
                </a:solidFill>
              </a:rPr>
              <a:t>BGR cluster centers</a:t>
            </a:r>
            <a:endParaRPr lang="en-US" sz="1592" dirty="0">
              <a:solidFill>
                <a:srgbClr val="FF0000"/>
              </a:solidFill>
            </a:endParaRPr>
          </a:p>
        </p:txBody>
      </p:sp>
      <p:pic>
        <p:nvPicPr>
          <p:cNvPr id="36" name="Picture 35" descr="A screenshot of a cell phone&#10;&#10;Description automatically generated">
            <a:extLst>
              <a:ext uri="{FF2B5EF4-FFF2-40B4-BE49-F238E27FC236}">
                <a16:creationId xmlns:a16="http://schemas.microsoft.com/office/drawing/2014/main" id="{1D6158EB-D531-41E7-9F4A-223836D00D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93671" y="2669293"/>
            <a:ext cx="1279722" cy="985860"/>
          </a:xfrm>
          <a:prstGeom prst="rect">
            <a:avLst/>
          </a:prstGeom>
        </p:spPr>
      </p:pic>
    </p:spTree>
    <p:extLst>
      <p:ext uri="{BB962C8B-B14F-4D97-AF65-F5344CB8AC3E}">
        <p14:creationId xmlns:p14="http://schemas.microsoft.com/office/powerpoint/2010/main" val="595970999"/>
      </p:ext>
    </p:extLst>
  </p:cSld>
  <p:clrMapOvr>
    <a:masterClrMapping/>
  </p:clrMapOvr>
  <mc:AlternateContent xmlns:mc="http://schemas.openxmlformats.org/markup-compatibility/2006" xmlns:p14="http://schemas.microsoft.com/office/powerpoint/2010/main">
    <mc:Choice Requires="p14">
      <p:transition spd="med" p14:dur="700" advTm="35372">
        <p:fade/>
      </p:transition>
    </mc:Choice>
    <mc:Fallback xmlns="">
      <p:transition spd="med" advTm="35372">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Example_3</a:t>
            </a:r>
          </a:p>
        </p:txBody>
      </p:sp>
      <p:sp>
        <p:nvSpPr>
          <p:cNvPr id="6" name="Subtitle 2">
            <a:extLst>
              <a:ext uri="{FF2B5EF4-FFF2-40B4-BE49-F238E27FC236}">
                <a16:creationId xmlns:a16="http://schemas.microsoft.com/office/drawing/2014/main" id="{941BD6FF-9110-482D-829B-CB43D0E927BE}"/>
              </a:ext>
            </a:extLst>
          </p:cNvPr>
          <p:cNvSpPr txBox="1">
            <a:spLocks/>
          </p:cNvSpPr>
          <p:nvPr/>
        </p:nvSpPr>
        <p:spPr>
          <a:xfrm>
            <a:off x="279924" y="1114223"/>
            <a:ext cx="11772495" cy="782714"/>
          </a:xfrm>
          <a:prstGeom prst="rect">
            <a:avLst/>
          </a:prstGeom>
          <a:solidFill>
            <a:schemeClr val="bg1"/>
          </a:solidFill>
          <a:ln>
            <a:solidFill>
              <a:schemeClr val="bg1"/>
            </a:solidFill>
          </a:ln>
        </p:spPr>
        <p:txBody>
          <a:bodyPr vert="horz" lIns="90990" tIns="45495" rIns="90990" bIns="45495"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9060" lvl="2" indent="0" algn="just">
              <a:lnSpc>
                <a:spcPct val="125000"/>
              </a:lnSpc>
              <a:buNone/>
            </a:pPr>
            <a:r>
              <a:rPr lang="en-US" sz="3184" dirty="0"/>
              <a:t>Use K-means to cluster the below Chest images to two classes.</a:t>
            </a:r>
          </a:p>
        </p:txBody>
      </p:sp>
      <p:pic>
        <p:nvPicPr>
          <p:cNvPr id="3" name="Picture 2" descr="A cat sitting on top of each other&#10;&#10;Description automatically generated">
            <a:extLst>
              <a:ext uri="{FF2B5EF4-FFF2-40B4-BE49-F238E27FC236}">
                <a16:creationId xmlns:a16="http://schemas.microsoft.com/office/drawing/2014/main" id="{36C33748-A6FD-47CE-B655-2115669C85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256" y="2526364"/>
            <a:ext cx="3639592" cy="2927078"/>
          </a:xfrm>
          <a:prstGeom prst="rect">
            <a:avLst/>
          </a:prstGeom>
        </p:spPr>
      </p:pic>
      <p:pic>
        <p:nvPicPr>
          <p:cNvPr id="7" name="Picture 6" descr="A picture containing text, photo, sitting, table&#10;&#10;Description automatically generated">
            <a:extLst>
              <a:ext uri="{FF2B5EF4-FFF2-40B4-BE49-F238E27FC236}">
                <a16:creationId xmlns:a16="http://schemas.microsoft.com/office/drawing/2014/main" id="{FBAAFF8C-7AE8-453E-9723-5EADE8E5B8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1650" y="2526364"/>
            <a:ext cx="3639592" cy="2926682"/>
          </a:xfrm>
          <a:prstGeom prst="rect">
            <a:avLst/>
          </a:prstGeom>
        </p:spPr>
      </p:pic>
    </p:spTree>
    <p:custDataLst>
      <p:tags r:id="rId1"/>
    </p:custDataLst>
    <p:extLst>
      <p:ext uri="{BB962C8B-B14F-4D97-AF65-F5344CB8AC3E}">
        <p14:creationId xmlns:p14="http://schemas.microsoft.com/office/powerpoint/2010/main" val="3156742599"/>
      </p:ext>
    </p:extLst>
  </p:cSld>
  <p:clrMapOvr>
    <a:masterClrMapping/>
  </p:clrMapOvr>
  <mc:AlternateContent xmlns:mc="http://schemas.openxmlformats.org/markup-compatibility/2006" xmlns:p14="http://schemas.microsoft.com/office/powerpoint/2010/main">
    <mc:Choice Requires="p14">
      <p:transition spd="med" p14:dur="700" advTm="57337">
        <p:fade/>
      </p:transition>
    </mc:Choice>
    <mc:Fallback xmlns="">
      <p:transition spd="med" advTm="57337">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ell phone&#10;&#10;Description automatically generated">
            <a:extLst>
              <a:ext uri="{FF2B5EF4-FFF2-40B4-BE49-F238E27FC236}">
                <a16:creationId xmlns:a16="http://schemas.microsoft.com/office/drawing/2014/main" id="{2966F7BA-99FC-493C-ABE4-AC843021F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991" y="4240738"/>
            <a:ext cx="7881537" cy="2020907"/>
          </a:xfrm>
          <a:prstGeom prst="rect">
            <a:avLst/>
          </a:prstGeom>
        </p:spPr>
      </p:pic>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Code</a:t>
            </a:r>
          </a:p>
        </p:txBody>
      </p:sp>
      <p:pic>
        <p:nvPicPr>
          <p:cNvPr id="9" name="Picture 8" descr="A screenshot of a cell phone&#10;&#10;Description automatically generated">
            <a:extLst>
              <a:ext uri="{FF2B5EF4-FFF2-40B4-BE49-F238E27FC236}">
                <a16:creationId xmlns:a16="http://schemas.microsoft.com/office/drawing/2014/main" id="{CD0131ED-225B-475B-B2ED-B690D2F79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320" y="1071451"/>
            <a:ext cx="9110598" cy="3249978"/>
          </a:xfrm>
          <a:prstGeom prst="rect">
            <a:avLst/>
          </a:prstGeom>
        </p:spPr>
      </p:pic>
    </p:spTree>
    <p:extLst>
      <p:ext uri="{BB962C8B-B14F-4D97-AF65-F5344CB8AC3E}">
        <p14:creationId xmlns:p14="http://schemas.microsoft.com/office/powerpoint/2010/main" val="3196916488"/>
      </p:ext>
    </p:extLst>
  </p:cSld>
  <p:clrMapOvr>
    <a:masterClrMapping/>
  </p:clrMapOvr>
  <mc:AlternateContent xmlns:mc="http://schemas.openxmlformats.org/markup-compatibility/2006" xmlns:p14="http://schemas.microsoft.com/office/powerpoint/2010/main">
    <mc:Choice Requires="p14">
      <p:transition spd="med" p14:dur="700" advTm="87127">
        <p:fade/>
      </p:transition>
    </mc:Choice>
    <mc:Fallback xmlns="">
      <p:transition spd="med" advTm="87127">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793" y="199800"/>
            <a:ext cx="11772494" cy="764946"/>
          </a:xfrm>
          <a:solidFill>
            <a:schemeClr val="bg1"/>
          </a:solidFill>
          <a:ln>
            <a:solidFill>
              <a:schemeClr val="bg1"/>
            </a:solidFill>
          </a:ln>
        </p:spPr>
        <p:txBody>
          <a:bodyPr>
            <a:normAutofit fontScale="90000"/>
          </a:bodyPr>
          <a:lstStyle/>
          <a:p>
            <a:r>
              <a:rPr lang="en-US" sz="5254" b="1" dirty="0">
                <a:effectLst>
                  <a:outerShdw blurRad="38100" dist="38100" dir="2700000" algn="tl">
                    <a:srgbClr val="000000">
                      <a:alpha val="43137"/>
                    </a:srgbClr>
                  </a:outerShdw>
                </a:effectLst>
              </a:rPr>
              <a:t>Results</a:t>
            </a:r>
          </a:p>
        </p:txBody>
      </p:sp>
      <p:pic>
        <p:nvPicPr>
          <p:cNvPr id="10" name="Picture 9" descr="A cat sitting on top of each other&#10;&#10;Description automatically generated">
            <a:extLst>
              <a:ext uri="{FF2B5EF4-FFF2-40B4-BE49-F238E27FC236}">
                <a16:creationId xmlns:a16="http://schemas.microsoft.com/office/drawing/2014/main" id="{310EF9E6-3D2E-4C96-89C7-64E30FFAD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231" y="1116109"/>
            <a:ext cx="2729694" cy="2195309"/>
          </a:xfrm>
          <a:prstGeom prst="rect">
            <a:avLst/>
          </a:prstGeom>
        </p:spPr>
      </p:pic>
      <p:pic>
        <p:nvPicPr>
          <p:cNvPr id="12" name="Picture 11" descr="A close up&#10;&#10;Description automatically generated">
            <a:extLst>
              <a:ext uri="{FF2B5EF4-FFF2-40B4-BE49-F238E27FC236}">
                <a16:creationId xmlns:a16="http://schemas.microsoft.com/office/drawing/2014/main" id="{B0D96EDD-2A98-47B4-9E61-BCF962D74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155" y="3311417"/>
            <a:ext cx="2729694" cy="2145802"/>
          </a:xfrm>
          <a:prstGeom prst="rect">
            <a:avLst/>
          </a:prstGeom>
        </p:spPr>
      </p:pic>
      <p:pic>
        <p:nvPicPr>
          <p:cNvPr id="14" name="Picture 13" descr="A screenshot of a cell phone&#10;&#10;Description automatically generated">
            <a:extLst>
              <a:ext uri="{FF2B5EF4-FFF2-40B4-BE49-F238E27FC236}">
                <a16:creationId xmlns:a16="http://schemas.microsoft.com/office/drawing/2014/main" id="{E297CA7A-6CED-4133-B007-21BC97A20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2412" y="5507055"/>
            <a:ext cx="1383996" cy="682519"/>
          </a:xfrm>
          <a:prstGeom prst="rect">
            <a:avLst/>
          </a:prstGeom>
        </p:spPr>
      </p:pic>
      <p:pic>
        <p:nvPicPr>
          <p:cNvPr id="16" name="Picture 15" descr="A picture containing text, photo, sitting, table&#10;&#10;Description automatically generated">
            <a:extLst>
              <a:ext uri="{FF2B5EF4-FFF2-40B4-BE49-F238E27FC236}">
                <a16:creationId xmlns:a16="http://schemas.microsoft.com/office/drawing/2014/main" id="{C4B3D8C8-7375-4B50-AEC5-4960865FD6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0630" y="1111058"/>
            <a:ext cx="2729694" cy="2195011"/>
          </a:xfrm>
          <a:prstGeom prst="rect">
            <a:avLst/>
          </a:prstGeom>
        </p:spPr>
      </p:pic>
      <p:pic>
        <p:nvPicPr>
          <p:cNvPr id="18" name="Picture 17" descr="A close up of a logo&#10;&#10;Description automatically generated">
            <a:extLst>
              <a:ext uri="{FF2B5EF4-FFF2-40B4-BE49-F238E27FC236}">
                <a16:creationId xmlns:a16="http://schemas.microsoft.com/office/drawing/2014/main" id="{FFA31EF1-BFEC-45DB-B325-2F0F93E813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87618" y="3440773"/>
            <a:ext cx="2729694" cy="2069768"/>
          </a:xfrm>
          <a:prstGeom prst="rect">
            <a:avLst/>
          </a:prstGeom>
        </p:spPr>
      </p:pic>
      <p:pic>
        <p:nvPicPr>
          <p:cNvPr id="20" name="Picture 19" descr="A picture containing table&#10;&#10;Description automatically generated">
            <a:extLst>
              <a:ext uri="{FF2B5EF4-FFF2-40B4-BE49-F238E27FC236}">
                <a16:creationId xmlns:a16="http://schemas.microsoft.com/office/drawing/2014/main" id="{903109CD-05D6-46CA-ADA2-3E3EF31811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49810" y="5566420"/>
            <a:ext cx="1336599" cy="578245"/>
          </a:xfrm>
          <a:prstGeom prst="rect">
            <a:avLst/>
          </a:prstGeom>
        </p:spPr>
      </p:pic>
      <p:sp>
        <p:nvSpPr>
          <p:cNvPr id="22" name="Rectangle 21">
            <a:extLst>
              <a:ext uri="{FF2B5EF4-FFF2-40B4-BE49-F238E27FC236}">
                <a16:creationId xmlns:a16="http://schemas.microsoft.com/office/drawing/2014/main" id="{F470D76E-E737-4EA1-BF44-FC0A8F37711A}"/>
              </a:ext>
            </a:extLst>
          </p:cNvPr>
          <p:cNvSpPr/>
          <p:nvPr/>
        </p:nvSpPr>
        <p:spPr>
          <a:xfrm>
            <a:off x="958387" y="2095142"/>
            <a:ext cx="864870" cy="459392"/>
          </a:xfrm>
          <a:prstGeom prst="rect">
            <a:avLst/>
          </a:prstGeom>
        </p:spPr>
        <p:txBody>
          <a:bodyPr wrap="none">
            <a:spAutoFit/>
          </a:bodyPr>
          <a:lstStyle/>
          <a:p>
            <a:r>
              <a:rPr lang="en-US" sz="2388" b="1" dirty="0">
                <a:solidFill>
                  <a:srgbClr val="FF0000"/>
                </a:solidFill>
              </a:rPr>
              <a:t>Input</a:t>
            </a:r>
            <a:endParaRPr lang="en-US" sz="2388" dirty="0">
              <a:solidFill>
                <a:srgbClr val="FF0000"/>
              </a:solidFill>
            </a:endParaRPr>
          </a:p>
        </p:txBody>
      </p:sp>
      <p:sp>
        <p:nvSpPr>
          <p:cNvPr id="24" name="Rectangle 23">
            <a:extLst>
              <a:ext uri="{FF2B5EF4-FFF2-40B4-BE49-F238E27FC236}">
                <a16:creationId xmlns:a16="http://schemas.microsoft.com/office/drawing/2014/main" id="{C210FE40-4417-4BB8-BC7E-5DAEE30F3510}"/>
              </a:ext>
            </a:extLst>
          </p:cNvPr>
          <p:cNvSpPr/>
          <p:nvPr/>
        </p:nvSpPr>
        <p:spPr>
          <a:xfrm>
            <a:off x="841947" y="4223308"/>
            <a:ext cx="1097755" cy="459392"/>
          </a:xfrm>
          <a:prstGeom prst="rect">
            <a:avLst/>
          </a:prstGeom>
        </p:spPr>
        <p:txBody>
          <a:bodyPr wrap="none">
            <a:spAutoFit/>
          </a:bodyPr>
          <a:lstStyle/>
          <a:p>
            <a:r>
              <a:rPr lang="en-US" sz="2388" b="1" dirty="0">
                <a:solidFill>
                  <a:srgbClr val="FF0000"/>
                </a:solidFill>
              </a:rPr>
              <a:t>Output</a:t>
            </a:r>
            <a:endParaRPr lang="en-US" sz="2388" dirty="0">
              <a:solidFill>
                <a:srgbClr val="FF0000"/>
              </a:solidFill>
            </a:endParaRPr>
          </a:p>
        </p:txBody>
      </p:sp>
    </p:spTree>
    <p:extLst>
      <p:ext uri="{BB962C8B-B14F-4D97-AF65-F5344CB8AC3E}">
        <p14:creationId xmlns:p14="http://schemas.microsoft.com/office/powerpoint/2010/main" val="3387419723"/>
      </p:ext>
    </p:extLst>
  </p:cSld>
  <p:clrMapOvr>
    <a:masterClrMapping/>
  </p:clrMapOvr>
  <mc:AlternateContent xmlns:mc="http://schemas.openxmlformats.org/markup-compatibility/2006" xmlns:p14="http://schemas.microsoft.com/office/powerpoint/2010/main">
    <mc:Choice Requires="p14">
      <p:transition spd="med" p14:dur="700" advTm="77189">
        <p:fade/>
      </p:transition>
    </mc:Choice>
    <mc:Fallback xmlns="">
      <p:transition spd="med" advTm="77189">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7|26.3|62.2"/>
</p:tagLst>
</file>

<file path=ppt/tags/tag2.xml><?xml version="1.0" encoding="utf-8"?>
<p:tagLst xmlns:a="http://schemas.openxmlformats.org/drawingml/2006/main" xmlns:r="http://schemas.openxmlformats.org/officeDocument/2006/relationships" xmlns:p="http://schemas.openxmlformats.org/presentationml/2006/main">
  <p:tag name="TIMING" val="|3.4|20.9|110.2"/>
</p:tagLst>
</file>

<file path=ppt/tags/tag3.xml><?xml version="1.0" encoding="utf-8"?>
<p:tagLst xmlns:a="http://schemas.openxmlformats.org/drawingml/2006/main" xmlns:r="http://schemas.openxmlformats.org/officeDocument/2006/relationships" xmlns:p="http://schemas.openxmlformats.org/presentationml/2006/main">
  <p:tag name="TIMING" val="|2.5|2.6|37.2"/>
</p:tagLst>
</file>

<file path=ppt/tags/tag4.xml><?xml version="1.0" encoding="utf-8"?>
<p:tagLst xmlns:a="http://schemas.openxmlformats.org/drawingml/2006/main" xmlns:r="http://schemas.openxmlformats.org/officeDocument/2006/relationships" xmlns:p="http://schemas.openxmlformats.org/presentationml/2006/main">
  <p:tag name="TIMING" val="|1.7|2.6|12.8|47.1|54.4|44.2"/>
</p:tagLst>
</file>

<file path=ppt/tags/tag5.xml><?xml version="1.0" encoding="utf-8"?>
<p:tagLst xmlns:a="http://schemas.openxmlformats.org/drawingml/2006/main" xmlns:r="http://schemas.openxmlformats.org/officeDocument/2006/relationships" xmlns:p="http://schemas.openxmlformats.org/presentationml/2006/main">
  <p:tag name="TIMING" val="|1.7|2.6|12.8|47.1|54.4|44.2"/>
</p:tagLst>
</file>

<file path=ppt/tags/tag6.xml><?xml version="1.0" encoding="utf-8"?>
<p:tagLst xmlns:a="http://schemas.openxmlformats.org/drawingml/2006/main" xmlns:r="http://schemas.openxmlformats.org/officeDocument/2006/relationships" xmlns:p="http://schemas.openxmlformats.org/presentationml/2006/main">
  <p:tag name="TIMING" val="|1.2"/>
</p:tagLst>
</file>

<file path=ppt/tags/tag7.xml><?xml version="1.0" encoding="utf-8"?>
<p:tagLst xmlns:a="http://schemas.openxmlformats.org/drawingml/2006/main" xmlns:r="http://schemas.openxmlformats.org/officeDocument/2006/relationships" xmlns:p="http://schemas.openxmlformats.org/presentationml/2006/main">
  <p:tag name="TIMING" val="|36.7"/>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bit">
      <a:majorFont>
        <a:latin typeface="Candara"/>
        <a:ea typeface=""/>
        <a:cs typeface=""/>
        <a:font script="Jpan" typeface="ＭＳ Ｐゴシック"/>
        <a:font script="Hans" typeface="宋体"/>
        <a:font script="Hant" typeface="新細明體"/>
      </a:majorFont>
      <a:minorFont>
        <a:latin typeface="Candara"/>
        <a:ea typeface=""/>
        <a:cs typeface=""/>
        <a:font script="Jpan" typeface="ＭＳ Ｐ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22442</TotalTime>
  <Words>1238</Words>
  <Application>Microsoft Office PowerPoint</Application>
  <PresentationFormat>Custom</PresentationFormat>
  <Paragraphs>278</Paragraphs>
  <Slides>37</Slides>
  <Notes>17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3</vt:i4>
      </vt:variant>
      <vt:variant>
        <vt:lpstr>Slide Titles</vt:lpstr>
      </vt:variant>
      <vt:variant>
        <vt:i4>37</vt:i4>
      </vt:variant>
    </vt:vector>
  </HeadingPairs>
  <TitlesOfParts>
    <vt:vector size="49" baseType="lpstr">
      <vt:lpstr>Arial</vt:lpstr>
      <vt:lpstr>Calibri</vt:lpstr>
      <vt:lpstr>Calibri Light</vt:lpstr>
      <vt:lpstr>Cambria Math</vt:lpstr>
      <vt:lpstr>Candara</vt:lpstr>
      <vt:lpstr>Times New Roman</vt:lpstr>
      <vt:lpstr>Wingdings</vt:lpstr>
      <vt:lpstr>Office Theme</vt:lpstr>
      <vt:lpstr>1_Office Theme</vt:lpstr>
      <vt:lpstr>VISIO</vt:lpstr>
      <vt:lpstr>Visio</vt:lpstr>
      <vt:lpstr>Equation</vt:lpstr>
      <vt:lpstr>PowerPoint Presentation</vt:lpstr>
      <vt:lpstr>Supervised learning</vt:lpstr>
      <vt:lpstr>Unsupervised learning</vt:lpstr>
      <vt:lpstr>Clustering Applications</vt:lpstr>
      <vt:lpstr>Hierarchical Clustering </vt:lpstr>
      <vt:lpstr>Strengths of Hierarchical Clustering</vt:lpstr>
      <vt:lpstr>Hierarchical Clustering</vt:lpstr>
      <vt:lpstr>Agglomerative clustering algorithm</vt:lpstr>
      <vt:lpstr>Input/ Initial setting</vt:lpstr>
      <vt:lpstr>Distance between two clusters</vt:lpstr>
      <vt:lpstr>Distance between two clusters</vt:lpstr>
      <vt:lpstr>Strengths of single-link clustering</vt:lpstr>
      <vt:lpstr>Limitations of single-link clustering</vt:lpstr>
      <vt:lpstr>Distance between two clusters</vt:lpstr>
      <vt:lpstr>Strengths of complete-link clustering</vt:lpstr>
      <vt:lpstr>Limitations of complete-link clustering</vt:lpstr>
      <vt:lpstr>Distance between two clusters</vt:lpstr>
      <vt:lpstr>Average-link clustering: discussion</vt:lpstr>
      <vt:lpstr>Distance between two clusters</vt:lpstr>
      <vt:lpstr>Distance between two clusters</vt:lpstr>
      <vt:lpstr>Ward’s distance for clusters</vt:lpstr>
      <vt:lpstr>Hierarchical Clustering: Comparison</vt:lpstr>
      <vt:lpstr>K-means Clustering</vt:lpstr>
      <vt:lpstr>K-means Clustering</vt:lpstr>
      <vt:lpstr>Algorithm: K-means Clustering</vt:lpstr>
      <vt:lpstr>Algorithm: K-means Clustering</vt:lpstr>
      <vt:lpstr>Code</vt:lpstr>
      <vt:lpstr>Example_1</vt:lpstr>
      <vt:lpstr>Example_2</vt:lpstr>
      <vt:lpstr>Results</vt:lpstr>
      <vt:lpstr>Results</vt:lpstr>
      <vt:lpstr>More Results: K-means Clustering</vt:lpstr>
      <vt:lpstr>More Results: K-means Clustering</vt:lpstr>
      <vt:lpstr>More Results: K-means Clustering</vt:lpstr>
      <vt:lpstr>Example_3</vt:lpstr>
      <vt:lpstr>Code</vt:lpstr>
      <vt:lpstr>Results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Shalaby</dc:creator>
  <cp:lastModifiedBy>Abdeltawab, Hisham</cp:lastModifiedBy>
  <cp:revision>945</cp:revision>
  <dcterms:created xsi:type="dcterms:W3CDTF">2018-12-20T16:44:09Z</dcterms:created>
  <dcterms:modified xsi:type="dcterms:W3CDTF">2024-03-04T14:05:12Z</dcterms:modified>
</cp:coreProperties>
</file>