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20" r:id="rId2"/>
  </p:sldMasterIdLst>
  <p:notesMasterIdLst>
    <p:notesMasterId r:id="rId16"/>
  </p:notesMasterIdLst>
  <p:sldIdLst>
    <p:sldId id="287" r:id="rId3"/>
    <p:sldId id="1238" r:id="rId4"/>
    <p:sldId id="1239" r:id="rId5"/>
    <p:sldId id="1240" r:id="rId6"/>
    <p:sldId id="1241" r:id="rId7"/>
    <p:sldId id="400" r:id="rId8"/>
    <p:sldId id="401" r:id="rId9"/>
    <p:sldId id="402" r:id="rId10"/>
    <p:sldId id="403" r:id="rId11"/>
    <p:sldId id="1242" r:id="rId12"/>
    <p:sldId id="1247" r:id="rId13"/>
    <p:sldId id="1248" r:id="rId14"/>
    <p:sldId id="1249" r:id="rId15"/>
  </p:sldIdLst>
  <p:sldSz cx="12252325" cy="6858000"/>
  <p:notesSz cx="6858000" cy="9144000"/>
  <p:defaultTextStyle>
    <a:defPPr>
      <a:defRPr lang="en-US"/>
    </a:defPPr>
    <a:lvl1pPr marL="0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1pPr>
    <a:lvl2pPr marL="550377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2pPr>
    <a:lvl3pPr marL="1100755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3pPr>
    <a:lvl4pPr marL="1651132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4pPr>
    <a:lvl5pPr marL="2201509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5pPr>
    <a:lvl6pPr marL="2751887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6pPr>
    <a:lvl7pPr marL="3302264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7pPr>
    <a:lvl8pPr marL="3852642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8pPr>
    <a:lvl9pPr marL="4403019" algn="l" defTabSz="550377" rtl="0" eaLnBrk="1" latinLnBrk="0" hangingPunct="1">
      <a:defRPr sz="216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Soliman" initials="AS" lastIdx="1" clrIdx="0">
    <p:extLst>
      <p:ext uri="{19B8F6BF-5375-455C-9EA6-DF929625EA0E}">
        <p15:presenceInfo xmlns:p15="http://schemas.microsoft.com/office/powerpoint/2012/main" userId="09d38502260558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99819"/>
    <a:srgbClr val="234CF9"/>
    <a:srgbClr val="836301"/>
    <a:srgbClr val="00B050"/>
    <a:srgbClr val="ED7D31"/>
    <a:srgbClr val="5CFFBD"/>
    <a:srgbClr val="FBF813"/>
    <a:srgbClr val="FA5522"/>
    <a:srgbClr val="0380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5" autoAdjust="0"/>
    <p:restoredTop sz="81754" autoAdjust="0"/>
  </p:normalViewPr>
  <p:slideViewPr>
    <p:cSldViewPr snapToGrid="0">
      <p:cViewPr varScale="1">
        <p:scale>
          <a:sx n="93" d="100"/>
          <a:sy n="93" d="100"/>
        </p:scale>
        <p:origin x="1458" y="9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072B91-F445-4E8B-8870-C6FC9857173E}" type="datetimeFigureOut">
              <a:rPr lang="en-US" smtClean="0"/>
              <a:t>3/16/2024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73100" y="1143000"/>
            <a:ext cx="5511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CE86F3-7DB4-448E-A420-6F309595FB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6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1pPr>
    <a:lvl2pPr marL="429294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2pPr>
    <a:lvl3pPr marL="858589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3pPr>
    <a:lvl4pPr marL="1287883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4pPr>
    <a:lvl5pPr marL="1717177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5pPr>
    <a:lvl6pPr marL="2146472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6pPr>
    <a:lvl7pPr marL="2575766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7pPr>
    <a:lvl8pPr marL="3005060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8pPr>
    <a:lvl9pPr marL="3434355" algn="l" defTabSz="858589" rtl="0" eaLnBrk="1" latinLnBrk="0" hangingPunct="1">
      <a:defRPr sz="112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1541" y="1122363"/>
            <a:ext cx="9189244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31541" y="3602038"/>
            <a:ext cx="9189244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2C5C0-3EBD-4C67-94C9-062B6B455D56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94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E40CC-D23A-4816-9476-98C28A8FDEDE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705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966" y="1709739"/>
            <a:ext cx="1056763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966" y="4589464"/>
            <a:ext cx="1056763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D6C3-F7D0-41B4-8C36-CA97B7FCECD7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1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2347" y="1825625"/>
            <a:ext cx="520723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740" y="1825625"/>
            <a:ext cx="5207238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5977-0102-4C43-8064-0C25DE267142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8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3" y="365126"/>
            <a:ext cx="1056763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3944" y="1681163"/>
            <a:ext cx="518330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3944" y="2505075"/>
            <a:ext cx="518330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2740" y="1681163"/>
            <a:ext cx="520883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2740" y="2505075"/>
            <a:ext cx="5208834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E196-C092-400D-8274-F74585EF5922}" type="datetime1">
              <a:rPr lang="en-US" smtClean="0"/>
              <a:t>3/16/2024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7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BF93BC-4A23-4FFB-BB39-D83C6B8EAA36}" type="datetime1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01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C66D-2017-4B03-B646-CA6AEA5F9C11}" type="datetime1">
              <a:rPr lang="en-US" smtClean="0"/>
              <a:t>3/16/2024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01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457200"/>
            <a:ext cx="39516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8834" y="987426"/>
            <a:ext cx="620274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2057400"/>
            <a:ext cx="39516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6B16A-1B42-42CB-AB3F-C6902ACCB849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7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944" y="457200"/>
            <a:ext cx="395169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8834" y="987426"/>
            <a:ext cx="620274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944" y="2057400"/>
            <a:ext cx="395169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86494-1EFC-4577-9D10-09E186F95933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3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B9D85-ABD6-4BE2-9216-6393181C6C66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773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8070" y="365125"/>
            <a:ext cx="264190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2347" y="365125"/>
            <a:ext cx="777256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5A086-221F-4611-94DC-7FD28555DD5A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413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8925" y="2130426"/>
            <a:ext cx="10414476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37849" y="3886200"/>
            <a:ext cx="857662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8443C-72BE-CF4B-ACE7-DD445CD666F8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35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625033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849" y="4406901"/>
            <a:ext cx="10414476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7849" y="2906713"/>
            <a:ext cx="10414476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461FB-6672-D449-BF26-4C1DC7D36F2F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84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16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265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0459296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16" y="1535113"/>
            <a:ext cx="54135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16" y="2174875"/>
            <a:ext cx="54135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24012" y="1535113"/>
            <a:ext cx="54156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24012" y="2174875"/>
            <a:ext cx="54156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D2918-CC78-8D41-ABA1-1E8F61DC43D1}" type="datetime1">
              <a:rPr lang="en-US" smtClean="0"/>
              <a:t>3/16/2024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620031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747704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2599B-CF4E-4745-A1C4-0A1EAD1AE797}" type="datetime1">
              <a:rPr lang="en-US" smtClean="0"/>
              <a:t>3/16/2024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87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17" y="273050"/>
            <a:ext cx="40309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0319" y="273051"/>
            <a:ext cx="684939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2617" y="1435101"/>
            <a:ext cx="40309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83415-B2F7-814D-AB88-C1D4F5212AB3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75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541" y="4800600"/>
            <a:ext cx="735139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401541" y="612775"/>
            <a:ext cx="735139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01541" y="5367338"/>
            <a:ext cx="735139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EB1A2-967F-EF46-A281-A64C8735F71A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699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7EFC-DC2A-4140-AA88-6404FE9C25AF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860286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82936" y="274639"/>
            <a:ext cx="2756773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2616" y="274639"/>
            <a:ext cx="8066114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E37D0-81EC-E749-AA69-D8326DE4460C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1454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16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8265" y="1600201"/>
            <a:ext cx="5411444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94419-EDFB-6F4E-A333-81B2AEE61551}" type="datetime1">
              <a:rPr lang="en-US" smtClean="0"/>
              <a:t>3/16/2024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2184310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4558566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8751425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9028030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325459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2587856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8078620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190807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1154952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519769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88044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747300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5213793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6858693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443139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7414127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14140256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0361206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33452626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40978612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866098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1058425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CD1D9-C084-EE47-BD8D-261BE031B149}" type="datetime1">
              <a:rPr lang="en-US" smtClean="0"/>
              <a:t>3/16/2024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3654298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2DA-637D-DA41-AAFB-68E5B7C2EF75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56997-4F5F-5A42-B306-795126905AC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12616" y="142875"/>
            <a:ext cx="3573595" cy="1143000"/>
          </a:xfrm>
        </p:spPr>
        <p:txBody>
          <a:bodyPr anchor="ctr" anchorCtr="0"/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add Section</a:t>
            </a:r>
          </a:p>
        </p:txBody>
      </p:sp>
    </p:spTree>
    <p:extLst>
      <p:ext uri="{BB962C8B-B14F-4D97-AF65-F5344CB8AC3E}">
        <p14:creationId xmlns:p14="http://schemas.microsoft.com/office/powerpoint/2010/main" val="237882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2348" y="365126"/>
            <a:ext cx="105676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2348" y="1825625"/>
            <a:ext cx="1056763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42347" y="6356351"/>
            <a:ext cx="2756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938194-C996-4128-A7CA-F58921D4AB84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58583" y="6356351"/>
            <a:ext cx="4135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53205" y="6356351"/>
            <a:ext cx="27567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85F329-02EE-4F4A-8B74-A22642379F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0"/>
            <a:ext cx="4186211" cy="14176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7"/>
          </a:p>
        </p:txBody>
      </p:sp>
      <p:sp>
        <p:nvSpPr>
          <p:cNvPr id="10" name="Rectangle 9"/>
          <p:cNvSpPr/>
          <p:nvPr userDrawn="1"/>
        </p:nvSpPr>
        <p:spPr>
          <a:xfrm>
            <a:off x="4186211" y="0"/>
            <a:ext cx="8066114" cy="14176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67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6211" y="142836"/>
            <a:ext cx="74534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2616" y="1600201"/>
            <a:ext cx="11027093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2616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39493-8D72-7745-A3DC-04B5A9850C8F}" type="datetime1">
              <a:rPr lang="en-US" smtClean="0"/>
              <a:t>3/16/2024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86211" y="6356351"/>
            <a:ext cx="38799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80833" y="6356351"/>
            <a:ext cx="28588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F56997-4F5F-5A42-B306-795126905A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22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  <p:sldLayoutId id="2147483758" r:id="rId31"/>
    <p:sldLayoutId id="2147483759" r:id="rId32"/>
    <p:sldLayoutId id="2147483760" r:id="rId33"/>
    <p:sldLayoutId id="2147483761" r:id="rId34"/>
    <p:sldLayoutId id="2147483762" r:id="rId3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258644" y="821686"/>
            <a:ext cx="11698224" cy="5865912"/>
          </a:xfrm>
          <a:custGeom>
            <a:avLst/>
            <a:gdLst>
              <a:gd name="connsiteX0" fmla="*/ 0 w 9804400"/>
              <a:gd name="connsiteY0" fmla="*/ 102022 h 3310246"/>
              <a:gd name="connsiteX1" fmla="*/ 102022 w 9804400"/>
              <a:gd name="connsiteY1" fmla="*/ 0 h 3310246"/>
              <a:gd name="connsiteX2" fmla="*/ 9702378 w 9804400"/>
              <a:gd name="connsiteY2" fmla="*/ 0 h 3310246"/>
              <a:gd name="connsiteX3" fmla="*/ 9804400 w 9804400"/>
              <a:gd name="connsiteY3" fmla="*/ 102022 h 3310246"/>
              <a:gd name="connsiteX4" fmla="*/ 9804400 w 9804400"/>
              <a:gd name="connsiteY4" fmla="*/ 3208224 h 3310246"/>
              <a:gd name="connsiteX5" fmla="*/ 9702378 w 9804400"/>
              <a:gd name="connsiteY5" fmla="*/ 3310246 h 3310246"/>
              <a:gd name="connsiteX6" fmla="*/ 102022 w 9804400"/>
              <a:gd name="connsiteY6" fmla="*/ 3310246 h 3310246"/>
              <a:gd name="connsiteX7" fmla="*/ 0 w 9804400"/>
              <a:gd name="connsiteY7" fmla="*/ 3208224 h 3310246"/>
              <a:gd name="connsiteX8" fmla="*/ 0 w 9804400"/>
              <a:gd name="connsiteY8" fmla="*/ 102022 h 3310246"/>
              <a:gd name="connsiteX0" fmla="*/ 0 w 9804400"/>
              <a:gd name="connsiteY0" fmla="*/ 102022 h 3872265"/>
              <a:gd name="connsiteX1" fmla="*/ 102022 w 9804400"/>
              <a:gd name="connsiteY1" fmla="*/ 0 h 3872265"/>
              <a:gd name="connsiteX2" fmla="*/ 9702378 w 9804400"/>
              <a:gd name="connsiteY2" fmla="*/ 0 h 3872265"/>
              <a:gd name="connsiteX3" fmla="*/ 9804400 w 9804400"/>
              <a:gd name="connsiteY3" fmla="*/ 102022 h 3872265"/>
              <a:gd name="connsiteX4" fmla="*/ 9804400 w 9804400"/>
              <a:gd name="connsiteY4" fmla="*/ 3208224 h 3872265"/>
              <a:gd name="connsiteX5" fmla="*/ 9702378 w 9804400"/>
              <a:gd name="connsiteY5" fmla="*/ 3310246 h 3872265"/>
              <a:gd name="connsiteX6" fmla="*/ 4754880 w 9804400"/>
              <a:gd name="connsiteY6" fmla="*/ 3872258 h 3872265"/>
              <a:gd name="connsiteX7" fmla="*/ 102022 w 9804400"/>
              <a:gd name="connsiteY7" fmla="*/ 3310246 h 3872265"/>
              <a:gd name="connsiteX8" fmla="*/ 0 w 9804400"/>
              <a:gd name="connsiteY8" fmla="*/ 3208224 h 3872265"/>
              <a:gd name="connsiteX9" fmla="*/ 0 w 9804400"/>
              <a:gd name="connsiteY9" fmla="*/ 102022 h 3872265"/>
              <a:gd name="connsiteX0" fmla="*/ 0 w 9804400"/>
              <a:gd name="connsiteY0" fmla="*/ 102022 h 4878100"/>
              <a:gd name="connsiteX1" fmla="*/ 102022 w 9804400"/>
              <a:gd name="connsiteY1" fmla="*/ 0 h 4878100"/>
              <a:gd name="connsiteX2" fmla="*/ 9702378 w 9804400"/>
              <a:gd name="connsiteY2" fmla="*/ 0 h 4878100"/>
              <a:gd name="connsiteX3" fmla="*/ 9804400 w 9804400"/>
              <a:gd name="connsiteY3" fmla="*/ 102022 h 4878100"/>
              <a:gd name="connsiteX4" fmla="*/ 9804400 w 9804400"/>
              <a:gd name="connsiteY4" fmla="*/ 3208224 h 4878100"/>
              <a:gd name="connsiteX5" fmla="*/ 9702378 w 9804400"/>
              <a:gd name="connsiteY5" fmla="*/ 3310246 h 4878100"/>
              <a:gd name="connsiteX6" fmla="*/ 4754880 w 9804400"/>
              <a:gd name="connsiteY6" fmla="*/ 4878098 h 4878100"/>
              <a:gd name="connsiteX7" fmla="*/ 102022 w 9804400"/>
              <a:gd name="connsiteY7" fmla="*/ 3310246 h 4878100"/>
              <a:gd name="connsiteX8" fmla="*/ 0 w 9804400"/>
              <a:gd name="connsiteY8" fmla="*/ 3208224 h 4878100"/>
              <a:gd name="connsiteX9" fmla="*/ 0 w 9804400"/>
              <a:gd name="connsiteY9" fmla="*/ 102022 h 4878100"/>
              <a:gd name="connsiteX0" fmla="*/ 0 w 9804400"/>
              <a:gd name="connsiteY0" fmla="*/ 102022 h 4888260"/>
              <a:gd name="connsiteX1" fmla="*/ 102022 w 9804400"/>
              <a:gd name="connsiteY1" fmla="*/ 0 h 4888260"/>
              <a:gd name="connsiteX2" fmla="*/ 9702378 w 9804400"/>
              <a:gd name="connsiteY2" fmla="*/ 0 h 4888260"/>
              <a:gd name="connsiteX3" fmla="*/ 9804400 w 9804400"/>
              <a:gd name="connsiteY3" fmla="*/ 102022 h 4888260"/>
              <a:gd name="connsiteX4" fmla="*/ 9804400 w 9804400"/>
              <a:gd name="connsiteY4" fmla="*/ 3208224 h 4888260"/>
              <a:gd name="connsiteX5" fmla="*/ 9702378 w 9804400"/>
              <a:gd name="connsiteY5" fmla="*/ 3310246 h 4888260"/>
              <a:gd name="connsiteX6" fmla="*/ 5040991 w 9804400"/>
              <a:gd name="connsiteY6" fmla="*/ 4888258 h 4888260"/>
              <a:gd name="connsiteX7" fmla="*/ 102022 w 9804400"/>
              <a:gd name="connsiteY7" fmla="*/ 3310246 h 4888260"/>
              <a:gd name="connsiteX8" fmla="*/ 0 w 9804400"/>
              <a:gd name="connsiteY8" fmla="*/ 3208224 h 4888260"/>
              <a:gd name="connsiteX9" fmla="*/ 0 w 9804400"/>
              <a:gd name="connsiteY9" fmla="*/ 102022 h 4888260"/>
              <a:gd name="connsiteX0" fmla="*/ 0 w 9804400"/>
              <a:gd name="connsiteY0" fmla="*/ 102022 h 4888260"/>
              <a:gd name="connsiteX1" fmla="*/ 102022 w 9804400"/>
              <a:gd name="connsiteY1" fmla="*/ 0 h 4888260"/>
              <a:gd name="connsiteX2" fmla="*/ 9702378 w 9804400"/>
              <a:gd name="connsiteY2" fmla="*/ 0 h 4888260"/>
              <a:gd name="connsiteX3" fmla="*/ 9804400 w 9804400"/>
              <a:gd name="connsiteY3" fmla="*/ 102022 h 4888260"/>
              <a:gd name="connsiteX4" fmla="*/ 9804400 w 9804400"/>
              <a:gd name="connsiteY4" fmla="*/ 3208224 h 4888260"/>
              <a:gd name="connsiteX5" fmla="*/ 9702378 w 9804400"/>
              <a:gd name="connsiteY5" fmla="*/ 3310246 h 4888260"/>
              <a:gd name="connsiteX6" fmla="*/ 5010336 w 9804400"/>
              <a:gd name="connsiteY6" fmla="*/ 4888258 h 4888260"/>
              <a:gd name="connsiteX7" fmla="*/ 102022 w 9804400"/>
              <a:gd name="connsiteY7" fmla="*/ 3310246 h 4888260"/>
              <a:gd name="connsiteX8" fmla="*/ 0 w 9804400"/>
              <a:gd name="connsiteY8" fmla="*/ 3208224 h 4888260"/>
              <a:gd name="connsiteX9" fmla="*/ 0 w 9804400"/>
              <a:gd name="connsiteY9" fmla="*/ 102022 h 4888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804400" h="4888260">
                <a:moveTo>
                  <a:pt x="0" y="102022"/>
                </a:moveTo>
                <a:cubicBezTo>
                  <a:pt x="0" y="45677"/>
                  <a:pt x="45677" y="0"/>
                  <a:pt x="102022" y="0"/>
                </a:cubicBezTo>
                <a:lnTo>
                  <a:pt x="9702378" y="0"/>
                </a:lnTo>
                <a:cubicBezTo>
                  <a:pt x="9758723" y="0"/>
                  <a:pt x="9804400" y="45677"/>
                  <a:pt x="9804400" y="102022"/>
                </a:cubicBezTo>
                <a:lnTo>
                  <a:pt x="9804400" y="3208224"/>
                </a:lnTo>
                <a:cubicBezTo>
                  <a:pt x="9804400" y="3264569"/>
                  <a:pt x="9758723" y="3310246"/>
                  <a:pt x="9702378" y="3310246"/>
                </a:cubicBezTo>
                <a:cubicBezTo>
                  <a:pt x="8090465" y="3307930"/>
                  <a:pt x="6622249" y="4890574"/>
                  <a:pt x="5010336" y="4888258"/>
                </a:cubicBezTo>
                <a:cubicBezTo>
                  <a:pt x="3422130" y="4890574"/>
                  <a:pt x="1690228" y="3307930"/>
                  <a:pt x="102022" y="3310246"/>
                </a:cubicBezTo>
                <a:cubicBezTo>
                  <a:pt x="45677" y="3310246"/>
                  <a:pt x="0" y="3264569"/>
                  <a:pt x="0" y="3208224"/>
                </a:cubicBezTo>
                <a:lnTo>
                  <a:pt x="0" y="102022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#7: Clustering: minimum spanning trees</a:t>
            </a:r>
          </a:p>
          <a:p>
            <a:pPr algn="ctr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Hisham Abdeltawab, Ph.D.</a:t>
            </a: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Cairo University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rcRect l="26958" r="26155"/>
          <a:stretch/>
        </p:blipFill>
        <p:spPr>
          <a:xfrm>
            <a:off x="-1" y="-1"/>
            <a:ext cx="12252325" cy="1640017"/>
          </a:xfrm>
          <a:prstGeom prst="rect">
            <a:avLst/>
          </a:prstGeom>
          <a:noFill/>
        </p:spPr>
      </p:pic>
      <p:sp>
        <p:nvSpPr>
          <p:cNvPr id="8" name="Subtitle 2"/>
          <p:cNvSpPr txBox="1">
            <a:spLocks/>
          </p:cNvSpPr>
          <p:nvPr/>
        </p:nvSpPr>
        <p:spPr>
          <a:xfrm>
            <a:off x="836425" y="158688"/>
            <a:ext cx="10542662" cy="1481328"/>
          </a:xfrm>
          <a:prstGeom prst="rect">
            <a:avLst/>
          </a:prstGeom>
        </p:spPr>
        <p:txBody>
          <a:bodyPr vert="horz" lIns="82296" tIns="41148" rIns="82296" bIns="41148" rtlCol="0">
            <a:noAutofit/>
          </a:bodyPr>
          <a:lstStyle/>
          <a:p>
            <a:pPr algn="ctr" defTabSz="822960">
              <a:lnSpc>
                <a:spcPct val="85000"/>
              </a:lnSpc>
              <a:defRPr/>
            </a:pP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>
          <a:xfrm>
            <a:off x="3373871" y="3733438"/>
            <a:ext cx="5467770" cy="1434238"/>
          </a:xfrm>
          <a:prstGeom prst="rect">
            <a:avLst/>
          </a:prstGeom>
        </p:spPr>
        <p:txBody>
          <a:bodyPr vert="horz" lIns="82296" tIns="41148" rIns="82296" bIns="41148" rtlCol="0">
            <a:noAutofit/>
          </a:bodyPr>
          <a:lstStyle/>
          <a:p>
            <a:pPr algn="ctr"/>
            <a:endParaRPr lang="en-US" sz="1680" b="1" dirty="0">
              <a:solidFill>
                <a:srgbClr val="234C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A41962-6C2B-4A72-E34D-C64FCD448361}"/>
              </a:ext>
            </a:extLst>
          </p:cNvPr>
          <p:cNvSpPr txBox="1"/>
          <p:nvPr/>
        </p:nvSpPr>
        <p:spPr>
          <a:xfrm>
            <a:off x="443059" y="67493"/>
            <a:ext cx="11366204" cy="150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822960">
              <a:lnSpc>
                <a:spcPct val="85000"/>
              </a:lnSpc>
              <a:defRPr/>
            </a:pP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SBE 4032: Advanced Topics in Medical Informatics (2)</a:t>
            </a:r>
          </a:p>
          <a:p>
            <a:pPr algn="ctr" defTabSz="822960">
              <a:lnSpc>
                <a:spcPct val="85000"/>
              </a:lnSpc>
              <a:defRPr/>
            </a:pP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822960">
              <a:lnSpc>
                <a:spcPct val="85000"/>
              </a:lnSpc>
              <a:defRPr/>
            </a:pPr>
            <a:r>
              <a:rPr lang="ar-EG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موضوعات متقدمة في المعلوماتية الطبية (2)</a:t>
            </a:r>
            <a:endParaRPr lang="en-US" sz="3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5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55666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usual definition of a </a:t>
            </a:r>
            <a:r>
              <a:rPr lang="en-US" b="1" i="1" dirty="0"/>
              <a:t>graph </a:t>
            </a:r>
            <a:r>
              <a:rPr lang="en-US" dirty="0"/>
              <a:t>G = (V, E)</a:t>
            </a:r>
            <a:r>
              <a:rPr lang="en-US" b="1" i="1" dirty="0"/>
              <a:t> </a:t>
            </a:r>
            <a:r>
              <a:rPr lang="en-US" dirty="0"/>
              <a:t>consists of two sets denoted by </a:t>
            </a:r>
            <a:r>
              <a:rPr lang="en-US" i="1" dirty="0"/>
              <a:t>V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set </a:t>
            </a:r>
            <a:r>
              <a:rPr lang="en-US" i="1" dirty="0"/>
              <a:t>V </a:t>
            </a:r>
            <a:r>
              <a:rPr lang="en-US" dirty="0"/>
              <a:t>is a collection of objects known as </a:t>
            </a:r>
            <a:r>
              <a:rPr lang="en-US" b="1" i="1" dirty="0"/>
              <a:t>vertices </a:t>
            </a:r>
            <a:r>
              <a:rPr lang="en-US" dirty="0"/>
              <a:t>or </a:t>
            </a:r>
            <a:r>
              <a:rPr lang="en-US" b="1" i="1" dirty="0"/>
              <a:t>nodes</a:t>
            </a:r>
            <a:r>
              <a:rPr lang="en-US" dirty="0"/>
              <a:t>. For example, these can be such things as cities, networked computers, and even observations in a general data set, as we will see later.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set </a:t>
            </a:r>
            <a:r>
              <a:rPr lang="en-US" i="1" dirty="0"/>
              <a:t>E </a:t>
            </a:r>
            <a:r>
              <a:rPr lang="en-US" dirty="0"/>
              <a:t>contains the </a:t>
            </a:r>
            <a:r>
              <a:rPr lang="en-US" b="1" i="1" dirty="0"/>
              <a:t>edges </a:t>
            </a:r>
            <a:r>
              <a:rPr lang="en-US" dirty="0"/>
              <a:t>(or </a:t>
            </a:r>
            <a:r>
              <a:rPr lang="en-US" b="1" i="1" dirty="0"/>
              <a:t>links</a:t>
            </a:r>
            <a:r>
              <a:rPr lang="en-US" dirty="0"/>
              <a:t>) of the graph, which are pairs of vertices specifying a link.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These edges can be </a:t>
            </a:r>
            <a:r>
              <a:rPr lang="en-US" b="1" i="1" dirty="0"/>
              <a:t>directed </a:t>
            </a:r>
            <a:r>
              <a:rPr lang="en-US" dirty="0"/>
              <a:t>or </a:t>
            </a:r>
            <a:r>
              <a:rPr lang="en-US" b="1" i="1" dirty="0"/>
              <a:t>undirected</a:t>
            </a:r>
            <a:r>
              <a:rPr lang="en-US" dirty="0"/>
              <a:t>. The vertex pairs are unordered, if we have an undirected graph. If the edges have a direction associated with them, then we traverse the graph (or edges) in the given direction.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Weighted graph.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46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5943282" cy="4566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an example, the graph in the top panel of the Figure can be represented by the following sets </a:t>
            </a:r>
            <a:r>
              <a:rPr lang="en-US" i="1" dirty="0"/>
              <a:t>V </a:t>
            </a:r>
            <a:r>
              <a:rPr lang="en-US" dirty="0"/>
              <a:t>and </a:t>
            </a:r>
            <a:r>
              <a:rPr lang="en-US" i="1" dirty="0"/>
              <a:t>E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i="1" dirty="0"/>
              <a:t>V </a:t>
            </a:r>
            <a:r>
              <a:rPr lang="en-US" dirty="0"/>
              <a:t>= {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dirty="0"/>
              <a:t>}</a:t>
            </a:r>
          </a:p>
          <a:p>
            <a:r>
              <a:rPr lang="en-US" i="1" dirty="0"/>
              <a:t>E </a:t>
            </a:r>
            <a:r>
              <a:rPr lang="en-US" dirty="0"/>
              <a:t>= {{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}, {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dirty="0"/>
              <a:t>}, {</a:t>
            </a:r>
            <a:r>
              <a:rPr lang="en-US" i="1" dirty="0"/>
              <a:t>B</a:t>
            </a:r>
            <a:r>
              <a:rPr lang="en-US" dirty="0"/>
              <a:t>, </a:t>
            </a:r>
            <a:r>
              <a:rPr lang="en-US" i="1" dirty="0"/>
              <a:t>E</a:t>
            </a:r>
            <a:r>
              <a:rPr lang="en-US" dirty="0"/>
              <a:t>}, {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G</a:t>
            </a:r>
            <a:r>
              <a:rPr lang="en-US" dirty="0"/>
              <a:t>}, {</a:t>
            </a:r>
            <a:r>
              <a:rPr lang="en-US" i="1" dirty="0"/>
              <a:t>E</a:t>
            </a:r>
            <a:r>
              <a:rPr lang="en-US" dirty="0"/>
              <a:t>, </a:t>
            </a:r>
            <a:r>
              <a:rPr lang="en-US" i="1" dirty="0"/>
              <a:t>F</a:t>
            </a:r>
            <a:r>
              <a:rPr lang="en-US" dirty="0"/>
              <a:t>}, {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H</a:t>
            </a:r>
            <a:r>
              <a:rPr lang="en-US" dirty="0"/>
              <a:t>}, {</a:t>
            </a:r>
            <a:r>
              <a:rPr lang="en-US" i="1" dirty="0"/>
              <a:t>F</a:t>
            </a:r>
            <a:r>
              <a:rPr lang="en-US" dirty="0"/>
              <a:t>, </a:t>
            </a:r>
            <a:r>
              <a:rPr lang="en-US" i="1" dirty="0"/>
              <a:t>D</a:t>
            </a:r>
            <a:r>
              <a:rPr lang="en-US" dirty="0"/>
              <a:t>}}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the usual practice to also denote the number of vertices in the graph as </a:t>
            </a:r>
            <a:r>
              <a:rPr lang="en-US" i="1" dirty="0"/>
              <a:t>V </a:t>
            </a:r>
            <a:r>
              <a:rPr lang="en-US" dirty="0"/>
              <a:t>and the number of edges as </a:t>
            </a:r>
            <a:r>
              <a:rPr lang="en-US" i="1" dirty="0"/>
              <a:t>E</a:t>
            </a:r>
            <a:r>
              <a:rPr lang="en-US" dirty="0"/>
              <a:t>.</a:t>
            </a:r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0E34DD-5717-7F97-EAE3-B43F3F0A9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7" y="5944616"/>
            <a:ext cx="6981825" cy="352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0D86579-10BC-2DF3-6F40-A264B89D1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391" y="862004"/>
            <a:ext cx="3570418" cy="3050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53687B-1A3D-08FA-7A0D-7C61A0368A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391" y="3894698"/>
            <a:ext cx="3570418" cy="296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4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38992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i="1" dirty="0"/>
              <a:t>tree </a:t>
            </a:r>
            <a:r>
              <a:rPr lang="en-US" dirty="0"/>
              <a:t>is a connected acyclic graph.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i="1" dirty="0"/>
              <a:t>spanning tree </a:t>
            </a:r>
            <a:r>
              <a:rPr lang="en-US" dirty="0"/>
              <a:t>of a graph </a:t>
            </a:r>
            <a:r>
              <a:rPr lang="en-US" i="1" dirty="0"/>
              <a:t>G </a:t>
            </a:r>
            <a:r>
              <a:rPr lang="en-US" dirty="0"/>
              <a:t>is a subgraph that (1) is a tree and (2) contains every vertex in </a:t>
            </a:r>
            <a:r>
              <a:rPr lang="en-US" i="1" dirty="0"/>
              <a:t>V</a:t>
            </a:r>
            <a:r>
              <a:rPr lang="en-US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Note that a graph </a:t>
            </a:r>
            <a:r>
              <a:rPr lang="en-US" i="1" dirty="0"/>
              <a:t>G </a:t>
            </a:r>
            <a:r>
              <a:rPr lang="en-US" dirty="0"/>
              <a:t>will have a spanning tree if and only if it is connected.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i="1" dirty="0"/>
              <a:t>minimum spanning tree </a:t>
            </a:r>
            <a:r>
              <a:rPr lang="en-US" dirty="0"/>
              <a:t>of a graph </a:t>
            </a:r>
            <a:r>
              <a:rPr lang="en-US" i="1" dirty="0"/>
              <a:t>G </a:t>
            </a:r>
            <a:r>
              <a:rPr lang="en-US" dirty="0"/>
              <a:t>is the spanning tree </a:t>
            </a:r>
            <a:r>
              <a:rPr lang="en-US" i="1" dirty="0"/>
              <a:t>T </a:t>
            </a:r>
            <a:r>
              <a:rPr lang="en-US" dirty="0"/>
              <a:t>that minimizes: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BF138-F76E-B192-497E-097870758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133" y="3577761"/>
            <a:ext cx="2400058" cy="93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23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55606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0" algn="ctr">
              <a:spcAft>
                <a:spcPts val="1800"/>
              </a:spcAft>
              <a:buClr>
                <a:srgbClr val="0000FF"/>
              </a:buClr>
              <a:buSzPct val="85000"/>
              <a:defRPr/>
            </a:pPr>
            <a:r>
              <a:rPr lang="en-US" sz="4000" b="1" dirty="0"/>
              <a:t>Two Algorithms</a:t>
            </a:r>
          </a:p>
          <a:p>
            <a:pPr lvl="0" algn="ctr">
              <a:spcAft>
                <a:spcPts val="1800"/>
              </a:spcAft>
              <a:buClr>
                <a:srgbClr val="0000FF"/>
              </a:buClr>
              <a:buSzPct val="85000"/>
              <a:defRPr/>
            </a:pPr>
            <a:endParaRPr lang="en-US" sz="4000" b="1" dirty="0"/>
          </a:p>
          <a:p>
            <a:pPr marL="571500" lvl="0" indent="-571500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Prim: (build tree incrementally)</a:t>
            </a:r>
            <a:br>
              <a:rPr lang="en-US" sz="2800" dirty="0"/>
            </a:br>
            <a:r>
              <a:rPr lang="en-US" sz="2800" dirty="0"/>
              <a:t>Pick lower cost edge connected to known (incomplete) spanning tree that does not create a cycle and expand to include it in the tree</a:t>
            </a:r>
          </a:p>
          <a:p>
            <a:pPr marL="571500" lvl="0" indent="-571500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Kruskal: (build forest that will finish as a tree)</a:t>
            </a:r>
          </a:p>
          <a:p>
            <a:pPr marL="571500" lvl="0" indent="-571500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sz="3600" b="1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413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2">
            <a:extLst>
              <a:ext uri="{FF2B5EF4-FFF2-40B4-BE49-F238E27FC236}">
                <a16:creationId xmlns:a16="http://schemas.microsoft.com/office/drawing/2014/main" id="{CF83B5E5-5837-8F69-DC07-08289EED8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Prim’s algorithm</a:t>
            </a:r>
          </a:p>
        </p:txBody>
      </p:sp>
      <p:graphicFrame>
        <p:nvGraphicFramePr>
          <p:cNvPr id="207875" name="Object 3">
            <a:extLst>
              <a:ext uri="{FF2B5EF4-FFF2-40B4-BE49-F238E27FC236}">
                <a16:creationId xmlns:a16="http://schemas.microsoft.com/office/drawing/2014/main" id="{BDE31070-D184-2796-D80C-329A437D4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1752601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35520" imgH="4264200" progId="Visio.Drawing.6">
                  <p:embed/>
                </p:oleObj>
              </mc:Choice>
              <mc:Fallback>
                <p:oleObj name="VISIO" r:id="rId2" imgW="4835520" imgH="4264200" progId="Visio.Drawing.6">
                  <p:embed/>
                  <p:pic>
                    <p:nvPicPr>
                      <p:cNvPr id="207875" name="Object 3">
                        <a:extLst>
                          <a:ext uri="{FF2B5EF4-FFF2-40B4-BE49-F238E27FC236}">
                            <a16:creationId xmlns:a16="http://schemas.microsoft.com/office/drawing/2014/main" id="{BDE31070-D184-2796-D80C-329A437D4A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752601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7876" name="Text Box 4">
            <a:extLst>
              <a:ext uri="{FF2B5EF4-FFF2-40B4-BE49-F238E27FC236}">
                <a16:creationId xmlns:a16="http://schemas.microsoft.com/office/drawing/2014/main" id="{7E4F0CFB-E732-0761-7A27-70EDFEC32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2133601"/>
            <a:ext cx="2936875" cy="1593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Starting from empty T, choose a vertex at random and initialize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V = {1), E’ ={}</a:t>
            </a:r>
          </a:p>
        </p:txBody>
      </p:sp>
      <p:sp>
        <p:nvSpPr>
          <p:cNvPr id="207877" name="Line 5">
            <a:extLst>
              <a:ext uri="{FF2B5EF4-FFF2-40B4-BE49-F238E27FC236}">
                <a16:creationId xmlns:a16="http://schemas.microsoft.com/office/drawing/2014/main" id="{892090A8-5BB2-A26F-525C-F0E4B31DB3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5962" y="1981200"/>
            <a:ext cx="2667000" cy="7620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>
            <a:extLst>
              <a:ext uri="{FF2B5EF4-FFF2-40B4-BE49-F238E27FC236}">
                <a16:creationId xmlns:a16="http://schemas.microsoft.com/office/drawing/2014/main" id="{14CBDF70-8CD0-20F6-D6D1-79F08291D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Prim’s algorithm</a:t>
            </a:r>
          </a:p>
        </p:txBody>
      </p:sp>
      <p:graphicFrame>
        <p:nvGraphicFramePr>
          <p:cNvPr id="208899" name="Object 3">
            <a:extLst>
              <a:ext uri="{FF2B5EF4-FFF2-40B4-BE49-F238E27FC236}">
                <a16:creationId xmlns:a16="http://schemas.microsoft.com/office/drawing/2014/main" id="{CA65B2F2-B38C-FFCB-BDC6-340663FB9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1752601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35520" imgH="4264200" progId="Visio.Drawing.6">
                  <p:embed/>
                </p:oleObj>
              </mc:Choice>
              <mc:Fallback>
                <p:oleObj name="VISIO" r:id="rId2" imgW="4835520" imgH="4264200" progId="Visio.Drawing.6">
                  <p:embed/>
                  <p:pic>
                    <p:nvPicPr>
                      <p:cNvPr id="208899" name="Object 3">
                        <a:extLst>
                          <a:ext uri="{FF2B5EF4-FFF2-40B4-BE49-F238E27FC236}">
                            <a16:creationId xmlns:a16="http://schemas.microsoft.com/office/drawing/2014/main" id="{CA65B2F2-B38C-FFCB-BDC6-340663FB9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752601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8900" name="Text Box 4">
            <a:extLst>
              <a:ext uri="{FF2B5EF4-FFF2-40B4-BE49-F238E27FC236}">
                <a16:creationId xmlns:a16="http://schemas.microsoft.com/office/drawing/2014/main" id="{447D2AFB-C4F2-4DB2-DFCA-36543D1A6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2" y="2133601"/>
            <a:ext cx="3276600" cy="1926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Choose the vertex </a:t>
            </a:r>
            <a:r>
              <a:rPr lang="en-US" altLang="en-US" dirty="0">
                <a:solidFill>
                  <a:srgbClr val="CC0000"/>
                </a:solidFill>
              </a:rPr>
              <a:t>u</a:t>
            </a:r>
            <a:r>
              <a:rPr lang="en-US" altLang="en-US" dirty="0"/>
              <a:t> not in </a:t>
            </a:r>
            <a:r>
              <a:rPr lang="en-US" altLang="en-US" dirty="0">
                <a:solidFill>
                  <a:schemeClr val="accent2"/>
                </a:solidFill>
              </a:rPr>
              <a:t>V</a:t>
            </a:r>
            <a:r>
              <a:rPr lang="en-US" altLang="en-US" dirty="0"/>
              <a:t> such that edge weight from </a:t>
            </a:r>
            <a:r>
              <a:rPr lang="en-US" altLang="en-US" dirty="0">
                <a:solidFill>
                  <a:srgbClr val="CC0000"/>
                </a:solidFill>
              </a:rPr>
              <a:t>u</a:t>
            </a:r>
            <a:r>
              <a:rPr lang="en-US" altLang="en-US" dirty="0"/>
              <a:t> to a vertex in </a:t>
            </a:r>
            <a:r>
              <a:rPr lang="en-US" altLang="en-US" dirty="0">
                <a:solidFill>
                  <a:schemeClr val="accent2"/>
                </a:solidFill>
              </a:rPr>
              <a:t>V</a:t>
            </a:r>
            <a:r>
              <a:rPr lang="en-US" altLang="en-US" dirty="0"/>
              <a:t> is minimal</a:t>
            </a:r>
            <a:endParaRPr lang="en-US" altLang="en-US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V={1,3} E’= {(1,3) } </a:t>
            </a:r>
          </a:p>
        </p:txBody>
      </p:sp>
      <p:sp>
        <p:nvSpPr>
          <p:cNvPr id="208903" name="Line 7">
            <a:extLst>
              <a:ext uri="{FF2B5EF4-FFF2-40B4-BE49-F238E27FC236}">
                <a16:creationId xmlns:a16="http://schemas.microsoft.com/office/drawing/2014/main" id="{2B40A738-963B-F1AE-B0C9-6B5E2C333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7" y="2438401"/>
            <a:ext cx="0" cy="10064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>
            <a:extLst>
              <a:ext uri="{FF2B5EF4-FFF2-40B4-BE49-F238E27FC236}">
                <a16:creationId xmlns:a16="http://schemas.microsoft.com/office/drawing/2014/main" id="{66A0FCA9-4A83-F074-EB94-FD646981B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Prim’s algorithm</a:t>
            </a:r>
          </a:p>
        </p:txBody>
      </p:sp>
      <p:graphicFrame>
        <p:nvGraphicFramePr>
          <p:cNvPr id="209923" name="Object 3">
            <a:extLst>
              <a:ext uri="{FF2B5EF4-FFF2-40B4-BE49-F238E27FC236}">
                <a16:creationId xmlns:a16="http://schemas.microsoft.com/office/drawing/2014/main" id="{23FEFEA9-DFA7-4093-E0F2-25BCAE8936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1752601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35520" imgH="4264200" progId="Visio.Drawing.6">
                  <p:embed/>
                </p:oleObj>
              </mc:Choice>
              <mc:Fallback>
                <p:oleObj name="VISIO" r:id="rId2" imgW="4835520" imgH="4264200" progId="Visio.Drawing.6">
                  <p:embed/>
                  <p:pic>
                    <p:nvPicPr>
                      <p:cNvPr id="209923" name="Object 3">
                        <a:extLst>
                          <a:ext uri="{FF2B5EF4-FFF2-40B4-BE49-F238E27FC236}">
                            <a16:creationId xmlns:a16="http://schemas.microsoft.com/office/drawing/2014/main" id="{23FEFEA9-DFA7-4093-E0F2-25BCAE8936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752601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9924" name="Text Box 4">
            <a:extLst>
              <a:ext uri="{FF2B5EF4-FFF2-40B4-BE49-F238E27FC236}">
                <a16:creationId xmlns:a16="http://schemas.microsoft.com/office/drawing/2014/main" id="{9E8CC451-EC0B-4075-B6AD-58B7DC860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2" y="1752601"/>
            <a:ext cx="3962400" cy="4427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Repeat  until all vertices have been chosen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Choose the vertex </a:t>
            </a:r>
            <a:r>
              <a:rPr lang="en-US" altLang="en-US" dirty="0">
                <a:solidFill>
                  <a:srgbClr val="CC0000"/>
                </a:solidFill>
              </a:rPr>
              <a:t>u</a:t>
            </a:r>
            <a:r>
              <a:rPr lang="en-US" altLang="en-US" dirty="0"/>
              <a:t> not in </a:t>
            </a:r>
            <a:r>
              <a:rPr lang="en-US" altLang="en-US" dirty="0">
                <a:solidFill>
                  <a:schemeClr val="accent2"/>
                </a:solidFill>
              </a:rPr>
              <a:t>V</a:t>
            </a:r>
            <a:r>
              <a:rPr lang="en-US" altLang="en-US" dirty="0"/>
              <a:t> such that edge weight from v to a vertex in V is minimal</a:t>
            </a:r>
            <a:endParaRPr lang="en-US" altLang="en-US" dirty="0">
              <a:solidFill>
                <a:schemeClr val="accent2"/>
              </a:solidFill>
            </a:endParaRP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V= {1,3,4} E’= {(1,3),(3,4)}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V={1,3,4,5} E’={(1,3),(3,4),(4,5)}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….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V={1,3,4,5,2,6}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E’={(1,3),(3,4),(4,5),(5,2),(2,6)}</a:t>
            </a:r>
          </a:p>
        </p:txBody>
      </p:sp>
      <p:sp>
        <p:nvSpPr>
          <p:cNvPr id="209925" name="Line 5">
            <a:extLst>
              <a:ext uri="{FF2B5EF4-FFF2-40B4-BE49-F238E27FC236}">
                <a16:creationId xmlns:a16="http://schemas.microsoft.com/office/drawing/2014/main" id="{9B875046-09AF-73C7-0634-9CA90CBE6F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7" y="2438401"/>
            <a:ext cx="0" cy="10064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9926" name="Line 6">
            <a:extLst>
              <a:ext uri="{FF2B5EF4-FFF2-40B4-BE49-F238E27FC236}">
                <a16:creationId xmlns:a16="http://schemas.microsoft.com/office/drawing/2014/main" id="{929777A3-A6AE-1361-48DE-1B0362CC9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2" y="3733800"/>
            <a:ext cx="13716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>
            <a:extLst>
              <a:ext uri="{FF2B5EF4-FFF2-40B4-BE49-F238E27FC236}">
                <a16:creationId xmlns:a16="http://schemas.microsoft.com/office/drawing/2014/main" id="{C22414EE-0AD1-E8F4-C4CD-E6CDCBB2F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C0000"/>
                </a:solidFill>
              </a:rPr>
              <a:t>Prim’s algorithm</a:t>
            </a:r>
          </a:p>
        </p:txBody>
      </p:sp>
      <p:graphicFrame>
        <p:nvGraphicFramePr>
          <p:cNvPr id="210947" name="Object 3">
            <a:extLst>
              <a:ext uri="{FF2B5EF4-FFF2-40B4-BE49-F238E27FC236}">
                <a16:creationId xmlns:a16="http://schemas.microsoft.com/office/drawing/2014/main" id="{E75AD9AE-1DA6-2E1C-B029-8543C79CEB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76838" y="1752601"/>
          <a:ext cx="4835525" cy="426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4835520" imgH="4264200" progId="Visio.Drawing.6">
                  <p:embed/>
                </p:oleObj>
              </mc:Choice>
              <mc:Fallback>
                <p:oleObj name="VISIO" r:id="rId2" imgW="4835520" imgH="4264200" progId="Visio.Drawing.6">
                  <p:embed/>
                  <p:pic>
                    <p:nvPicPr>
                      <p:cNvPr id="210947" name="Object 3">
                        <a:extLst>
                          <a:ext uri="{FF2B5EF4-FFF2-40B4-BE49-F238E27FC236}">
                            <a16:creationId xmlns:a16="http://schemas.microsoft.com/office/drawing/2014/main" id="{E75AD9AE-1DA6-2E1C-B029-8543C79CEB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752601"/>
                        <a:ext cx="4835525" cy="426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0948" name="Text Box 4">
            <a:extLst>
              <a:ext uri="{FF2B5EF4-FFF2-40B4-BE49-F238E27FC236}">
                <a16:creationId xmlns:a16="http://schemas.microsoft.com/office/drawing/2014/main" id="{2C52A4D7-118F-357C-FA68-F3CCF564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4162" y="1752601"/>
            <a:ext cx="3962400" cy="2260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Repeat  until all vertices have been chosen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V={1,3,4,5,2,6}</a:t>
            </a:r>
          </a:p>
          <a:p>
            <a:pPr>
              <a:spcBef>
                <a:spcPct val="50000"/>
              </a:spcBef>
            </a:pPr>
            <a:r>
              <a:rPr lang="en-US" altLang="en-US" dirty="0">
                <a:solidFill>
                  <a:schemeClr val="accent2"/>
                </a:solidFill>
              </a:rPr>
              <a:t>E’={(1,3),(3,4),(4,5),(5,2),(2,6)} </a:t>
            </a:r>
          </a:p>
          <a:p>
            <a:pPr>
              <a:spcBef>
                <a:spcPct val="50000"/>
              </a:spcBef>
            </a:pPr>
            <a:endParaRPr lang="en-US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E03666-A121-4EAD-9864-E75AE359233D}"/>
              </a:ext>
            </a:extLst>
          </p:cNvPr>
          <p:cNvSpPr txBox="1"/>
          <p:nvPr/>
        </p:nvSpPr>
        <p:spPr>
          <a:xfrm>
            <a:off x="182880" y="1005840"/>
            <a:ext cx="11868580" cy="63101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dirty="0"/>
              <a:t>Remove the edges from MST graph from largest to smallest repeatedly:</a:t>
            </a:r>
          </a:p>
          <a:p>
            <a:pPr marL="45720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r>
              <a:rPr lang="en-US" dirty="0"/>
              <a:t>All the items are in one cluster </a:t>
            </a:r>
            <a:r>
              <a:rPr lang="en-US" altLang="en-US" dirty="0">
                <a:solidFill>
                  <a:schemeClr val="accent2"/>
                </a:solidFill>
              </a:rPr>
              <a:t>{1,3,4,5,2,6}.</a:t>
            </a: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r>
              <a:rPr lang="en-US" dirty="0"/>
              <a:t>Largest edge is between 4 and 5. So remove it, we will get two clusters: {1, 3, 4}, and {2, 5, 6}.</a:t>
            </a: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r>
              <a:rPr lang="en-US" dirty="0"/>
              <a:t>Next, remove the edge between nodes  3 and 4, we will get three clusters: {1, 3}, {4}, and {2, 5, 6}.</a:t>
            </a: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r>
              <a:rPr lang="en-US" dirty="0"/>
              <a:t>Finally, remove the edges between 1 and 3, between 2 and 5, and between 2 and 6. We will get six clusters: {1}, {2}, {3}, {4}, {5}, and {6}.</a:t>
            </a: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+mj-lt"/>
              <a:buAutoNum type="arabicPeriod"/>
              <a:defRPr/>
            </a:pPr>
            <a:endParaRPr lang="en-US" dirty="0">
              <a:solidFill>
                <a:srgbClr val="FF0000"/>
              </a:solidFill>
            </a:endParaRP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NOTE: Every observation in the initial graph represents an observation in your dataset.</a:t>
            </a:r>
          </a:p>
          <a:p>
            <a:pPr marL="457200" lvl="0" indent="-4572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srgbClr val="FF0000"/>
                </a:solidFill>
              </a:rPr>
              <a:t>How can we estimate the weights between nodes in the graph?</a:t>
            </a:r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L="342900" lvl="0" indent="-342900" algn="just">
              <a:spcAft>
                <a:spcPts val="1800"/>
              </a:spcAft>
              <a:buClr>
                <a:srgbClr val="0000FF"/>
              </a:buClr>
              <a:buSzPct val="85000"/>
              <a:buFont typeface="Arial" panose="020B0604020202020204" pitchFamily="34" charset="0"/>
              <a:buChar char="•"/>
              <a:defRPr/>
            </a:pPr>
            <a:endParaRPr lang="en-US" dirty="0"/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10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58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Minimum Spanning Tree: Another Example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11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9C4E09-BC8D-363B-D779-6036665F0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5" y="2452687"/>
            <a:ext cx="10620375" cy="1952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614030-AB5B-4AF5-FA10-993FCDA4D236}"/>
              </a:ext>
            </a:extLst>
          </p:cNvPr>
          <p:cNvSpPr txBox="1"/>
          <p:nvPr/>
        </p:nvSpPr>
        <p:spPr>
          <a:xfrm>
            <a:off x="5301465" y="4405312"/>
            <a:ext cx="1962364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Distance Matrix</a:t>
            </a:r>
          </a:p>
        </p:txBody>
      </p:sp>
    </p:spTree>
    <p:extLst>
      <p:ext uri="{BB962C8B-B14F-4D97-AF65-F5344CB8AC3E}">
        <p14:creationId xmlns:p14="http://schemas.microsoft.com/office/powerpoint/2010/main" val="3651566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silhouette coefficient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4CD35-AAD7-E248-9E4C-2ED0A1724FC0}"/>
              </a:ext>
            </a:extLst>
          </p:cNvPr>
          <p:cNvSpPr txBox="1"/>
          <p:nvPr/>
        </p:nvSpPr>
        <p:spPr>
          <a:xfrm>
            <a:off x="220716" y="1049296"/>
            <a:ext cx="11830743" cy="242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silhouette coefficient is a metric used to evaluate the quality of clustering in data analysis. 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It measures how similar an object is to its own cluster (cohesion) compared to other clusters (separation). </a:t>
            </a:r>
          </a:p>
          <a:p>
            <a:endParaRPr lang="en-US" dirty="0">
              <a:solidFill>
                <a:srgbClr val="0D0D0D"/>
              </a:solidFill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The </a:t>
            </a:r>
            <a:r>
              <a:rPr lang="en-US" b="0" i="0" dirty="0">
                <a:solidFill>
                  <a:srgbClr val="FF0000"/>
                </a:solidFill>
                <a:effectLst/>
                <a:latin typeface="Söhne"/>
              </a:rPr>
              <a:t>overall silhouette coefficient 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is the average silhouette coefficient across all samples in the dataset.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FF6025-8ED9-CDFD-F992-92F930A6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265" y="3476051"/>
            <a:ext cx="4268414" cy="3183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466A5-EBB9-1D21-935A-847E4C338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62" y="4202788"/>
            <a:ext cx="4849100" cy="123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1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717" y="183822"/>
            <a:ext cx="11830743" cy="768731"/>
          </a:xfrm>
          <a:solidFill>
            <a:srgbClr val="C00000"/>
          </a:solidFill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4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silhouette coefficient</a:t>
            </a:r>
          </a:p>
        </p:txBody>
      </p:sp>
      <p:sp>
        <p:nvSpPr>
          <p:cNvPr id="6" name="Slide Number Placeholder 16">
            <a:extLst>
              <a:ext uri="{FF2B5EF4-FFF2-40B4-BE49-F238E27FC236}">
                <a16:creationId xmlns:a16="http://schemas.microsoft.com/office/drawing/2014/main" id="{0E3CAF41-AB8E-4AD6-9B4A-2218EEC87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545" y="6478432"/>
            <a:ext cx="463732" cy="365125"/>
          </a:xfrm>
        </p:spPr>
        <p:txBody>
          <a:bodyPr/>
          <a:lstStyle/>
          <a:p>
            <a:pPr algn="ctr"/>
            <a:fld id="{8D85F329-02EE-4F4A-8B74-A22642379FE5}" type="slidenum">
              <a:rPr lang="en-US" sz="168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13</a:t>
            </a:fld>
            <a:endParaRPr lang="en-US" sz="168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4CD35-AAD7-E248-9E4C-2ED0A1724FC0}"/>
              </a:ext>
            </a:extLst>
          </p:cNvPr>
          <p:cNvSpPr txBox="1"/>
          <p:nvPr/>
        </p:nvSpPr>
        <p:spPr>
          <a:xfrm>
            <a:off x="220716" y="1049296"/>
            <a:ext cx="11830743" cy="242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If an observation has a value close to 1, then the data point is closer to its own cluster than a neighboring one. </a:t>
            </a:r>
          </a:p>
          <a:p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If it has a silhouette width close to –1, then it is not very well-clustered.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D0D0D"/>
              </a:solidFill>
              <a:effectLst/>
              <a:latin typeface="Söhne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A silhouette width close to zero indicates that the observation could just as well belong to its current cluster or one that is near to it.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FF6025-8ED9-CDFD-F992-92F930A6B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265" y="3476051"/>
            <a:ext cx="4268414" cy="3183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4466A5-EBB9-1D21-935A-847E4C338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062" y="4202788"/>
            <a:ext cx="4849100" cy="123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577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bit">
      <a:maj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Candara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22684</TotalTime>
  <Words>865</Words>
  <Application>Microsoft Office PowerPoint</Application>
  <PresentationFormat>Custom</PresentationFormat>
  <Paragraphs>95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Candara</vt:lpstr>
      <vt:lpstr>Söhne</vt:lpstr>
      <vt:lpstr>Times New Roman</vt:lpstr>
      <vt:lpstr>Office Theme</vt:lpstr>
      <vt:lpstr>1_Office Theme</vt:lpstr>
      <vt:lpstr>VISIO</vt:lpstr>
      <vt:lpstr>PowerPoint Presentation</vt:lpstr>
      <vt:lpstr>Definitions</vt:lpstr>
      <vt:lpstr>Definitions</vt:lpstr>
      <vt:lpstr>Definitions</vt:lpstr>
      <vt:lpstr>Minimum Spanning Tree</vt:lpstr>
      <vt:lpstr>Prim’s algorithm</vt:lpstr>
      <vt:lpstr>Prim’s algorithm</vt:lpstr>
      <vt:lpstr>Prim’s algorithm</vt:lpstr>
      <vt:lpstr>Prim’s algorithm</vt:lpstr>
      <vt:lpstr>Minimum Spanning Tree Clustering</vt:lpstr>
      <vt:lpstr>Minimum Spanning Tree: Another Example</vt:lpstr>
      <vt:lpstr>The silhouette coefficient</vt:lpstr>
      <vt:lpstr>The silhouette coefficient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Shalaby</dc:creator>
  <cp:lastModifiedBy>Abdeltawab, Hisham</cp:lastModifiedBy>
  <cp:revision>947</cp:revision>
  <dcterms:created xsi:type="dcterms:W3CDTF">2018-12-20T16:44:09Z</dcterms:created>
  <dcterms:modified xsi:type="dcterms:W3CDTF">2024-03-16T12:20:53Z</dcterms:modified>
</cp:coreProperties>
</file>