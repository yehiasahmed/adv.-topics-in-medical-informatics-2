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20" r:id="rId2"/>
  </p:sldMasterIdLst>
  <p:notesMasterIdLst>
    <p:notesMasterId r:id="rId16"/>
  </p:notesMasterIdLst>
  <p:sldIdLst>
    <p:sldId id="287" r:id="rId3"/>
    <p:sldId id="1207" r:id="rId4"/>
    <p:sldId id="1235" r:id="rId5"/>
    <p:sldId id="1234" r:id="rId6"/>
    <p:sldId id="1214" r:id="rId7"/>
    <p:sldId id="1232" r:id="rId8"/>
    <p:sldId id="1233" r:id="rId9"/>
    <p:sldId id="1236" r:id="rId10"/>
    <p:sldId id="1215" r:id="rId11"/>
    <p:sldId id="1208" r:id="rId12"/>
    <p:sldId id="1201" r:id="rId13"/>
    <p:sldId id="1237" r:id="rId14"/>
    <p:sldId id="1238" r:id="rId15"/>
  </p:sldIdLst>
  <p:sldSz cx="12252325" cy="6858000"/>
  <p:notesSz cx="6858000" cy="9144000"/>
  <p:defaultTextStyle>
    <a:defPPr>
      <a:defRPr lang="en-US"/>
    </a:defPPr>
    <a:lvl1pPr marL="0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1pPr>
    <a:lvl2pPr marL="550377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2pPr>
    <a:lvl3pPr marL="1100755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3pPr>
    <a:lvl4pPr marL="1651132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4pPr>
    <a:lvl5pPr marL="2201509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5pPr>
    <a:lvl6pPr marL="2751887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6pPr>
    <a:lvl7pPr marL="3302264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7pPr>
    <a:lvl8pPr marL="3852642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8pPr>
    <a:lvl9pPr marL="4403019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Soliman" initials="AS" lastIdx="1" clrIdx="0">
    <p:extLst>
      <p:ext uri="{19B8F6BF-5375-455C-9EA6-DF929625EA0E}">
        <p15:presenceInfo xmlns:p15="http://schemas.microsoft.com/office/powerpoint/2012/main" userId="09d38502260558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99819"/>
    <a:srgbClr val="234CF9"/>
    <a:srgbClr val="836301"/>
    <a:srgbClr val="00B050"/>
    <a:srgbClr val="ED7D31"/>
    <a:srgbClr val="5CFFBD"/>
    <a:srgbClr val="FBF813"/>
    <a:srgbClr val="FA5522"/>
    <a:srgbClr val="038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5" autoAdjust="0"/>
    <p:restoredTop sz="81754" autoAdjust="0"/>
  </p:normalViewPr>
  <p:slideViewPr>
    <p:cSldViewPr snapToGrid="0">
      <p:cViewPr varScale="1">
        <p:scale>
          <a:sx n="93" d="100"/>
          <a:sy n="93" d="100"/>
        </p:scale>
        <p:origin x="1458" y="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72B91-F445-4E8B-8870-C6FC9857173E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3100" y="1143000"/>
            <a:ext cx="5511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E86F3-7DB4-448E-A420-6F309595F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6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1pPr>
    <a:lvl2pPr marL="429294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2pPr>
    <a:lvl3pPr marL="858589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3pPr>
    <a:lvl4pPr marL="1287883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4pPr>
    <a:lvl5pPr marL="1717177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5pPr>
    <a:lvl6pPr marL="2146472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6pPr>
    <a:lvl7pPr marL="2575766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7pPr>
    <a:lvl8pPr marL="3005060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8pPr>
    <a:lvl9pPr marL="3434355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Generally, AEs are special ANNs types that can be used for data encoding. How? This is done through the following two septs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in it simplest form It compresses it input data to a lower dimension space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Then try to use this compressed space (latent) or the lower dimension of the data to reconstruct the original data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XXXX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E86F3-7DB4-448E-A420-6F309595F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73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No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XXX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data is not random and it represent parts of the full dimension space of the input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has a structure and we do not need every part of the original space to represent our data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if we can understand this structure, we can easily represent it using small # of parameters i.e., compress it small fraction of the possible space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This is the job of the encoder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E86F3-7DB4-448E-A420-6F309595FB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3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Decoder: try to reverse the encoder. Try to get higher dimensional space from lower dimension space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This challenges because the </a:t>
            </a:r>
            <a:r>
              <a:rPr lang="en-US" dirty="0" err="1"/>
              <a:t>bottelneck</a:t>
            </a:r>
            <a:r>
              <a:rPr lang="en-US" dirty="0"/>
              <a:t> is …… which mean loss of information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We force both network parts to work together to find the most efficient way to condense the input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E86F3-7DB4-448E-A420-6F309595FB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0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Loss of information is necessary to avoid overfitting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Tricks are added </a:t>
            </a:r>
            <a:r>
              <a:rPr lang="en-US" b="0" i="0" dirty="0">
                <a:solidFill>
                  <a:srgbClr val="313B3F"/>
                </a:solidFill>
                <a:effectLst/>
                <a:latin typeface="Georgia" panose="02040502050405020303" pitchFamily="18" charset="0"/>
              </a:rPr>
              <a:t>discourages memorization/overfitting: </a:t>
            </a:r>
            <a:r>
              <a:rPr lang="en-US" dirty="0"/>
              <a:t>like adding noise to the input before suppling it to the encoder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E86F3-7DB4-448E-A420-6F309595F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08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8585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200" b="0" i="0" dirty="0">
                <a:solidFill>
                  <a:srgbClr val="051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 can be used with data features or with images. We have seen the U-net contains encoder decoder structure  BUT for a different task</a:t>
            </a:r>
          </a:p>
          <a:p>
            <a:pPr marL="171450" marR="0" lvl="0" indent="-171450" algn="l" defTabSz="8585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200" b="0" i="0" dirty="0">
                <a:solidFill>
                  <a:srgbClr val="051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200" dirty="0">
                <a:solidFill>
                  <a:srgbClr val="051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happens </a:t>
            </a:r>
            <a:r>
              <a:rPr lang="en-US" sz="1200" b="0" i="0" dirty="0">
                <a:solidFill>
                  <a:srgbClr val="051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the training process, our goal is to train a network that can learn how to </a:t>
            </a:r>
            <a:r>
              <a:rPr lang="en-US" sz="2000" b="0" i="0" dirty="0">
                <a:solidFill>
                  <a:srgbClr val="313B3F"/>
                </a:solidFill>
                <a:effectLst/>
                <a:latin typeface="Georgia" panose="02040502050405020303" pitchFamily="18" charset="0"/>
              </a:rPr>
              <a:t>latent attributes within our data</a:t>
            </a:r>
          </a:p>
          <a:p>
            <a:pPr marL="171450" marR="0" lvl="0" indent="-171450" algn="l" defTabSz="8585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200" b="0" i="0" dirty="0">
                <a:solidFill>
                  <a:srgbClr val="051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200" b="1" i="0" dirty="0">
                <a:solidFill>
                  <a:srgbClr val="051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value of the AE lives inside that latent-space representation.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E86F3-7DB4-448E-A420-6F309595FB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7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541" y="1122363"/>
            <a:ext cx="918924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1541" y="3602038"/>
            <a:ext cx="918924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C5C0-3EBD-4C67-94C9-062B6B455D56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4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40CC-D23A-4816-9476-98C28A8FDEDE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966" y="1709739"/>
            <a:ext cx="1056763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966" y="4589464"/>
            <a:ext cx="1056763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D6C3-F7D0-41B4-8C36-CA97B7FCECD7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1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2347" y="1825625"/>
            <a:ext cx="520723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740" y="1825625"/>
            <a:ext cx="520723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5977-0102-4C43-8064-0C25DE267142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8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3" y="365126"/>
            <a:ext cx="105676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44" y="1681163"/>
            <a:ext cx="518330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944" y="2505075"/>
            <a:ext cx="518330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2740" y="1681163"/>
            <a:ext cx="520883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2740" y="2505075"/>
            <a:ext cx="520883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E196-C092-400D-8274-F74585EF5922}" type="datetime1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93BC-4A23-4FFB-BB39-D83C6B8EAA36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0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C66D-2017-4B03-B646-CA6AEA5F9C11}" type="datetime1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457200"/>
            <a:ext cx="39516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834" y="987426"/>
            <a:ext cx="62027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2057400"/>
            <a:ext cx="39516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B16A-1B42-42CB-AB3F-C6902ACCB849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457200"/>
            <a:ext cx="39516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8834" y="987426"/>
            <a:ext cx="62027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2057400"/>
            <a:ext cx="39516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94-1EFC-4577-9D10-09E186F95933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9D85-ABD6-4BE2-9216-6393181C6C66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7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8070" y="365125"/>
            <a:ext cx="264190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2347" y="365125"/>
            <a:ext cx="777256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5A086-221F-4611-94DC-7FD28555DD5A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13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925" y="2130426"/>
            <a:ext cx="10414476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7849" y="3886200"/>
            <a:ext cx="857662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8443C-72BE-CF4B-ACE7-DD445CD666F8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5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625033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849" y="4406901"/>
            <a:ext cx="1041447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849" y="2906713"/>
            <a:ext cx="1041447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1FB-6672-D449-BF26-4C1DC7D36F2F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84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16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265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045929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16" y="1535113"/>
            <a:ext cx="54135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16" y="2174875"/>
            <a:ext cx="54135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4012" y="1535113"/>
            <a:ext cx="54156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24012" y="2174875"/>
            <a:ext cx="54156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2918-CC78-8D41-ABA1-1E8F61DC43D1}" type="datetime1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620031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747704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2599B-CF4E-4745-A1C4-0A1EAD1AE797}" type="datetime1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87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17" y="273050"/>
            <a:ext cx="40309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0319" y="273051"/>
            <a:ext cx="684939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17" y="1435101"/>
            <a:ext cx="40309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3415-B2F7-814D-AB88-C1D4F5212AB3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75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541" y="4800600"/>
            <a:ext cx="73513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541" y="612775"/>
            <a:ext cx="73513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1541" y="5367338"/>
            <a:ext cx="73513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B1A2-967F-EF46-A281-A64C8735F71A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69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EFC-DC2A-4140-AA88-6404FE9C25AF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86028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82936" y="274639"/>
            <a:ext cx="275677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616" y="274639"/>
            <a:ext cx="806611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37D0-81EC-E749-AA69-D8326DE4460C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45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16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265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218431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455856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8751425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902803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325459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258785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8078620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19080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1154952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19769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88044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747300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521379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6858693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443139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741412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414025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0361206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452626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0978612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86609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5842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3654298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37882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348" y="365126"/>
            <a:ext cx="105676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348" y="1825625"/>
            <a:ext cx="105676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2347" y="6356351"/>
            <a:ext cx="2756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38194-C996-4128-A7CA-F58921D4AB84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8583" y="6356351"/>
            <a:ext cx="4135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3205" y="6356351"/>
            <a:ext cx="2756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186211" cy="1417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7"/>
          </a:p>
        </p:txBody>
      </p:sp>
      <p:sp>
        <p:nvSpPr>
          <p:cNvPr id="10" name="Rectangle 9"/>
          <p:cNvSpPr/>
          <p:nvPr userDrawn="1"/>
        </p:nvSpPr>
        <p:spPr>
          <a:xfrm>
            <a:off x="4186211" y="0"/>
            <a:ext cx="8066114" cy="14176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7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6211" y="142836"/>
            <a:ext cx="74534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16" y="1600201"/>
            <a:ext cx="1102709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2616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39493-8D72-7745-A3DC-04B5A9850C8F}" type="datetime1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6211" y="6356351"/>
            <a:ext cx="38799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0833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56997-4F5F-5A42-B306-795126905A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22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8" r:id="rId31"/>
    <p:sldLayoutId id="2147483759" r:id="rId32"/>
    <p:sldLayoutId id="2147483760" r:id="rId33"/>
    <p:sldLayoutId id="2147483761" r:id="rId34"/>
    <p:sldLayoutId id="2147483762" r:id="rId3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0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42298239_Comparison_between_Statistical_Models_and_Machine_Learning_Methods_on_Classification_for_Highly_Imbalanced_Multiclass_Kidney_Data/figures?lo=1&amp;utm_source=google&amp;utm_medium=organic" TargetMode="External"/><Relationship Id="rId5" Type="http://schemas.openxmlformats.org/officeDocument/2006/relationships/hyperlink" Target="https://www.analyticsvidhya.com/blog/2021/01/auto-encoders-for-computer-vision-an-endless-world-of-possibilities/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helloml.org/applications-of-autoencode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58644" y="821686"/>
            <a:ext cx="11698224" cy="5865912"/>
          </a:xfrm>
          <a:custGeom>
            <a:avLst/>
            <a:gdLst>
              <a:gd name="connsiteX0" fmla="*/ 0 w 9804400"/>
              <a:gd name="connsiteY0" fmla="*/ 102022 h 3310246"/>
              <a:gd name="connsiteX1" fmla="*/ 102022 w 9804400"/>
              <a:gd name="connsiteY1" fmla="*/ 0 h 3310246"/>
              <a:gd name="connsiteX2" fmla="*/ 9702378 w 9804400"/>
              <a:gd name="connsiteY2" fmla="*/ 0 h 3310246"/>
              <a:gd name="connsiteX3" fmla="*/ 9804400 w 9804400"/>
              <a:gd name="connsiteY3" fmla="*/ 102022 h 3310246"/>
              <a:gd name="connsiteX4" fmla="*/ 9804400 w 9804400"/>
              <a:gd name="connsiteY4" fmla="*/ 3208224 h 3310246"/>
              <a:gd name="connsiteX5" fmla="*/ 9702378 w 9804400"/>
              <a:gd name="connsiteY5" fmla="*/ 3310246 h 3310246"/>
              <a:gd name="connsiteX6" fmla="*/ 102022 w 9804400"/>
              <a:gd name="connsiteY6" fmla="*/ 3310246 h 3310246"/>
              <a:gd name="connsiteX7" fmla="*/ 0 w 9804400"/>
              <a:gd name="connsiteY7" fmla="*/ 3208224 h 3310246"/>
              <a:gd name="connsiteX8" fmla="*/ 0 w 9804400"/>
              <a:gd name="connsiteY8" fmla="*/ 102022 h 3310246"/>
              <a:gd name="connsiteX0" fmla="*/ 0 w 9804400"/>
              <a:gd name="connsiteY0" fmla="*/ 102022 h 3872265"/>
              <a:gd name="connsiteX1" fmla="*/ 102022 w 9804400"/>
              <a:gd name="connsiteY1" fmla="*/ 0 h 3872265"/>
              <a:gd name="connsiteX2" fmla="*/ 9702378 w 9804400"/>
              <a:gd name="connsiteY2" fmla="*/ 0 h 3872265"/>
              <a:gd name="connsiteX3" fmla="*/ 9804400 w 9804400"/>
              <a:gd name="connsiteY3" fmla="*/ 102022 h 3872265"/>
              <a:gd name="connsiteX4" fmla="*/ 9804400 w 9804400"/>
              <a:gd name="connsiteY4" fmla="*/ 3208224 h 3872265"/>
              <a:gd name="connsiteX5" fmla="*/ 9702378 w 9804400"/>
              <a:gd name="connsiteY5" fmla="*/ 3310246 h 3872265"/>
              <a:gd name="connsiteX6" fmla="*/ 4754880 w 9804400"/>
              <a:gd name="connsiteY6" fmla="*/ 3872258 h 3872265"/>
              <a:gd name="connsiteX7" fmla="*/ 102022 w 9804400"/>
              <a:gd name="connsiteY7" fmla="*/ 3310246 h 3872265"/>
              <a:gd name="connsiteX8" fmla="*/ 0 w 9804400"/>
              <a:gd name="connsiteY8" fmla="*/ 3208224 h 3872265"/>
              <a:gd name="connsiteX9" fmla="*/ 0 w 9804400"/>
              <a:gd name="connsiteY9" fmla="*/ 102022 h 3872265"/>
              <a:gd name="connsiteX0" fmla="*/ 0 w 9804400"/>
              <a:gd name="connsiteY0" fmla="*/ 102022 h 4878100"/>
              <a:gd name="connsiteX1" fmla="*/ 102022 w 9804400"/>
              <a:gd name="connsiteY1" fmla="*/ 0 h 4878100"/>
              <a:gd name="connsiteX2" fmla="*/ 9702378 w 9804400"/>
              <a:gd name="connsiteY2" fmla="*/ 0 h 4878100"/>
              <a:gd name="connsiteX3" fmla="*/ 9804400 w 9804400"/>
              <a:gd name="connsiteY3" fmla="*/ 102022 h 4878100"/>
              <a:gd name="connsiteX4" fmla="*/ 9804400 w 9804400"/>
              <a:gd name="connsiteY4" fmla="*/ 3208224 h 4878100"/>
              <a:gd name="connsiteX5" fmla="*/ 9702378 w 9804400"/>
              <a:gd name="connsiteY5" fmla="*/ 3310246 h 4878100"/>
              <a:gd name="connsiteX6" fmla="*/ 4754880 w 9804400"/>
              <a:gd name="connsiteY6" fmla="*/ 4878098 h 4878100"/>
              <a:gd name="connsiteX7" fmla="*/ 102022 w 9804400"/>
              <a:gd name="connsiteY7" fmla="*/ 3310246 h 4878100"/>
              <a:gd name="connsiteX8" fmla="*/ 0 w 9804400"/>
              <a:gd name="connsiteY8" fmla="*/ 3208224 h 4878100"/>
              <a:gd name="connsiteX9" fmla="*/ 0 w 9804400"/>
              <a:gd name="connsiteY9" fmla="*/ 102022 h 4878100"/>
              <a:gd name="connsiteX0" fmla="*/ 0 w 9804400"/>
              <a:gd name="connsiteY0" fmla="*/ 102022 h 4888260"/>
              <a:gd name="connsiteX1" fmla="*/ 102022 w 9804400"/>
              <a:gd name="connsiteY1" fmla="*/ 0 h 4888260"/>
              <a:gd name="connsiteX2" fmla="*/ 9702378 w 9804400"/>
              <a:gd name="connsiteY2" fmla="*/ 0 h 4888260"/>
              <a:gd name="connsiteX3" fmla="*/ 9804400 w 9804400"/>
              <a:gd name="connsiteY3" fmla="*/ 102022 h 4888260"/>
              <a:gd name="connsiteX4" fmla="*/ 9804400 w 9804400"/>
              <a:gd name="connsiteY4" fmla="*/ 3208224 h 4888260"/>
              <a:gd name="connsiteX5" fmla="*/ 9702378 w 9804400"/>
              <a:gd name="connsiteY5" fmla="*/ 3310246 h 4888260"/>
              <a:gd name="connsiteX6" fmla="*/ 5040991 w 9804400"/>
              <a:gd name="connsiteY6" fmla="*/ 4888258 h 4888260"/>
              <a:gd name="connsiteX7" fmla="*/ 102022 w 9804400"/>
              <a:gd name="connsiteY7" fmla="*/ 3310246 h 4888260"/>
              <a:gd name="connsiteX8" fmla="*/ 0 w 9804400"/>
              <a:gd name="connsiteY8" fmla="*/ 3208224 h 4888260"/>
              <a:gd name="connsiteX9" fmla="*/ 0 w 9804400"/>
              <a:gd name="connsiteY9" fmla="*/ 102022 h 4888260"/>
              <a:gd name="connsiteX0" fmla="*/ 0 w 9804400"/>
              <a:gd name="connsiteY0" fmla="*/ 102022 h 4888260"/>
              <a:gd name="connsiteX1" fmla="*/ 102022 w 9804400"/>
              <a:gd name="connsiteY1" fmla="*/ 0 h 4888260"/>
              <a:gd name="connsiteX2" fmla="*/ 9702378 w 9804400"/>
              <a:gd name="connsiteY2" fmla="*/ 0 h 4888260"/>
              <a:gd name="connsiteX3" fmla="*/ 9804400 w 9804400"/>
              <a:gd name="connsiteY3" fmla="*/ 102022 h 4888260"/>
              <a:gd name="connsiteX4" fmla="*/ 9804400 w 9804400"/>
              <a:gd name="connsiteY4" fmla="*/ 3208224 h 4888260"/>
              <a:gd name="connsiteX5" fmla="*/ 9702378 w 9804400"/>
              <a:gd name="connsiteY5" fmla="*/ 3310246 h 4888260"/>
              <a:gd name="connsiteX6" fmla="*/ 5010336 w 9804400"/>
              <a:gd name="connsiteY6" fmla="*/ 4888258 h 4888260"/>
              <a:gd name="connsiteX7" fmla="*/ 102022 w 9804400"/>
              <a:gd name="connsiteY7" fmla="*/ 3310246 h 4888260"/>
              <a:gd name="connsiteX8" fmla="*/ 0 w 9804400"/>
              <a:gd name="connsiteY8" fmla="*/ 3208224 h 4888260"/>
              <a:gd name="connsiteX9" fmla="*/ 0 w 9804400"/>
              <a:gd name="connsiteY9" fmla="*/ 102022 h 488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04400" h="4888260">
                <a:moveTo>
                  <a:pt x="0" y="102022"/>
                </a:moveTo>
                <a:cubicBezTo>
                  <a:pt x="0" y="45677"/>
                  <a:pt x="45677" y="0"/>
                  <a:pt x="102022" y="0"/>
                </a:cubicBezTo>
                <a:lnTo>
                  <a:pt x="9702378" y="0"/>
                </a:lnTo>
                <a:cubicBezTo>
                  <a:pt x="9758723" y="0"/>
                  <a:pt x="9804400" y="45677"/>
                  <a:pt x="9804400" y="102022"/>
                </a:cubicBezTo>
                <a:lnTo>
                  <a:pt x="9804400" y="3208224"/>
                </a:lnTo>
                <a:cubicBezTo>
                  <a:pt x="9804400" y="3264569"/>
                  <a:pt x="9758723" y="3310246"/>
                  <a:pt x="9702378" y="3310246"/>
                </a:cubicBezTo>
                <a:cubicBezTo>
                  <a:pt x="8090465" y="3307930"/>
                  <a:pt x="6622249" y="4890574"/>
                  <a:pt x="5010336" y="4888258"/>
                </a:cubicBezTo>
                <a:cubicBezTo>
                  <a:pt x="3422130" y="4890574"/>
                  <a:pt x="1690228" y="3307930"/>
                  <a:pt x="102022" y="3310246"/>
                </a:cubicBezTo>
                <a:cubicBezTo>
                  <a:pt x="45677" y="3310246"/>
                  <a:pt x="0" y="3264569"/>
                  <a:pt x="0" y="3208224"/>
                </a:cubicBezTo>
                <a:lnTo>
                  <a:pt x="0" y="102022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#5: Autoencoder for Dimensionality Reduction</a:t>
            </a:r>
          </a:p>
          <a:p>
            <a:pPr algn="ctr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Hisham Abdeltawab, Ph.D.</a:t>
            </a: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Cairo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26958" r="26155"/>
          <a:stretch/>
        </p:blipFill>
        <p:spPr>
          <a:xfrm>
            <a:off x="-1" y="-1"/>
            <a:ext cx="12252325" cy="1640017"/>
          </a:xfrm>
          <a:prstGeom prst="rect">
            <a:avLst/>
          </a:prstGeom>
          <a:noFill/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836425" y="158688"/>
            <a:ext cx="10542662" cy="1481328"/>
          </a:xfrm>
          <a:prstGeom prst="rect">
            <a:avLst/>
          </a:prstGeom>
        </p:spPr>
        <p:txBody>
          <a:bodyPr vert="horz" lIns="82296" tIns="41148" rIns="82296" bIns="41148" rtlCol="0">
            <a:noAutofit/>
          </a:bodyPr>
          <a:lstStyle/>
          <a:p>
            <a:pPr algn="ctr" defTabSz="822960">
              <a:lnSpc>
                <a:spcPct val="85000"/>
              </a:lnSpc>
              <a:defRPr/>
            </a:pP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373871" y="3733438"/>
            <a:ext cx="5467770" cy="1434238"/>
          </a:xfrm>
          <a:prstGeom prst="rect">
            <a:avLst/>
          </a:prstGeom>
        </p:spPr>
        <p:txBody>
          <a:bodyPr vert="horz" lIns="82296" tIns="41148" rIns="82296" bIns="41148" rtlCol="0">
            <a:noAutofit/>
          </a:bodyPr>
          <a:lstStyle/>
          <a:p>
            <a:pPr algn="ctr"/>
            <a:endParaRPr lang="en-US" sz="1680" b="1" dirty="0">
              <a:solidFill>
                <a:srgbClr val="234C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41962-6C2B-4A72-E34D-C64FCD448361}"/>
              </a:ext>
            </a:extLst>
          </p:cNvPr>
          <p:cNvSpPr txBox="1"/>
          <p:nvPr/>
        </p:nvSpPr>
        <p:spPr>
          <a:xfrm>
            <a:off x="443059" y="67493"/>
            <a:ext cx="11366204" cy="150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2960">
              <a:lnSpc>
                <a:spcPct val="85000"/>
              </a:lnSpc>
              <a:defRPr/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SBE 4032: Advanced Topics in Medical Informatics (2)</a:t>
            </a:r>
          </a:p>
          <a:p>
            <a:pPr algn="ctr" defTabSz="822960">
              <a:lnSpc>
                <a:spcPct val="85000"/>
              </a:lnSpc>
              <a:defRPr/>
            </a:pP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822960">
              <a:lnSpc>
                <a:spcPct val="85000"/>
              </a:lnSpc>
              <a:defRPr/>
            </a:pPr>
            <a:r>
              <a:rPr lang="ar-EG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موضوعات متقدمة في المعلوماتية الطبية (2)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 algn="just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Autoencoders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are types of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that are used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data encodings and thus provide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unsupervised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learning</a:t>
            </a: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specific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to capture the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parts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input data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hand-crafted features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Slide Number Placeholder 16">
            <a:extLst>
              <a:ext uri="{FF2B5EF4-FFF2-40B4-BE49-F238E27FC236}">
                <a16:creationId xmlns:a16="http://schemas.microsoft.com/office/drawing/2014/main" id="{2082B10F-3F9C-4BFF-8F9A-861E47ED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120A5-1EB9-49CD-B612-ED45A28F55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41" t="29060" r="46961" b="36581"/>
          <a:stretch/>
        </p:blipFill>
        <p:spPr>
          <a:xfrm>
            <a:off x="4729200" y="2990713"/>
            <a:ext cx="3212123" cy="2356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49BD7A-9EEA-4D89-BC5B-C3A3A12F55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844" t="29231" r="46858" b="36410"/>
          <a:stretch/>
        </p:blipFill>
        <p:spPr>
          <a:xfrm>
            <a:off x="4738621" y="3000140"/>
            <a:ext cx="3212124" cy="235633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49B22E-666E-4D5A-8548-1E8D7644604B}"/>
              </a:ext>
            </a:extLst>
          </p:cNvPr>
          <p:cNvCxnSpPr>
            <a:cxnSpLocks/>
          </p:cNvCxnSpPr>
          <p:nvPr/>
        </p:nvCxnSpPr>
        <p:spPr>
          <a:xfrm flipV="1">
            <a:off x="4911084" y="5356479"/>
            <a:ext cx="0" cy="609904"/>
          </a:xfrm>
          <a:prstGeom prst="straightConnector1">
            <a:avLst/>
          </a:prstGeom>
          <a:ln w="57150">
            <a:solidFill>
              <a:srgbClr val="234CF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488E40-C52D-4674-B574-037682F1D4CA}"/>
              </a:ext>
            </a:extLst>
          </p:cNvPr>
          <p:cNvSpPr txBox="1"/>
          <p:nvPr/>
        </p:nvSpPr>
        <p:spPr>
          <a:xfrm>
            <a:off x="4336049" y="5937917"/>
            <a:ext cx="1150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endParaRPr lang="en-US" sz="1800" dirty="0">
              <a:solidFill>
                <a:srgbClr val="234CF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106690-3D29-4FEA-A3F8-9F03DCF8ED78}"/>
              </a:ext>
            </a:extLst>
          </p:cNvPr>
          <p:cNvSpPr txBox="1"/>
          <p:nvPr/>
        </p:nvSpPr>
        <p:spPr>
          <a:xfrm>
            <a:off x="6766207" y="5937917"/>
            <a:ext cx="1963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A55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data</a:t>
            </a:r>
            <a:endParaRPr lang="en-US" sz="1800" dirty="0">
              <a:solidFill>
                <a:srgbClr val="FA5522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B758C8-DA14-4DFD-9375-46E8E5127402}"/>
              </a:ext>
            </a:extLst>
          </p:cNvPr>
          <p:cNvCxnSpPr>
            <a:cxnSpLocks/>
          </p:cNvCxnSpPr>
          <p:nvPr/>
        </p:nvCxnSpPr>
        <p:spPr>
          <a:xfrm flipV="1">
            <a:off x="7656128" y="5347054"/>
            <a:ext cx="0" cy="619329"/>
          </a:xfrm>
          <a:prstGeom prst="straightConnector1">
            <a:avLst/>
          </a:prstGeom>
          <a:ln w="57150">
            <a:solidFill>
              <a:srgbClr val="FA5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5881F3-4785-430F-AE36-54745E976C7A}"/>
              </a:ext>
            </a:extLst>
          </p:cNvPr>
          <p:cNvSpPr txBox="1"/>
          <p:nvPr/>
        </p:nvSpPr>
        <p:spPr>
          <a:xfrm>
            <a:off x="5860772" y="4881085"/>
            <a:ext cx="94897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Compression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52E3B2-DF5A-445F-B99D-7DB2ADA3C8BA}"/>
              </a:ext>
            </a:extLst>
          </p:cNvPr>
          <p:cNvSpPr txBox="1"/>
          <p:nvPr/>
        </p:nvSpPr>
        <p:spPr>
          <a:xfrm>
            <a:off x="4117237" y="6389967"/>
            <a:ext cx="453104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(E)</a:t>
            </a:r>
            <a:r>
              <a:rPr lang="en-US" sz="1800" dirty="0">
                <a:solidFill>
                  <a:srgbClr val="FA55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Reconstructed data - </a:t>
            </a:r>
            <a:r>
              <a:rPr lang="en-US" sz="1800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endParaRPr lang="en-US" sz="1800" dirty="0">
              <a:solidFill>
                <a:srgbClr val="FA552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E8090C-4D21-4C36-89FB-CABA5B5FCA7C}"/>
              </a:ext>
            </a:extLst>
          </p:cNvPr>
          <p:cNvSpPr txBox="1"/>
          <p:nvPr/>
        </p:nvSpPr>
        <p:spPr>
          <a:xfrm>
            <a:off x="304975" y="4239612"/>
            <a:ext cx="4079923" cy="1128355"/>
          </a:xfrm>
          <a:prstGeom prst="roundRect">
            <a:avLst>
              <a:gd name="adj" fmla="val 46111"/>
            </a:avLst>
          </a:prstGeom>
          <a:noFill/>
          <a:ln w="3810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≡ building model that learns an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dimensional representation of the data</a:t>
            </a:r>
            <a:endParaRPr lang="en-US" sz="1800" dirty="0">
              <a:solidFill>
                <a:srgbClr val="FA5522"/>
              </a:solidFill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B3FE3D9A-52BA-4D20-BA6A-CC358BABE517}"/>
              </a:ext>
            </a:extLst>
          </p:cNvPr>
          <p:cNvSpPr/>
          <p:nvPr/>
        </p:nvSpPr>
        <p:spPr>
          <a:xfrm rot="2288709">
            <a:off x="2729821" y="5691266"/>
            <a:ext cx="1482013" cy="262549"/>
          </a:xfrm>
          <a:prstGeom prst="rightArrow">
            <a:avLst/>
          </a:prstGeom>
          <a:solidFill>
            <a:srgbClr val="FA552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790DA1-1206-441D-BFA1-BAB85A5B7478}"/>
              </a:ext>
            </a:extLst>
          </p:cNvPr>
          <p:cNvGrpSpPr/>
          <p:nvPr/>
        </p:nvGrpSpPr>
        <p:grpSpPr>
          <a:xfrm>
            <a:off x="6199877" y="3824766"/>
            <a:ext cx="182880" cy="773779"/>
            <a:chOff x="6199877" y="3824766"/>
            <a:chExt cx="182880" cy="773779"/>
          </a:xfrm>
          <a:solidFill>
            <a:srgbClr val="FFFF00"/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59B294A-EF0B-4FFF-9005-6CC8A42A75D2}"/>
                </a:ext>
              </a:extLst>
            </p:cNvPr>
            <p:cNvSpPr/>
            <p:nvPr/>
          </p:nvSpPr>
          <p:spPr>
            <a:xfrm>
              <a:off x="6199877" y="3824766"/>
              <a:ext cx="182880" cy="182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E6C70-5E3E-497B-9B6B-2DA7EE04CCD5}"/>
                </a:ext>
              </a:extLst>
            </p:cNvPr>
            <p:cNvSpPr/>
            <p:nvPr/>
          </p:nvSpPr>
          <p:spPr>
            <a:xfrm>
              <a:off x="6199877" y="4120233"/>
              <a:ext cx="182880" cy="182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3DF6662-9C9D-4AA0-9D9C-A8229306CAF6}"/>
                </a:ext>
              </a:extLst>
            </p:cNvPr>
            <p:cNvSpPr/>
            <p:nvPr/>
          </p:nvSpPr>
          <p:spPr>
            <a:xfrm>
              <a:off x="6199877" y="4415665"/>
              <a:ext cx="182880" cy="1828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ECA7194-A4B6-427F-9EAF-BBE8A46BFC59}"/>
              </a:ext>
            </a:extLst>
          </p:cNvPr>
          <p:cNvSpPr/>
          <p:nvPr/>
        </p:nvSpPr>
        <p:spPr>
          <a:xfrm>
            <a:off x="5759637" y="5341649"/>
            <a:ext cx="12462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Space</a:t>
            </a:r>
          </a:p>
        </p:txBody>
      </p:sp>
    </p:spTree>
    <p:extLst>
      <p:ext uri="{BB962C8B-B14F-4D97-AF65-F5344CB8AC3E}">
        <p14:creationId xmlns:p14="http://schemas.microsoft.com/office/powerpoint/2010/main" val="109248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8" grpId="0"/>
      <p:bldP spid="33" grpId="0" animBg="1"/>
      <p:bldP spid="34" grpId="0"/>
      <p:bldP spid="35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 (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 algn="just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types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used to learn data encodings and thus provide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specific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to capture the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parts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input data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hand-crafted features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Slide Number Placeholder 16">
            <a:extLst>
              <a:ext uri="{FF2B5EF4-FFF2-40B4-BE49-F238E27FC236}">
                <a16:creationId xmlns:a16="http://schemas.microsoft.com/office/drawing/2014/main" id="{2082B10F-3F9C-4BFF-8F9A-861E47ED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D28FBB-5DD4-4F9F-8A79-2D2B2F1A0B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44" t="29231" r="46858" b="36410"/>
          <a:stretch/>
        </p:blipFill>
        <p:spPr>
          <a:xfrm>
            <a:off x="4738621" y="3000140"/>
            <a:ext cx="3212124" cy="235633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390F071-069C-4895-96F3-1099C14774C6}"/>
              </a:ext>
            </a:extLst>
          </p:cNvPr>
          <p:cNvGrpSpPr/>
          <p:nvPr/>
        </p:nvGrpSpPr>
        <p:grpSpPr>
          <a:xfrm>
            <a:off x="5005477" y="3174795"/>
            <a:ext cx="1377280" cy="2067387"/>
            <a:chOff x="5005477" y="3174795"/>
            <a:chExt cx="1377280" cy="206738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2565F4-86BA-48C3-8081-6FE4128AABE5}"/>
                </a:ext>
              </a:extLst>
            </p:cNvPr>
            <p:cNvGrpSpPr/>
            <p:nvPr/>
          </p:nvGrpSpPr>
          <p:grpSpPr>
            <a:xfrm>
              <a:off x="6199877" y="3824766"/>
              <a:ext cx="182880" cy="773779"/>
              <a:chOff x="6199877" y="3824766"/>
              <a:chExt cx="182880" cy="773779"/>
            </a:xfrm>
            <a:solidFill>
              <a:srgbClr val="FFFF00"/>
            </a:solidFill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EA0E0E-BC0A-4BF1-BB24-F579D25D4F41}"/>
                  </a:ext>
                </a:extLst>
              </p:cNvPr>
              <p:cNvSpPr/>
              <p:nvPr/>
            </p:nvSpPr>
            <p:spPr>
              <a:xfrm>
                <a:off x="6199877" y="3824766"/>
                <a:ext cx="182880" cy="1828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71EC8CA-A608-423A-879A-4E7BB1E30262}"/>
                  </a:ext>
                </a:extLst>
              </p:cNvPr>
              <p:cNvSpPr/>
              <p:nvPr/>
            </p:nvSpPr>
            <p:spPr>
              <a:xfrm>
                <a:off x="6199877" y="4120233"/>
                <a:ext cx="182880" cy="1828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94F01D-39C8-40F3-A843-7DFA468CCE9B}"/>
                  </a:ext>
                </a:extLst>
              </p:cNvPr>
              <p:cNvSpPr/>
              <p:nvPr/>
            </p:nvSpPr>
            <p:spPr>
              <a:xfrm>
                <a:off x="6199877" y="4415665"/>
                <a:ext cx="182880" cy="1828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07B7CBD6-706F-4B17-87D9-B5CB496F9CCD}"/>
                </a:ext>
              </a:extLst>
            </p:cNvPr>
            <p:cNvSpPr/>
            <p:nvPr/>
          </p:nvSpPr>
          <p:spPr>
            <a:xfrm rot="16200000" flipH="1">
              <a:off x="4560502" y="3619770"/>
              <a:ext cx="2067387" cy="117743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167"/>
                <a:gd name="connsiteX1" fmla="*/ 10000 w 10000"/>
                <a:gd name="connsiteY1" fmla="*/ 0 h 10167"/>
                <a:gd name="connsiteX2" fmla="*/ 8000 w 10000"/>
                <a:gd name="connsiteY2" fmla="*/ 10000 h 10167"/>
                <a:gd name="connsiteX3" fmla="*/ 3043 w 10000"/>
                <a:gd name="connsiteY3" fmla="*/ 10167 h 10167"/>
                <a:gd name="connsiteX4" fmla="*/ 0 w 10000"/>
                <a:gd name="connsiteY4" fmla="*/ 0 h 10167"/>
                <a:gd name="connsiteX0" fmla="*/ 0 w 10293"/>
                <a:gd name="connsiteY0" fmla="*/ 0 h 10251"/>
                <a:gd name="connsiteX1" fmla="*/ 10293 w 10293"/>
                <a:gd name="connsiteY1" fmla="*/ 84 h 10251"/>
                <a:gd name="connsiteX2" fmla="*/ 8293 w 10293"/>
                <a:gd name="connsiteY2" fmla="*/ 10084 h 10251"/>
                <a:gd name="connsiteX3" fmla="*/ 3336 w 10293"/>
                <a:gd name="connsiteY3" fmla="*/ 10251 h 10251"/>
                <a:gd name="connsiteX4" fmla="*/ 0 w 10293"/>
                <a:gd name="connsiteY4" fmla="*/ 0 h 10251"/>
                <a:gd name="connsiteX0" fmla="*/ 0 w 10293"/>
                <a:gd name="connsiteY0" fmla="*/ 0 h 10251"/>
                <a:gd name="connsiteX1" fmla="*/ 10293 w 10293"/>
                <a:gd name="connsiteY1" fmla="*/ 84 h 10251"/>
                <a:gd name="connsiteX2" fmla="*/ 8293 w 10293"/>
                <a:gd name="connsiteY2" fmla="*/ 10084 h 10251"/>
                <a:gd name="connsiteX3" fmla="*/ 3336 w 10293"/>
                <a:gd name="connsiteY3" fmla="*/ 10251 h 10251"/>
                <a:gd name="connsiteX4" fmla="*/ 0 w 10293"/>
                <a:gd name="connsiteY4" fmla="*/ 0 h 10251"/>
                <a:gd name="connsiteX0" fmla="*/ 0 w 10293"/>
                <a:gd name="connsiteY0" fmla="*/ 0 h 10363"/>
                <a:gd name="connsiteX1" fmla="*/ 10293 w 10293"/>
                <a:gd name="connsiteY1" fmla="*/ 84 h 10363"/>
                <a:gd name="connsiteX2" fmla="*/ 7055 w 10293"/>
                <a:gd name="connsiteY2" fmla="*/ 10363 h 10363"/>
                <a:gd name="connsiteX3" fmla="*/ 3336 w 10293"/>
                <a:gd name="connsiteY3" fmla="*/ 10251 h 10363"/>
                <a:gd name="connsiteX4" fmla="*/ 0 w 10293"/>
                <a:gd name="connsiteY4" fmla="*/ 0 h 10363"/>
                <a:gd name="connsiteX0" fmla="*/ 0 w 10374"/>
                <a:gd name="connsiteY0" fmla="*/ 27 h 10390"/>
                <a:gd name="connsiteX1" fmla="*/ 10374 w 10374"/>
                <a:gd name="connsiteY1" fmla="*/ 0 h 10390"/>
                <a:gd name="connsiteX2" fmla="*/ 7055 w 10374"/>
                <a:gd name="connsiteY2" fmla="*/ 10390 h 10390"/>
                <a:gd name="connsiteX3" fmla="*/ 3336 w 10374"/>
                <a:gd name="connsiteY3" fmla="*/ 10278 h 10390"/>
                <a:gd name="connsiteX4" fmla="*/ 0 w 10374"/>
                <a:gd name="connsiteY4" fmla="*/ 27 h 10390"/>
                <a:gd name="connsiteX0" fmla="*/ 0 w 10374"/>
                <a:gd name="connsiteY0" fmla="*/ 27 h 10390"/>
                <a:gd name="connsiteX1" fmla="*/ 10374 w 10374"/>
                <a:gd name="connsiteY1" fmla="*/ 0 h 10390"/>
                <a:gd name="connsiteX2" fmla="*/ 7055 w 10374"/>
                <a:gd name="connsiteY2" fmla="*/ 10390 h 10390"/>
                <a:gd name="connsiteX3" fmla="*/ 3336 w 10374"/>
                <a:gd name="connsiteY3" fmla="*/ 10278 h 10390"/>
                <a:gd name="connsiteX4" fmla="*/ 0 w 10374"/>
                <a:gd name="connsiteY4" fmla="*/ 27 h 10390"/>
                <a:gd name="connsiteX0" fmla="*/ 0 w 10374"/>
                <a:gd name="connsiteY0" fmla="*/ 27 h 10390"/>
                <a:gd name="connsiteX1" fmla="*/ 10374 w 10374"/>
                <a:gd name="connsiteY1" fmla="*/ 0 h 10390"/>
                <a:gd name="connsiteX2" fmla="*/ 7055 w 10374"/>
                <a:gd name="connsiteY2" fmla="*/ 10390 h 10390"/>
                <a:gd name="connsiteX3" fmla="*/ 3515 w 10374"/>
                <a:gd name="connsiteY3" fmla="*/ 10334 h 10390"/>
                <a:gd name="connsiteX4" fmla="*/ 0 w 10374"/>
                <a:gd name="connsiteY4" fmla="*/ 27 h 10390"/>
                <a:gd name="connsiteX0" fmla="*/ 0 w 10374"/>
                <a:gd name="connsiteY0" fmla="*/ 27 h 10418"/>
                <a:gd name="connsiteX1" fmla="*/ 10374 w 10374"/>
                <a:gd name="connsiteY1" fmla="*/ 0 h 10418"/>
                <a:gd name="connsiteX2" fmla="*/ 6738 w 10374"/>
                <a:gd name="connsiteY2" fmla="*/ 10418 h 10418"/>
                <a:gd name="connsiteX3" fmla="*/ 3515 w 10374"/>
                <a:gd name="connsiteY3" fmla="*/ 10334 h 10418"/>
                <a:gd name="connsiteX4" fmla="*/ 0 w 10374"/>
                <a:gd name="connsiteY4" fmla="*/ 27 h 10418"/>
                <a:gd name="connsiteX0" fmla="*/ 0 w 9727"/>
                <a:gd name="connsiteY0" fmla="*/ 0 h 10391"/>
                <a:gd name="connsiteX1" fmla="*/ 9727 w 9727"/>
                <a:gd name="connsiteY1" fmla="*/ 196 h 10391"/>
                <a:gd name="connsiteX2" fmla="*/ 6738 w 9727"/>
                <a:gd name="connsiteY2" fmla="*/ 10391 h 10391"/>
                <a:gd name="connsiteX3" fmla="*/ 3515 w 9727"/>
                <a:gd name="connsiteY3" fmla="*/ 10307 h 10391"/>
                <a:gd name="connsiteX4" fmla="*/ 0 w 9727"/>
                <a:gd name="connsiteY4" fmla="*/ 0 h 10391"/>
                <a:gd name="connsiteX0" fmla="*/ 0 w 9221"/>
                <a:gd name="connsiteY0" fmla="*/ 0 h 9893"/>
                <a:gd name="connsiteX1" fmla="*/ 9221 w 9221"/>
                <a:gd name="connsiteY1" fmla="*/ 82 h 9893"/>
                <a:gd name="connsiteX2" fmla="*/ 6148 w 9221"/>
                <a:gd name="connsiteY2" fmla="*/ 9893 h 9893"/>
                <a:gd name="connsiteX3" fmla="*/ 2835 w 9221"/>
                <a:gd name="connsiteY3" fmla="*/ 9812 h 9893"/>
                <a:gd name="connsiteX4" fmla="*/ 0 w 9221"/>
                <a:gd name="connsiteY4" fmla="*/ 0 h 9893"/>
                <a:gd name="connsiteX0" fmla="*/ 0 w 10000"/>
                <a:gd name="connsiteY0" fmla="*/ 0 h 10026"/>
                <a:gd name="connsiteX1" fmla="*/ 10000 w 10000"/>
                <a:gd name="connsiteY1" fmla="*/ 83 h 10026"/>
                <a:gd name="connsiteX2" fmla="*/ 6667 w 10000"/>
                <a:gd name="connsiteY2" fmla="*/ 10000 h 10026"/>
                <a:gd name="connsiteX3" fmla="*/ 3643 w 10000"/>
                <a:gd name="connsiteY3" fmla="*/ 10026 h 10026"/>
                <a:gd name="connsiteX4" fmla="*/ 0 w 10000"/>
                <a:gd name="connsiteY4" fmla="*/ 0 h 10026"/>
                <a:gd name="connsiteX0" fmla="*/ 0 w 10000"/>
                <a:gd name="connsiteY0" fmla="*/ 0 h 10026"/>
                <a:gd name="connsiteX1" fmla="*/ 10000 w 10000"/>
                <a:gd name="connsiteY1" fmla="*/ 83 h 10026"/>
                <a:gd name="connsiteX2" fmla="*/ 6498 w 10000"/>
                <a:gd name="connsiteY2" fmla="*/ 9973 h 10026"/>
                <a:gd name="connsiteX3" fmla="*/ 3643 w 10000"/>
                <a:gd name="connsiteY3" fmla="*/ 10026 h 10026"/>
                <a:gd name="connsiteX4" fmla="*/ 0 w 10000"/>
                <a:gd name="connsiteY4" fmla="*/ 0 h 10026"/>
                <a:gd name="connsiteX0" fmla="*/ 0 w 10000"/>
                <a:gd name="connsiteY0" fmla="*/ 0 h 10053"/>
                <a:gd name="connsiteX1" fmla="*/ 10000 w 10000"/>
                <a:gd name="connsiteY1" fmla="*/ 83 h 10053"/>
                <a:gd name="connsiteX2" fmla="*/ 6498 w 10000"/>
                <a:gd name="connsiteY2" fmla="*/ 9973 h 10053"/>
                <a:gd name="connsiteX3" fmla="*/ 3397 w 10000"/>
                <a:gd name="connsiteY3" fmla="*/ 10053 h 10053"/>
                <a:gd name="connsiteX4" fmla="*/ 0 w 10000"/>
                <a:gd name="connsiteY4" fmla="*/ 0 h 10053"/>
                <a:gd name="connsiteX0" fmla="*/ 0 w 10000"/>
                <a:gd name="connsiteY0" fmla="*/ 0 h 10053"/>
                <a:gd name="connsiteX1" fmla="*/ 10000 w 10000"/>
                <a:gd name="connsiteY1" fmla="*/ 83 h 10053"/>
                <a:gd name="connsiteX2" fmla="*/ 6498 w 10000"/>
                <a:gd name="connsiteY2" fmla="*/ 9973 h 10053"/>
                <a:gd name="connsiteX3" fmla="*/ 3397 w 10000"/>
                <a:gd name="connsiteY3" fmla="*/ 10053 h 10053"/>
                <a:gd name="connsiteX4" fmla="*/ 0 w 10000"/>
                <a:gd name="connsiteY4" fmla="*/ 0 h 10053"/>
                <a:gd name="connsiteX0" fmla="*/ 0 w 10000"/>
                <a:gd name="connsiteY0" fmla="*/ 0 h 10053"/>
                <a:gd name="connsiteX1" fmla="*/ 10000 w 10000"/>
                <a:gd name="connsiteY1" fmla="*/ 83 h 10053"/>
                <a:gd name="connsiteX2" fmla="*/ 6498 w 10000"/>
                <a:gd name="connsiteY2" fmla="*/ 9973 h 10053"/>
                <a:gd name="connsiteX3" fmla="*/ 3397 w 10000"/>
                <a:gd name="connsiteY3" fmla="*/ 10053 h 10053"/>
                <a:gd name="connsiteX4" fmla="*/ 0 w 10000"/>
                <a:gd name="connsiteY4" fmla="*/ 0 h 1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53">
                  <a:moveTo>
                    <a:pt x="0" y="0"/>
                  </a:moveTo>
                  <a:lnTo>
                    <a:pt x="10000" y="83"/>
                  </a:lnTo>
                  <a:cubicBezTo>
                    <a:pt x="6513" y="9740"/>
                    <a:pt x="7731" y="6604"/>
                    <a:pt x="6498" y="9973"/>
                  </a:cubicBezTo>
                  <a:lnTo>
                    <a:pt x="3397" y="10053"/>
                  </a:lnTo>
                  <a:cubicBezTo>
                    <a:pt x="98" y="332"/>
                    <a:pt x="3404" y="10047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2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A920E2D-5B04-4B0D-AAA1-8B8F7888EC36}"/>
              </a:ext>
            </a:extLst>
          </p:cNvPr>
          <p:cNvSpPr txBox="1"/>
          <p:nvPr/>
        </p:nvSpPr>
        <p:spPr>
          <a:xfrm>
            <a:off x="5017358" y="3808977"/>
            <a:ext cx="1131721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compression?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6A7AC-7F4B-4BFD-AB0D-196F05874411}"/>
              </a:ext>
            </a:extLst>
          </p:cNvPr>
          <p:cNvSpPr txBox="1"/>
          <p:nvPr/>
        </p:nvSpPr>
        <p:spPr>
          <a:xfrm>
            <a:off x="1061327" y="3278536"/>
            <a:ext cx="34820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FF0000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data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285750" algn="just"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2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i="0" u="sng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random,</a:t>
            </a:r>
          </a:p>
          <a:p>
            <a:pPr marL="571500" indent="-285750" algn="just"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2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a</a:t>
            </a:r>
            <a:r>
              <a:rPr lang="en-US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F51B39-5EC0-4477-9C50-A2E65A5A4BD0}"/>
              </a:ext>
            </a:extLst>
          </p:cNvPr>
          <p:cNvSpPr txBox="1"/>
          <p:nvPr/>
        </p:nvSpPr>
        <p:spPr>
          <a:xfrm>
            <a:off x="182879" y="5433909"/>
            <a:ext cx="118685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encoder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approximate the function needed to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data from its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original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space to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lower-dimensional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space that takes advantages of the structure in the data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2BBA24-01D7-4DF2-9052-3356E6F566D7}"/>
              </a:ext>
            </a:extLst>
          </p:cNvPr>
          <p:cNvGrpSpPr/>
          <p:nvPr/>
        </p:nvGrpSpPr>
        <p:grpSpPr>
          <a:xfrm>
            <a:off x="4812718" y="3097365"/>
            <a:ext cx="182880" cy="2237892"/>
            <a:chOff x="4812718" y="3097365"/>
            <a:chExt cx="182880" cy="223789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7ECDA1F-53DB-47A7-9DCB-FC70E566A6EF}"/>
                </a:ext>
              </a:extLst>
            </p:cNvPr>
            <p:cNvGrpSpPr/>
            <p:nvPr/>
          </p:nvGrpSpPr>
          <p:grpSpPr>
            <a:xfrm>
              <a:off x="4812718" y="3097365"/>
              <a:ext cx="182880" cy="766636"/>
              <a:chOff x="6352277" y="3977166"/>
              <a:chExt cx="182880" cy="766636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DF1F83F-3EEB-4D9C-8170-AE1CB3DD4031}"/>
                  </a:ext>
                </a:extLst>
              </p:cNvPr>
              <p:cNvSpPr/>
              <p:nvPr/>
            </p:nvSpPr>
            <p:spPr>
              <a:xfrm>
                <a:off x="6352277" y="3977166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DBFEAF4-50A0-4D85-B30D-F33A910D2F9B}"/>
                  </a:ext>
                </a:extLst>
              </p:cNvPr>
              <p:cNvSpPr/>
              <p:nvPr/>
            </p:nvSpPr>
            <p:spPr>
              <a:xfrm>
                <a:off x="6352277" y="4267871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48032C2-B529-475D-A5B4-53F9095F68EE}"/>
                  </a:ext>
                </a:extLst>
              </p:cNvPr>
              <p:cNvSpPr/>
              <p:nvPr/>
            </p:nvSpPr>
            <p:spPr>
              <a:xfrm>
                <a:off x="6352277" y="4560922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4EDE8BE-7266-4ED7-976F-A87DDCB9043D}"/>
                </a:ext>
              </a:extLst>
            </p:cNvPr>
            <p:cNvGrpSpPr/>
            <p:nvPr/>
          </p:nvGrpSpPr>
          <p:grpSpPr>
            <a:xfrm>
              <a:off x="4812718" y="3974172"/>
              <a:ext cx="182880" cy="766636"/>
              <a:chOff x="6352277" y="3977166"/>
              <a:chExt cx="182880" cy="766636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E12593D-0630-4494-8906-20BB008B32CD}"/>
                  </a:ext>
                </a:extLst>
              </p:cNvPr>
              <p:cNvSpPr/>
              <p:nvPr/>
            </p:nvSpPr>
            <p:spPr>
              <a:xfrm>
                <a:off x="6352277" y="3977166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E227819-7705-4C47-8C7B-0DA08D2A5442}"/>
                  </a:ext>
                </a:extLst>
              </p:cNvPr>
              <p:cNvSpPr/>
              <p:nvPr/>
            </p:nvSpPr>
            <p:spPr>
              <a:xfrm>
                <a:off x="6352277" y="4267871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F25F047-01FB-4086-9AD1-184D11514146}"/>
                  </a:ext>
                </a:extLst>
              </p:cNvPr>
              <p:cNvSpPr/>
              <p:nvPr/>
            </p:nvSpPr>
            <p:spPr>
              <a:xfrm>
                <a:off x="6352277" y="4560922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C3066BA-340A-4B65-B66F-286109CC5EA0}"/>
                </a:ext>
              </a:extLst>
            </p:cNvPr>
            <p:cNvGrpSpPr/>
            <p:nvPr/>
          </p:nvGrpSpPr>
          <p:grpSpPr>
            <a:xfrm>
              <a:off x="4812718" y="4852148"/>
              <a:ext cx="182880" cy="483109"/>
              <a:chOff x="6352277" y="3967642"/>
              <a:chExt cx="182880" cy="483109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0A59B33-5E5D-45B7-94E6-02F2E9EFCFE7}"/>
                  </a:ext>
                </a:extLst>
              </p:cNvPr>
              <p:cNvSpPr/>
              <p:nvPr/>
            </p:nvSpPr>
            <p:spPr>
              <a:xfrm>
                <a:off x="6352277" y="3967642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0358469-BD11-4931-ABC7-67DA19143E63}"/>
                  </a:ext>
                </a:extLst>
              </p:cNvPr>
              <p:cNvSpPr/>
              <p:nvPr/>
            </p:nvSpPr>
            <p:spPr>
              <a:xfrm>
                <a:off x="6352277" y="4267871"/>
                <a:ext cx="182880" cy="182880"/>
              </a:xfrm>
              <a:prstGeom prst="ellipse">
                <a:avLst/>
              </a:prstGeom>
              <a:solidFill>
                <a:srgbClr val="5CF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D18D99F-A5F2-4417-B9C2-C5F7B21C3AA2}"/>
              </a:ext>
            </a:extLst>
          </p:cNvPr>
          <p:cNvSpPr txBox="1"/>
          <p:nvPr/>
        </p:nvSpPr>
        <p:spPr>
          <a:xfrm>
            <a:off x="8058812" y="3253546"/>
            <a:ext cx="37037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CAN 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its structure (</a:t>
            </a:r>
            <a:r>
              <a:rPr lang="en-US" sz="2200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how it is constrained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>
                <a:srgbClr val="FF0000"/>
              </a:buClr>
              <a:buSzPct val="85000"/>
            </a:pPr>
            <a:r>
              <a:rPr lang="en-US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→ you can </a:t>
            </a:r>
            <a:r>
              <a:rPr lang="en-US" sz="2200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condense</a:t>
            </a:r>
            <a:r>
              <a:rPr lang="en-US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 	      use less parameters to 	      represent it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37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 (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 algn="just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types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used to learn data encodings and thus provide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specific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to capture the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parts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input data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hand-crafted features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capacity is that they learn a </a:t>
            </a:r>
            <a:r>
              <a:rPr lang="en-US" sz="2800" b="1" i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lower-dimensional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representation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 higher-dimensional data</a:t>
            </a:r>
          </a:p>
          <a:p>
            <a:pPr marL="971550" lvl="0" indent="-457200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mainly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compression) algorithms</a:t>
            </a:r>
          </a:p>
          <a:p>
            <a:pPr marL="971550" lvl="0" indent="-457200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training, 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output data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are the same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B8AC03-1BFD-4A11-8FE7-5F9E3E34B045}"/>
              </a:ext>
            </a:extLst>
          </p:cNvPr>
          <p:cNvSpPr/>
          <p:nvPr/>
        </p:nvSpPr>
        <p:spPr>
          <a:xfrm>
            <a:off x="5543550" y="5121778"/>
            <a:ext cx="1771650" cy="1469522"/>
          </a:xfrm>
          <a:prstGeom prst="rect">
            <a:avLst/>
          </a:prstGeom>
          <a:noFill/>
          <a:ln w="38100">
            <a:solidFill>
              <a:srgbClr val="234C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74B8509-B857-40A5-97B7-543A5F1D4F61}"/>
              </a:ext>
            </a:extLst>
          </p:cNvPr>
          <p:cNvSpPr/>
          <p:nvPr/>
        </p:nvSpPr>
        <p:spPr>
          <a:xfrm>
            <a:off x="4419600" y="5683567"/>
            <a:ext cx="1057275" cy="337185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6186F3-4221-4D12-A007-084A77CF6EAB}"/>
              </a:ext>
            </a:extLst>
          </p:cNvPr>
          <p:cNvSpPr/>
          <p:nvPr/>
        </p:nvSpPr>
        <p:spPr>
          <a:xfrm>
            <a:off x="7381875" y="5683567"/>
            <a:ext cx="1057275" cy="320992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0A833-5657-45DD-B612-CC19F9F1D404}"/>
              </a:ext>
            </a:extLst>
          </p:cNvPr>
          <p:cNvSpPr txBox="1"/>
          <p:nvPr/>
        </p:nvSpPr>
        <p:spPr>
          <a:xfrm>
            <a:off x="8306699" y="6350279"/>
            <a:ext cx="1315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Output Data 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EA0B7-C75A-4738-B53A-F554892FB2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4" r="77863" b="23037"/>
          <a:stretch/>
        </p:blipFill>
        <p:spPr>
          <a:xfrm>
            <a:off x="3473058" y="5352096"/>
            <a:ext cx="858436" cy="1000125"/>
          </a:xfrm>
          <a:prstGeom prst="rect">
            <a:avLst/>
          </a:prstGeom>
          <a:ln w="444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FCB776-F66E-4A2E-A08C-C7DB458C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4" r="77863" b="23037"/>
          <a:stretch/>
        </p:blipFill>
        <p:spPr>
          <a:xfrm>
            <a:off x="8535003" y="5304441"/>
            <a:ext cx="858436" cy="1000125"/>
          </a:xfrm>
          <a:prstGeom prst="rect">
            <a:avLst/>
          </a:prstGeom>
          <a:ln w="44450"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B534BD-8561-44A0-8471-500BACDCCCCA}"/>
              </a:ext>
            </a:extLst>
          </p:cNvPr>
          <p:cNvSpPr txBox="1"/>
          <p:nvPr/>
        </p:nvSpPr>
        <p:spPr>
          <a:xfrm>
            <a:off x="3237008" y="6318547"/>
            <a:ext cx="1315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Data </a:t>
            </a:r>
            <a:endParaRPr lang="en-US" sz="1800" dirty="0"/>
          </a:p>
        </p:txBody>
      </p:sp>
      <p:sp>
        <p:nvSpPr>
          <p:cNvPr id="15" name="Slide Number Placeholder 16">
            <a:extLst>
              <a:ext uri="{FF2B5EF4-FFF2-40B4-BE49-F238E27FC236}">
                <a16:creationId xmlns:a16="http://schemas.microsoft.com/office/drawing/2014/main" id="{2082B10F-3F9C-4BFF-8F9A-861E47ED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21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consists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three main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components:</a:t>
            </a:r>
          </a:p>
          <a:p>
            <a:pPr marL="1257300" marR="0" lvl="1" indent="-342900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takes the input and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it into a latent space (or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reduced representation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6"/>
          <a:stretch/>
        </p:blipFill>
        <p:spPr>
          <a:xfrm>
            <a:off x="4408370" y="4223366"/>
            <a:ext cx="4684459" cy="2450812"/>
          </a:xfrm>
          <a:prstGeom prst="rect">
            <a:avLst/>
          </a:prstGeom>
          <a:ln w="4445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345821-C9FC-45B7-BCC6-9ADB684A3FFB}"/>
              </a:ext>
            </a:extLst>
          </p:cNvPr>
          <p:cNvSpPr/>
          <p:nvPr/>
        </p:nvSpPr>
        <p:spPr>
          <a:xfrm>
            <a:off x="4181474" y="4096046"/>
            <a:ext cx="3524251" cy="1304631"/>
          </a:xfrm>
          <a:custGeom>
            <a:avLst/>
            <a:gdLst>
              <a:gd name="connsiteX0" fmla="*/ 0 w 3524251"/>
              <a:gd name="connsiteY0" fmla="*/ 0 h 1031362"/>
              <a:gd name="connsiteX1" fmla="*/ 3524251 w 3524251"/>
              <a:gd name="connsiteY1" fmla="*/ 0 h 1031362"/>
              <a:gd name="connsiteX2" fmla="*/ 3524251 w 3524251"/>
              <a:gd name="connsiteY2" fmla="*/ 1031362 h 1031362"/>
              <a:gd name="connsiteX3" fmla="*/ 0 w 3524251"/>
              <a:gd name="connsiteY3" fmla="*/ 1031362 h 1031362"/>
              <a:gd name="connsiteX4" fmla="*/ 0 w 3524251"/>
              <a:gd name="connsiteY4" fmla="*/ 0 h 1031362"/>
              <a:gd name="connsiteX0" fmla="*/ 0 w 3524251"/>
              <a:gd name="connsiteY0" fmla="*/ 0 h 1031362"/>
              <a:gd name="connsiteX1" fmla="*/ 3524251 w 3524251"/>
              <a:gd name="connsiteY1" fmla="*/ 0 h 1031362"/>
              <a:gd name="connsiteX2" fmla="*/ 3524251 w 3524251"/>
              <a:gd name="connsiteY2" fmla="*/ 1031362 h 1031362"/>
              <a:gd name="connsiteX3" fmla="*/ 1813973 w 3524251"/>
              <a:gd name="connsiteY3" fmla="*/ 1022711 h 1031362"/>
              <a:gd name="connsiteX4" fmla="*/ 0 w 3524251"/>
              <a:gd name="connsiteY4" fmla="*/ 1031362 h 1031362"/>
              <a:gd name="connsiteX5" fmla="*/ 0 w 3524251"/>
              <a:gd name="connsiteY5" fmla="*/ 0 h 1031362"/>
              <a:gd name="connsiteX0" fmla="*/ 0 w 3524251"/>
              <a:gd name="connsiteY0" fmla="*/ 0 h 1032137"/>
              <a:gd name="connsiteX1" fmla="*/ 3524251 w 3524251"/>
              <a:gd name="connsiteY1" fmla="*/ 0 h 1032137"/>
              <a:gd name="connsiteX2" fmla="*/ 3524251 w 3524251"/>
              <a:gd name="connsiteY2" fmla="*/ 1031362 h 1032137"/>
              <a:gd name="connsiteX3" fmla="*/ 1813973 w 3524251"/>
              <a:gd name="connsiteY3" fmla="*/ 1022711 h 1032137"/>
              <a:gd name="connsiteX4" fmla="*/ 890147 w 3524251"/>
              <a:gd name="connsiteY4" fmla="*/ 1032137 h 1032137"/>
              <a:gd name="connsiteX5" fmla="*/ 0 w 3524251"/>
              <a:gd name="connsiteY5" fmla="*/ 1031362 h 1032137"/>
              <a:gd name="connsiteX6" fmla="*/ 0 w 3524251"/>
              <a:gd name="connsiteY6" fmla="*/ 0 h 1032137"/>
              <a:gd name="connsiteX0" fmla="*/ 0 w 3524251"/>
              <a:gd name="connsiteY0" fmla="*/ 0 h 1032137"/>
              <a:gd name="connsiteX1" fmla="*/ 3524251 w 3524251"/>
              <a:gd name="connsiteY1" fmla="*/ 0 h 1032137"/>
              <a:gd name="connsiteX2" fmla="*/ 3524251 w 3524251"/>
              <a:gd name="connsiteY2" fmla="*/ 1031362 h 1032137"/>
              <a:gd name="connsiteX3" fmla="*/ 2681239 w 3524251"/>
              <a:gd name="connsiteY3" fmla="*/ 1022711 h 1032137"/>
              <a:gd name="connsiteX4" fmla="*/ 1813973 w 3524251"/>
              <a:gd name="connsiteY4" fmla="*/ 1022711 h 1032137"/>
              <a:gd name="connsiteX5" fmla="*/ 890147 w 3524251"/>
              <a:gd name="connsiteY5" fmla="*/ 1032137 h 1032137"/>
              <a:gd name="connsiteX6" fmla="*/ 0 w 3524251"/>
              <a:gd name="connsiteY6" fmla="*/ 1031362 h 1032137"/>
              <a:gd name="connsiteX7" fmla="*/ 0 w 3524251"/>
              <a:gd name="connsiteY7" fmla="*/ 0 h 1032137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554239 w 3524251"/>
              <a:gd name="connsiteY3" fmla="*/ 867136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794001 w 3524251"/>
              <a:gd name="connsiteY3" fmla="*/ 907756 h 1137011"/>
              <a:gd name="connsiteX4" fmla="*/ 2554239 w 3524251"/>
              <a:gd name="connsiteY4" fmla="*/ 86713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4239 w 3524251"/>
              <a:gd name="connsiteY4" fmla="*/ 86713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7414 w 3524251"/>
              <a:gd name="connsiteY4" fmla="*/ 902061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7414 w 3524251"/>
              <a:gd name="connsiteY4" fmla="*/ 902061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484389 w 3524251"/>
              <a:gd name="connsiteY4" fmla="*/ 91158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484389 w 3524251"/>
              <a:gd name="connsiteY4" fmla="*/ 911586 h 1137011"/>
              <a:gd name="connsiteX5" fmla="*/ 2384426 w 3524251"/>
              <a:gd name="connsiteY5" fmla="*/ 942681 h 1137011"/>
              <a:gd name="connsiteX6" fmla="*/ 1826673 w 3524251"/>
              <a:gd name="connsiteY6" fmla="*/ 1137011 h 1137011"/>
              <a:gd name="connsiteX7" fmla="*/ 890147 w 3524251"/>
              <a:gd name="connsiteY7" fmla="*/ 1032137 h 1137011"/>
              <a:gd name="connsiteX8" fmla="*/ 0 w 3524251"/>
              <a:gd name="connsiteY8" fmla="*/ 1031362 h 1137011"/>
              <a:gd name="connsiteX9" fmla="*/ 0 w 3524251"/>
              <a:gd name="connsiteY9" fmla="*/ 0 h 1137011"/>
              <a:gd name="connsiteX0" fmla="*/ 0 w 3524251"/>
              <a:gd name="connsiteY0" fmla="*/ 0 h 1137578"/>
              <a:gd name="connsiteX1" fmla="*/ 3524251 w 3524251"/>
              <a:gd name="connsiteY1" fmla="*/ 0 h 1137578"/>
              <a:gd name="connsiteX2" fmla="*/ 3524251 w 3524251"/>
              <a:gd name="connsiteY2" fmla="*/ 1031362 h 1137578"/>
              <a:gd name="connsiteX3" fmla="*/ 2882901 w 3524251"/>
              <a:gd name="connsiteY3" fmla="*/ 1025231 h 1137578"/>
              <a:gd name="connsiteX4" fmla="*/ 2484389 w 3524251"/>
              <a:gd name="connsiteY4" fmla="*/ 911586 h 1137578"/>
              <a:gd name="connsiteX5" fmla="*/ 2384426 w 3524251"/>
              <a:gd name="connsiteY5" fmla="*/ 942681 h 1137578"/>
              <a:gd name="connsiteX6" fmla="*/ 1826673 w 3524251"/>
              <a:gd name="connsiteY6" fmla="*/ 1137011 h 1137578"/>
              <a:gd name="connsiteX7" fmla="*/ 1581151 w 3524251"/>
              <a:gd name="connsiteY7" fmla="*/ 1003006 h 1137578"/>
              <a:gd name="connsiteX8" fmla="*/ 890147 w 3524251"/>
              <a:gd name="connsiteY8" fmla="*/ 1032137 h 1137578"/>
              <a:gd name="connsiteX9" fmla="*/ 0 w 3524251"/>
              <a:gd name="connsiteY9" fmla="*/ 1031362 h 1137578"/>
              <a:gd name="connsiteX10" fmla="*/ 0 w 3524251"/>
              <a:gd name="connsiteY10" fmla="*/ 0 h 1137578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996951 w 3524251"/>
              <a:gd name="connsiteY8" fmla="*/ 1025230 h 1137583"/>
              <a:gd name="connsiteX9" fmla="*/ 890147 w 3524251"/>
              <a:gd name="connsiteY9" fmla="*/ 1032137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996951 w 3524251"/>
              <a:gd name="connsiteY8" fmla="*/ 1025230 h 1137583"/>
              <a:gd name="connsiteX9" fmla="*/ 966347 w 3524251"/>
              <a:gd name="connsiteY9" fmla="*/ 1117862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1282701 w 3524251"/>
              <a:gd name="connsiteY8" fmla="*/ 1012530 h 1137583"/>
              <a:gd name="connsiteX9" fmla="*/ 966347 w 3524251"/>
              <a:gd name="connsiteY9" fmla="*/ 1117862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644"/>
              <a:gd name="connsiteX1" fmla="*/ 3524251 w 3524251"/>
              <a:gd name="connsiteY1" fmla="*/ 0 h 1137644"/>
              <a:gd name="connsiteX2" fmla="*/ 3524251 w 3524251"/>
              <a:gd name="connsiteY2" fmla="*/ 1031362 h 1137644"/>
              <a:gd name="connsiteX3" fmla="*/ 2882901 w 3524251"/>
              <a:gd name="connsiteY3" fmla="*/ 1025231 h 1137644"/>
              <a:gd name="connsiteX4" fmla="*/ 2484389 w 3524251"/>
              <a:gd name="connsiteY4" fmla="*/ 911586 h 1137644"/>
              <a:gd name="connsiteX5" fmla="*/ 2384426 w 3524251"/>
              <a:gd name="connsiteY5" fmla="*/ 942681 h 1137644"/>
              <a:gd name="connsiteX6" fmla="*/ 1826673 w 3524251"/>
              <a:gd name="connsiteY6" fmla="*/ 1137011 h 1137644"/>
              <a:gd name="connsiteX7" fmla="*/ 1574801 w 3524251"/>
              <a:gd name="connsiteY7" fmla="*/ 1015706 h 1137644"/>
              <a:gd name="connsiteX8" fmla="*/ 1282701 w 3524251"/>
              <a:gd name="connsiteY8" fmla="*/ 1012530 h 1137644"/>
              <a:gd name="connsiteX9" fmla="*/ 966347 w 3524251"/>
              <a:gd name="connsiteY9" fmla="*/ 1117862 h 1137644"/>
              <a:gd name="connsiteX10" fmla="*/ 0 w 3524251"/>
              <a:gd name="connsiteY10" fmla="*/ 1031362 h 1137644"/>
              <a:gd name="connsiteX11" fmla="*/ 0 w 3524251"/>
              <a:gd name="connsiteY11" fmla="*/ 0 h 1137644"/>
              <a:gd name="connsiteX0" fmla="*/ 0 w 3524251"/>
              <a:gd name="connsiteY0" fmla="*/ 0 h 1137644"/>
              <a:gd name="connsiteX1" fmla="*/ 3524251 w 3524251"/>
              <a:gd name="connsiteY1" fmla="*/ 0 h 1137644"/>
              <a:gd name="connsiteX2" fmla="*/ 3524251 w 3524251"/>
              <a:gd name="connsiteY2" fmla="*/ 1031362 h 1137644"/>
              <a:gd name="connsiteX3" fmla="*/ 2882901 w 3524251"/>
              <a:gd name="connsiteY3" fmla="*/ 1025231 h 1137644"/>
              <a:gd name="connsiteX4" fmla="*/ 2484389 w 3524251"/>
              <a:gd name="connsiteY4" fmla="*/ 911586 h 1137644"/>
              <a:gd name="connsiteX5" fmla="*/ 2384426 w 3524251"/>
              <a:gd name="connsiteY5" fmla="*/ 942681 h 1137644"/>
              <a:gd name="connsiteX6" fmla="*/ 1826673 w 3524251"/>
              <a:gd name="connsiteY6" fmla="*/ 1137011 h 1137644"/>
              <a:gd name="connsiteX7" fmla="*/ 1574801 w 3524251"/>
              <a:gd name="connsiteY7" fmla="*/ 1015706 h 1137644"/>
              <a:gd name="connsiteX8" fmla="*/ 1282701 w 3524251"/>
              <a:gd name="connsiteY8" fmla="*/ 1012530 h 1137644"/>
              <a:gd name="connsiteX9" fmla="*/ 966347 w 3524251"/>
              <a:gd name="connsiteY9" fmla="*/ 1117862 h 1137644"/>
              <a:gd name="connsiteX10" fmla="*/ 0 w 3524251"/>
              <a:gd name="connsiteY10" fmla="*/ 1031362 h 1137644"/>
              <a:gd name="connsiteX11" fmla="*/ 0 w 3524251"/>
              <a:gd name="connsiteY11" fmla="*/ 0 h 1137644"/>
              <a:gd name="connsiteX0" fmla="*/ 0 w 3524251"/>
              <a:gd name="connsiteY0" fmla="*/ 0 h 1302377"/>
              <a:gd name="connsiteX1" fmla="*/ 3524251 w 3524251"/>
              <a:gd name="connsiteY1" fmla="*/ 0 h 1302377"/>
              <a:gd name="connsiteX2" fmla="*/ 3524251 w 3524251"/>
              <a:gd name="connsiteY2" fmla="*/ 1031362 h 1302377"/>
              <a:gd name="connsiteX3" fmla="*/ 2882901 w 3524251"/>
              <a:gd name="connsiteY3" fmla="*/ 1025231 h 1302377"/>
              <a:gd name="connsiteX4" fmla="*/ 2484389 w 3524251"/>
              <a:gd name="connsiteY4" fmla="*/ 911586 h 1302377"/>
              <a:gd name="connsiteX5" fmla="*/ 2384426 w 3524251"/>
              <a:gd name="connsiteY5" fmla="*/ 942681 h 1302377"/>
              <a:gd name="connsiteX6" fmla="*/ 1785398 w 3524251"/>
              <a:gd name="connsiteY6" fmla="*/ 1302111 h 1302377"/>
              <a:gd name="connsiteX7" fmla="*/ 1574801 w 3524251"/>
              <a:gd name="connsiteY7" fmla="*/ 1015706 h 1302377"/>
              <a:gd name="connsiteX8" fmla="*/ 1282701 w 3524251"/>
              <a:gd name="connsiteY8" fmla="*/ 1012530 h 1302377"/>
              <a:gd name="connsiteX9" fmla="*/ 966347 w 3524251"/>
              <a:gd name="connsiteY9" fmla="*/ 1117862 h 1302377"/>
              <a:gd name="connsiteX10" fmla="*/ 0 w 3524251"/>
              <a:gd name="connsiteY10" fmla="*/ 1031362 h 1302377"/>
              <a:gd name="connsiteX11" fmla="*/ 0 w 3524251"/>
              <a:gd name="connsiteY11" fmla="*/ 0 h 1302377"/>
              <a:gd name="connsiteX0" fmla="*/ 0 w 3524251"/>
              <a:gd name="connsiteY0" fmla="*/ 0 h 1302356"/>
              <a:gd name="connsiteX1" fmla="*/ 3524251 w 3524251"/>
              <a:gd name="connsiteY1" fmla="*/ 0 h 1302356"/>
              <a:gd name="connsiteX2" fmla="*/ 3524251 w 3524251"/>
              <a:gd name="connsiteY2" fmla="*/ 1031362 h 1302356"/>
              <a:gd name="connsiteX3" fmla="*/ 2882901 w 3524251"/>
              <a:gd name="connsiteY3" fmla="*/ 1025231 h 1302356"/>
              <a:gd name="connsiteX4" fmla="*/ 2484389 w 3524251"/>
              <a:gd name="connsiteY4" fmla="*/ 911586 h 1302356"/>
              <a:gd name="connsiteX5" fmla="*/ 2384426 w 3524251"/>
              <a:gd name="connsiteY5" fmla="*/ 942681 h 1302356"/>
              <a:gd name="connsiteX6" fmla="*/ 2181226 w 3524251"/>
              <a:gd name="connsiteY6" fmla="*/ 1063329 h 1302356"/>
              <a:gd name="connsiteX7" fmla="*/ 1785398 w 3524251"/>
              <a:gd name="connsiteY7" fmla="*/ 1302111 h 1302356"/>
              <a:gd name="connsiteX8" fmla="*/ 1574801 w 3524251"/>
              <a:gd name="connsiteY8" fmla="*/ 1015706 h 1302356"/>
              <a:gd name="connsiteX9" fmla="*/ 1282701 w 3524251"/>
              <a:gd name="connsiteY9" fmla="*/ 1012530 h 1302356"/>
              <a:gd name="connsiteX10" fmla="*/ 966347 w 3524251"/>
              <a:gd name="connsiteY10" fmla="*/ 1117862 h 1302356"/>
              <a:gd name="connsiteX11" fmla="*/ 0 w 3524251"/>
              <a:gd name="connsiteY11" fmla="*/ 1031362 h 1302356"/>
              <a:gd name="connsiteX12" fmla="*/ 0 w 3524251"/>
              <a:gd name="connsiteY12" fmla="*/ 0 h 1302356"/>
              <a:gd name="connsiteX0" fmla="*/ 0 w 3524251"/>
              <a:gd name="connsiteY0" fmla="*/ 0 h 1302334"/>
              <a:gd name="connsiteX1" fmla="*/ 3524251 w 3524251"/>
              <a:gd name="connsiteY1" fmla="*/ 0 h 1302334"/>
              <a:gd name="connsiteX2" fmla="*/ 3524251 w 3524251"/>
              <a:gd name="connsiteY2" fmla="*/ 1031362 h 1302334"/>
              <a:gd name="connsiteX3" fmla="*/ 2882901 w 3524251"/>
              <a:gd name="connsiteY3" fmla="*/ 1025231 h 1302334"/>
              <a:gd name="connsiteX4" fmla="*/ 2484389 w 3524251"/>
              <a:gd name="connsiteY4" fmla="*/ 911586 h 1302334"/>
              <a:gd name="connsiteX5" fmla="*/ 2384426 w 3524251"/>
              <a:gd name="connsiteY5" fmla="*/ 942681 h 1302334"/>
              <a:gd name="connsiteX6" fmla="*/ 2143126 w 3524251"/>
              <a:gd name="connsiteY6" fmla="*/ 1044279 h 1302334"/>
              <a:gd name="connsiteX7" fmla="*/ 1785398 w 3524251"/>
              <a:gd name="connsiteY7" fmla="*/ 1302111 h 1302334"/>
              <a:gd name="connsiteX8" fmla="*/ 1574801 w 3524251"/>
              <a:gd name="connsiteY8" fmla="*/ 1015706 h 1302334"/>
              <a:gd name="connsiteX9" fmla="*/ 1282701 w 3524251"/>
              <a:gd name="connsiteY9" fmla="*/ 1012530 h 1302334"/>
              <a:gd name="connsiteX10" fmla="*/ 966347 w 3524251"/>
              <a:gd name="connsiteY10" fmla="*/ 1117862 h 1302334"/>
              <a:gd name="connsiteX11" fmla="*/ 0 w 3524251"/>
              <a:gd name="connsiteY11" fmla="*/ 1031362 h 1302334"/>
              <a:gd name="connsiteX12" fmla="*/ 0 w 3524251"/>
              <a:gd name="connsiteY12" fmla="*/ 0 h 1302334"/>
              <a:gd name="connsiteX0" fmla="*/ 0 w 3524251"/>
              <a:gd name="connsiteY0" fmla="*/ 0 h 1302334"/>
              <a:gd name="connsiteX1" fmla="*/ 3524251 w 3524251"/>
              <a:gd name="connsiteY1" fmla="*/ 0 h 1302334"/>
              <a:gd name="connsiteX2" fmla="*/ 3524251 w 3524251"/>
              <a:gd name="connsiteY2" fmla="*/ 1031362 h 1302334"/>
              <a:gd name="connsiteX3" fmla="*/ 2882901 w 3524251"/>
              <a:gd name="connsiteY3" fmla="*/ 1025231 h 1302334"/>
              <a:gd name="connsiteX4" fmla="*/ 2589164 w 3524251"/>
              <a:gd name="connsiteY4" fmla="*/ 1098911 h 1302334"/>
              <a:gd name="connsiteX5" fmla="*/ 2384426 w 3524251"/>
              <a:gd name="connsiteY5" fmla="*/ 942681 h 1302334"/>
              <a:gd name="connsiteX6" fmla="*/ 2143126 w 3524251"/>
              <a:gd name="connsiteY6" fmla="*/ 1044279 h 1302334"/>
              <a:gd name="connsiteX7" fmla="*/ 1785398 w 3524251"/>
              <a:gd name="connsiteY7" fmla="*/ 1302111 h 1302334"/>
              <a:gd name="connsiteX8" fmla="*/ 1574801 w 3524251"/>
              <a:gd name="connsiteY8" fmla="*/ 1015706 h 1302334"/>
              <a:gd name="connsiteX9" fmla="*/ 1282701 w 3524251"/>
              <a:gd name="connsiteY9" fmla="*/ 1012530 h 1302334"/>
              <a:gd name="connsiteX10" fmla="*/ 966347 w 3524251"/>
              <a:gd name="connsiteY10" fmla="*/ 1117862 h 1302334"/>
              <a:gd name="connsiteX11" fmla="*/ 0 w 3524251"/>
              <a:gd name="connsiteY11" fmla="*/ 1031362 h 1302334"/>
              <a:gd name="connsiteX12" fmla="*/ 0 w 3524251"/>
              <a:gd name="connsiteY12" fmla="*/ 0 h 1302334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89164 w 3524251"/>
              <a:gd name="connsiteY4" fmla="*/ 1098911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74801 w 3524251"/>
              <a:gd name="connsiteY8" fmla="*/ 10157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74801 w 3524251"/>
              <a:gd name="connsiteY8" fmla="*/ 10157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93951 w 3524251"/>
              <a:gd name="connsiteY5" fmla="*/ 9871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62201 w 3524251"/>
              <a:gd name="connsiteY5" fmla="*/ 100300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62201 w 3524251"/>
              <a:gd name="connsiteY5" fmla="*/ 100300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33626 w 3524251"/>
              <a:gd name="connsiteY5" fmla="*/ 9998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59026 w 3524251"/>
              <a:gd name="connsiteY5" fmla="*/ 9998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39951 w 3524251"/>
              <a:gd name="connsiteY6" fmla="*/ 10315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39951 w 3524251"/>
              <a:gd name="connsiteY6" fmla="*/ 10315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46226 w 3524251"/>
              <a:gd name="connsiteY8" fmla="*/ 106015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24251" h="1304631">
                <a:moveTo>
                  <a:pt x="0" y="0"/>
                </a:moveTo>
                <a:lnTo>
                  <a:pt x="3524251" y="0"/>
                </a:lnTo>
                <a:lnTo>
                  <a:pt x="3524251" y="1031362"/>
                </a:lnTo>
                <a:lnTo>
                  <a:pt x="2781301" y="1304631"/>
                </a:lnTo>
                <a:lnTo>
                  <a:pt x="2563764" y="1190986"/>
                </a:lnTo>
                <a:cubicBezTo>
                  <a:pt x="2499735" y="1107378"/>
                  <a:pt x="2522620" y="1143235"/>
                  <a:pt x="2384426" y="1031581"/>
                </a:cubicBezTo>
                <a:cubicBezTo>
                  <a:pt x="2289449" y="1015596"/>
                  <a:pt x="2265189" y="993899"/>
                  <a:pt x="2085976" y="1044279"/>
                </a:cubicBezTo>
                <a:cubicBezTo>
                  <a:pt x="2033763" y="1135934"/>
                  <a:pt x="1886469" y="1310048"/>
                  <a:pt x="1785398" y="1302111"/>
                </a:cubicBezTo>
                <a:cubicBezTo>
                  <a:pt x="1684327" y="1294174"/>
                  <a:pt x="1621013" y="1180386"/>
                  <a:pt x="1546226" y="1060156"/>
                </a:cubicBezTo>
                <a:cubicBezTo>
                  <a:pt x="1430164" y="987551"/>
                  <a:pt x="1455018" y="1001325"/>
                  <a:pt x="1295401" y="1012530"/>
                </a:cubicBezTo>
                <a:cubicBezTo>
                  <a:pt x="1177059" y="1109460"/>
                  <a:pt x="1132506" y="1116840"/>
                  <a:pt x="966347" y="1117862"/>
                </a:cubicBezTo>
                <a:lnTo>
                  <a:pt x="0" y="10313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E476E-B416-443F-97EB-8BF6E91DD3E4}"/>
              </a:ext>
            </a:extLst>
          </p:cNvPr>
          <p:cNvSpPr/>
          <p:nvPr/>
        </p:nvSpPr>
        <p:spPr>
          <a:xfrm>
            <a:off x="3386563" y="4217632"/>
            <a:ext cx="872998" cy="1406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B51209-44E0-44E3-AFAF-A9CD4262A423}"/>
              </a:ext>
            </a:extLst>
          </p:cNvPr>
          <p:cNvSpPr/>
          <p:nvPr/>
        </p:nvSpPr>
        <p:spPr>
          <a:xfrm>
            <a:off x="7963416" y="4302917"/>
            <a:ext cx="1129413" cy="1031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6">
            <a:extLst>
              <a:ext uri="{FF2B5EF4-FFF2-40B4-BE49-F238E27FC236}">
                <a16:creationId xmlns:a16="http://schemas.microsoft.com/office/drawing/2014/main" id="{DCC07EB9-61AC-4A4C-BADB-E5B92EE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E5D8B6-B47D-42EF-B4FF-CF5EE3CF3D38}"/>
              </a:ext>
            </a:extLst>
          </p:cNvPr>
          <p:cNvSpPr/>
          <p:nvPr/>
        </p:nvSpPr>
        <p:spPr>
          <a:xfrm>
            <a:off x="3489530" y="6035040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9168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 (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13388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consists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three main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components:</a:t>
            </a:r>
          </a:p>
          <a:p>
            <a:pPr marL="1257300" marR="0" lvl="1" indent="-342900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takes the input and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it into a latent space (or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reduced representation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</a:p>
          <a:p>
            <a:pPr marL="1257300" lvl="1" indent="-342900"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 (bottleneck)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compact representation (</a:t>
            </a:r>
            <a:r>
              <a:rPr lang="en-US" sz="2200" b="1" i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knowledge-representation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/>
          <a:stretch/>
        </p:blipFill>
        <p:spPr>
          <a:xfrm>
            <a:off x="4369868" y="4223366"/>
            <a:ext cx="4722961" cy="2450812"/>
          </a:xfrm>
          <a:prstGeom prst="rect">
            <a:avLst/>
          </a:prstGeom>
          <a:ln w="44450"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3B51209-44E0-44E3-AFAF-A9CD4262A423}"/>
              </a:ext>
            </a:extLst>
          </p:cNvPr>
          <p:cNvSpPr/>
          <p:nvPr/>
        </p:nvSpPr>
        <p:spPr>
          <a:xfrm>
            <a:off x="7963416" y="4302917"/>
            <a:ext cx="1129413" cy="1031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6">
            <a:extLst>
              <a:ext uri="{FF2B5EF4-FFF2-40B4-BE49-F238E27FC236}">
                <a16:creationId xmlns:a16="http://schemas.microsoft.com/office/drawing/2014/main" id="{DCC07EB9-61AC-4A4C-BADB-E5B92EE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CDE4D3E-B839-4C0B-B16B-AA92DBCCBCAF}"/>
              </a:ext>
            </a:extLst>
          </p:cNvPr>
          <p:cNvSpPr/>
          <p:nvPr/>
        </p:nvSpPr>
        <p:spPr>
          <a:xfrm>
            <a:off x="4181474" y="4096046"/>
            <a:ext cx="3524251" cy="1304631"/>
          </a:xfrm>
          <a:custGeom>
            <a:avLst/>
            <a:gdLst>
              <a:gd name="connsiteX0" fmla="*/ 0 w 3524251"/>
              <a:gd name="connsiteY0" fmla="*/ 0 h 1031362"/>
              <a:gd name="connsiteX1" fmla="*/ 3524251 w 3524251"/>
              <a:gd name="connsiteY1" fmla="*/ 0 h 1031362"/>
              <a:gd name="connsiteX2" fmla="*/ 3524251 w 3524251"/>
              <a:gd name="connsiteY2" fmla="*/ 1031362 h 1031362"/>
              <a:gd name="connsiteX3" fmla="*/ 0 w 3524251"/>
              <a:gd name="connsiteY3" fmla="*/ 1031362 h 1031362"/>
              <a:gd name="connsiteX4" fmla="*/ 0 w 3524251"/>
              <a:gd name="connsiteY4" fmla="*/ 0 h 1031362"/>
              <a:gd name="connsiteX0" fmla="*/ 0 w 3524251"/>
              <a:gd name="connsiteY0" fmla="*/ 0 h 1031362"/>
              <a:gd name="connsiteX1" fmla="*/ 3524251 w 3524251"/>
              <a:gd name="connsiteY1" fmla="*/ 0 h 1031362"/>
              <a:gd name="connsiteX2" fmla="*/ 3524251 w 3524251"/>
              <a:gd name="connsiteY2" fmla="*/ 1031362 h 1031362"/>
              <a:gd name="connsiteX3" fmla="*/ 1813973 w 3524251"/>
              <a:gd name="connsiteY3" fmla="*/ 1022711 h 1031362"/>
              <a:gd name="connsiteX4" fmla="*/ 0 w 3524251"/>
              <a:gd name="connsiteY4" fmla="*/ 1031362 h 1031362"/>
              <a:gd name="connsiteX5" fmla="*/ 0 w 3524251"/>
              <a:gd name="connsiteY5" fmla="*/ 0 h 1031362"/>
              <a:gd name="connsiteX0" fmla="*/ 0 w 3524251"/>
              <a:gd name="connsiteY0" fmla="*/ 0 h 1032137"/>
              <a:gd name="connsiteX1" fmla="*/ 3524251 w 3524251"/>
              <a:gd name="connsiteY1" fmla="*/ 0 h 1032137"/>
              <a:gd name="connsiteX2" fmla="*/ 3524251 w 3524251"/>
              <a:gd name="connsiteY2" fmla="*/ 1031362 h 1032137"/>
              <a:gd name="connsiteX3" fmla="*/ 1813973 w 3524251"/>
              <a:gd name="connsiteY3" fmla="*/ 1022711 h 1032137"/>
              <a:gd name="connsiteX4" fmla="*/ 890147 w 3524251"/>
              <a:gd name="connsiteY4" fmla="*/ 1032137 h 1032137"/>
              <a:gd name="connsiteX5" fmla="*/ 0 w 3524251"/>
              <a:gd name="connsiteY5" fmla="*/ 1031362 h 1032137"/>
              <a:gd name="connsiteX6" fmla="*/ 0 w 3524251"/>
              <a:gd name="connsiteY6" fmla="*/ 0 h 1032137"/>
              <a:gd name="connsiteX0" fmla="*/ 0 w 3524251"/>
              <a:gd name="connsiteY0" fmla="*/ 0 h 1032137"/>
              <a:gd name="connsiteX1" fmla="*/ 3524251 w 3524251"/>
              <a:gd name="connsiteY1" fmla="*/ 0 h 1032137"/>
              <a:gd name="connsiteX2" fmla="*/ 3524251 w 3524251"/>
              <a:gd name="connsiteY2" fmla="*/ 1031362 h 1032137"/>
              <a:gd name="connsiteX3" fmla="*/ 2681239 w 3524251"/>
              <a:gd name="connsiteY3" fmla="*/ 1022711 h 1032137"/>
              <a:gd name="connsiteX4" fmla="*/ 1813973 w 3524251"/>
              <a:gd name="connsiteY4" fmla="*/ 1022711 h 1032137"/>
              <a:gd name="connsiteX5" fmla="*/ 890147 w 3524251"/>
              <a:gd name="connsiteY5" fmla="*/ 1032137 h 1032137"/>
              <a:gd name="connsiteX6" fmla="*/ 0 w 3524251"/>
              <a:gd name="connsiteY6" fmla="*/ 1031362 h 1032137"/>
              <a:gd name="connsiteX7" fmla="*/ 0 w 3524251"/>
              <a:gd name="connsiteY7" fmla="*/ 0 h 1032137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681239 w 3524251"/>
              <a:gd name="connsiteY3" fmla="*/ 1022711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554239 w 3524251"/>
              <a:gd name="connsiteY3" fmla="*/ 867136 h 1137011"/>
              <a:gd name="connsiteX4" fmla="*/ 1826673 w 3524251"/>
              <a:gd name="connsiteY4" fmla="*/ 1137011 h 1137011"/>
              <a:gd name="connsiteX5" fmla="*/ 890147 w 3524251"/>
              <a:gd name="connsiteY5" fmla="*/ 1032137 h 1137011"/>
              <a:gd name="connsiteX6" fmla="*/ 0 w 3524251"/>
              <a:gd name="connsiteY6" fmla="*/ 1031362 h 1137011"/>
              <a:gd name="connsiteX7" fmla="*/ 0 w 3524251"/>
              <a:gd name="connsiteY7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794001 w 3524251"/>
              <a:gd name="connsiteY3" fmla="*/ 907756 h 1137011"/>
              <a:gd name="connsiteX4" fmla="*/ 2554239 w 3524251"/>
              <a:gd name="connsiteY4" fmla="*/ 86713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4239 w 3524251"/>
              <a:gd name="connsiteY4" fmla="*/ 86713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7414 w 3524251"/>
              <a:gd name="connsiteY4" fmla="*/ 902061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557414 w 3524251"/>
              <a:gd name="connsiteY4" fmla="*/ 902061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484389 w 3524251"/>
              <a:gd name="connsiteY4" fmla="*/ 911586 h 1137011"/>
              <a:gd name="connsiteX5" fmla="*/ 1826673 w 3524251"/>
              <a:gd name="connsiteY5" fmla="*/ 1137011 h 1137011"/>
              <a:gd name="connsiteX6" fmla="*/ 890147 w 3524251"/>
              <a:gd name="connsiteY6" fmla="*/ 1032137 h 1137011"/>
              <a:gd name="connsiteX7" fmla="*/ 0 w 3524251"/>
              <a:gd name="connsiteY7" fmla="*/ 1031362 h 1137011"/>
              <a:gd name="connsiteX8" fmla="*/ 0 w 3524251"/>
              <a:gd name="connsiteY8" fmla="*/ 0 h 1137011"/>
              <a:gd name="connsiteX0" fmla="*/ 0 w 3524251"/>
              <a:gd name="connsiteY0" fmla="*/ 0 h 1137011"/>
              <a:gd name="connsiteX1" fmla="*/ 3524251 w 3524251"/>
              <a:gd name="connsiteY1" fmla="*/ 0 h 1137011"/>
              <a:gd name="connsiteX2" fmla="*/ 3524251 w 3524251"/>
              <a:gd name="connsiteY2" fmla="*/ 1031362 h 1137011"/>
              <a:gd name="connsiteX3" fmla="*/ 2882901 w 3524251"/>
              <a:gd name="connsiteY3" fmla="*/ 1025231 h 1137011"/>
              <a:gd name="connsiteX4" fmla="*/ 2484389 w 3524251"/>
              <a:gd name="connsiteY4" fmla="*/ 911586 h 1137011"/>
              <a:gd name="connsiteX5" fmla="*/ 2384426 w 3524251"/>
              <a:gd name="connsiteY5" fmla="*/ 942681 h 1137011"/>
              <a:gd name="connsiteX6" fmla="*/ 1826673 w 3524251"/>
              <a:gd name="connsiteY6" fmla="*/ 1137011 h 1137011"/>
              <a:gd name="connsiteX7" fmla="*/ 890147 w 3524251"/>
              <a:gd name="connsiteY7" fmla="*/ 1032137 h 1137011"/>
              <a:gd name="connsiteX8" fmla="*/ 0 w 3524251"/>
              <a:gd name="connsiteY8" fmla="*/ 1031362 h 1137011"/>
              <a:gd name="connsiteX9" fmla="*/ 0 w 3524251"/>
              <a:gd name="connsiteY9" fmla="*/ 0 h 1137011"/>
              <a:gd name="connsiteX0" fmla="*/ 0 w 3524251"/>
              <a:gd name="connsiteY0" fmla="*/ 0 h 1137578"/>
              <a:gd name="connsiteX1" fmla="*/ 3524251 w 3524251"/>
              <a:gd name="connsiteY1" fmla="*/ 0 h 1137578"/>
              <a:gd name="connsiteX2" fmla="*/ 3524251 w 3524251"/>
              <a:gd name="connsiteY2" fmla="*/ 1031362 h 1137578"/>
              <a:gd name="connsiteX3" fmla="*/ 2882901 w 3524251"/>
              <a:gd name="connsiteY3" fmla="*/ 1025231 h 1137578"/>
              <a:gd name="connsiteX4" fmla="*/ 2484389 w 3524251"/>
              <a:gd name="connsiteY4" fmla="*/ 911586 h 1137578"/>
              <a:gd name="connsiteX5" fmla="*/ 2384426 w 3524251"/>
              <a:gd name="connsiteY5" fmla="*/ 942681 h 1137578"/>
              <a:gd name="connsiteX6" fmla="*/ 1826673 w 3524251"/>
              <a:gd name="connsiteY6" fmla="*/ 1137011 h 1137578"/>
              <a:gd name="connsiteX7" fmla="*/ 1581151 w 3524251"/>
              <a:gd name="connsiteY7" fmla="*/ 1003006 h 1137578"/>
              <a:gd name="connsiteX8" fmla="*/ 890147 w 3524251"/>
              <a:gd name="connsiteY8" fmla="*/ 1032137 h 1137578"/>
              <a:gd name="connsiteX9" fmla="*/ 0 w 3524251"/>
              <a:gd name="connsiteY9" fmla="*/ 1031362 h 1137578"/>
              <a:gd name="connsiteX10" fmla="*/ 0 w 3524251"/>
              <a:gd name="connsiteY10" fmla="*/ 0 h 1137578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996951 w 3524251"/>
              <a:gd name="connsiteY8" fmla="*/ 1025230 h 1137583"/>
              <a:gd name="connsiteX9" fmla="*/ 890147 w 3524251"/>
              <a:gd name="connsiteY9" fmla="*/ 1032137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996951 w 3524251"/>
              <a:gd name="connsiteY8" fmla="*/ 1025230 h 1137583"/>
              <a:gd name="connsiteX9" fmla="*/ 966347 w 3524251"/>
              <a:gd name="connsiteY9" fmla="*/ 1117862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583"/>
              <a:gd name="connsiteX1" fmla="*/ 3524251 w 3524251"/>
              <a:gd name="connsiteY1" fmla="*/ 0 h 1137583"/>
              <a:gd name="connsiteX2" fmla="*/ 3524251 w 3524251"/>
              <a:gd name="connsiteY2" fmla="*/ 1031362 h 1137583"/>
              <a:gd name="connsiteX3" fmla="*/ 2882901 w 3524251"/>
              <a:gd name="connsiteY3" fmla="*/ 1025231 h 1137583"/>
              <a:gd name="connsiteX4" fmla="*/ 2484389 w 3524251"/>
              <a:gd name="connsiteY4" fmla="*/ 911586 h 1137583"/>
              <a:gd name="connsiteX5" fmla="*/ 2384426 w 3524251"/>
              <a:gd name="connsiteY5" fmla="*/ 942681 h 1137583"/>
              <a:gd name="connsiteX6" fmla="*/ 1826673 w 3524251"/>
              <a:gd name="connsiteY6" fmla="*/ 1137011 h 1137583"/>
              <a:gd name="connsiteX7" fmla="*/ 1581151 w 3524251"/>
              <a:gd name="connsiteY7" fmla="*/ 1003006 h 1137583"/>
              <a:gd name="connsiteX8" fmla="*/ 1282701 w 3524251"/>
              <a:gd name="connsiteY8" fmla="*/ 1012530 h 1137583"/>
              <a:gd name="connsiteX9" fmla="*/ 966347 w 3524251"/>
              <a:gd name="connsiteY9" fmla="*/ 1117862 h 1137583"/>
              <a:gd name="connsiteX10" fmla="*/ 0 w 3524251"/>
              <a:gd name="connsiteY10" fmla="*/ 1031362 h 1137583"/>
              <a:gd name="connsiteX11" fmla="*/ 0 w 3524251"/>
              <a:gd name="connsiteY11" fmla="*/ 0 h 1137583"/>
              <a:gd name="connsiteX0" fmla="*/ 0 w 3524251"/>
              <a:gd name="connsiteY0" fmla="*/ 0 h 1137644"/>
              <a:gd name="connsiteX1" fmla="*/ 3524251 w 3524251"/>
              <a:gd name="connsiteY1" fmla="*/ 0 h 1137644"/>
              <a:gd name="connsiteX2" fmla="*/ 3524251 w 3524251"/>
              <a:gd name="connsiteY2" fmla="*/ 1031362 h 1137644"/>
              <a:gd name="connsiteX3" fmla="*/ 2882901 w 3524251"/>
              <a:gd name="connsiteY3" fmla="*/ 1025231 h 1137644"/>
              <a:gd name="connsiteX4" fmla="*/ 2484389 w 3524251"/>
              <a:gd name="connsiteY4" fmla="*/ 911586 h 1137644"/>
              <a:gd name="connsiteX5" fmla="*/ 2384426 w 3524251"/>
              <a:gd name="connsiteY5" fmla="*/ 942681 h 1137644"/>
              <a:gd name="connsiteX6" fmla="*/ 1826673 w 3524251"/>
              <a:gd name="connsiteY6" fmla="*/ 1137011 h 1137644"/>
              <a:gd name="connsiteX7" fmla="*/ 1574801 w 3524251"/>
              <a:gd name="connsiteY7" fmla="*/ 1015706 h 1137644"/>
              <a:gd name="connsiteX8" fmla="*/ 1282701 w 3524251"/>
              <a:gd name="connsiteY8" fmla="*/ 1012530 h 1137644"/>
              <a:gd name="connsiteX9" fmla="*/ 966347 w 3524251"/>
              <a:gd name="connsiteY9" fmla="*/ 1117862 h 1137644"/>
              <a:gd name="connsiteX10" fmla="*/ 0 w 3524251"/>
              <a:gd name="connsiteY10" fmla="*/ 1031362 h 1137644"/>
              <a:gd name="connsiteX11" fmla="*/ 0 w 3524251"/>
              <a:gd name="connsiteY11" fmla="*/ 0 h 1137644"/>
              <a:gd name="connsiteX0" fmla="*/ 0 w 3524251"/>
              <a:gd name="connsiteY0" fmla="*/ 0 h 1137644"/>
              <a:gd name="connsiteX1" fmla="*/ 3524251 w 3524251"/>
              <a:gd name="connsiteY1" fmla="*/ 0 h 1137644"/>
              <a:gd name="connsiteX2" fmla="*/ 3524251 w 3524251"/>
              <a:gd name="connsiteY2" fmla="*/ 1031362 h 1137644"/>
              <a:gd name="connsiteX3" fmla="*/ 2882901 w 3524251"/>
              <a:gd name="connsiteY3" fmla="*/ 1025231 h 1137644"/>
              <a:gd name="connsiteX4" fmla="*/ 2484389 w 3524251"/>
              <a:gd name="connsiteY4" fmla="*/ 911586 h 1137644"/>
              <a:gd name="connsiteX5" fmla="*/ 2384426 w 3524251"/>
              <a:gd name="connsiteY5" fmla="*/ 942681 h 1137644"/>
              <a:gd name="connsiteX6" fmla="*/ 1826673 w 3524251"/>
              <a:gd name="connsiteY6" fmla="*/ 1137011 h 1137644"/>
              <a:gd name="connsiteX7" fmla="*/ 1574801 w 3524251"/>
              <a:gd name="connsiteY7" fmla="*/ 1015706 h 1137644"/>
              <a:gd name="connsiteX8" fmla="*/ 1282701 w 3524251"/>
              <a:gd name="connsiteY8" fmla="*/ 1012530 h 1137644"/>
              <a:gd name="connsiteX9" fmla="*/ 966347 w 3524251"/>
              <a:gd name="connsiteY9" fmla="*/ 1117862 h 1137644"/>
              <a:gd name="connsiteX10" fmla="*/ 0 w 3524251"/>
              <a:gd name="connsiteY10" fmla="*/ 1031362 h 1137644"/>
              <a:gd name="connsiteX11" fmla="*/ 0 w 3524251"/>
              <a:gd name="connsiteY11" fmla="*/ 0 h 1137644"/>
              <a:gd name="connsiteX0" fmla="*/ 0 w 3524251"/>
              <a:gd name="connsiteY0" fmla="*/ 0 h 1302377"/>
              <a:gd name="connsiteX1" fmla="*/ 3524251 w 3524251"/>
              <a:gd name="connsiteY1" fmla="*/ 0 h 1302377"/>
              <a:gd name="connsiteX2" fmla="*/ 3524251 w 3524251"/>
              <a:gd name="connsiteY2" fmla="*/ 1031362 h 1302377"/>
              <a:gd name="connsiteX3" fmla="*/ 2882901 w 3524251"/>
              <a:gd name="connsiteY3" fmla="*/ 1025231 h 1302377"/>
              <a:gd name="connsiteX4" fmla="*/ 2484389 w 3524251"/>
              <a:gd name="connsiteY4" fmla="*/ 911586 h 1302377"/>
              <a:gd name="connsiteX5" fmla="*/ 2384426 w 3524251"/>
              <a:gd name="connsiteY5" fmla="*/ 942681 h 1302377"/>
              <a:gd name="connsiteX6" fmla="*/ 1785398 w 3524251"/>
              <a:gd name="connsiteY6" fmla="*/ 1302111 h 1302377"/>
              <a:gd name="connsiteX7" fmla="*/ 1574801 w 3524251"/>
              <a:gd name="connsiteY7" fmla="*/ 1015706 h 1302377"/>
              <a:gd name="connsiteX8" fmla="*/ 1282701 w 3524251"/>
              <a:gd name="connsiteY8" fmla="*/ 1012530 h 1302377"/>
              <a:gd name="connsiteX9" fmla="*/ 966347 w 3524251"/>
              <a:gd name="connsiteY9" fmla="*/ 1117862 h 1302377"/>
              <a:gd name="connsiteX10" fmla="*/ 0 w 3524251"/>
              <a:gd name="connsiteY10" fmla="*/ 1031362 h 1302377"/>
              <a:gd name="connsiteX11" fmla="*/ 0 w 3524251"/>
              <a:gd name="connsiteY11" fmla="*/ 0 h 1302377"/>
              <a:gd name="connsiteX0" fmla="*/ 0 w 3524251"/>
              <a:gd name="connsiteY0" fmla="*/ 0 h 1302356"/>
              <a:gd name="connsiteX1" fmla="*/ 3524251 w 3524251"/>
              <a:gd name="connsiteY1" fmla="*/ 0 h 1302356"/>
              <a:gd name="connsiteX2" fmla="*/ 3524251 w 3524251"/>
              <a:gd name="connsiteY2" fmla="*/ 1031362 h 1302356"/>
              <a:gd name="connsiteX3" fmla="*/ 2882901 w 3524251"/>
              <a:gd name="connsiteY3" fmla="*/ 1025231 h 1302356"/>
              <a:gd name="connsiteX4" fmla="*/ 2484389 w 3524251"/>
              <a:gd name="connsiteY4" fmla="*/ 911586 h 1302356"/>
              <a:gd name="connsiteX5" fmla="*/ 2384426 w 3524251"/>
              <a:gd name="connsiteY5" fmla="*/ 942681 h 1302356"/>
              <a:gd name="connsiteX6" fmla="*/ 2181226 w 3524251"/>
              <a:gd name="connsiteY6" fmla="*/ 1063329 h 1302356"/>
              <a:gd name="connsiteX7" fmla="*/ 1785398 w 3524251"/>
              <a:gd name="connsiteY7" fmla="*/ 1302111 h 1302356"/>
              <a:gd name="connsiteX8" fmla="*/ 1574801 w 3524251"/>
              <a:gd name="connsiteY8" fmla="*/ 1015706 h 1302356"/>
              <a:gd name="connsiteX9" fmla="*/ 1282701 w 3524251"/>
              <a:gd name="connsiteY9" fmla="*/ 1012530 h 1302356"/>
              <a:gd name="connsiteX10" fmla="*/ 966347 w 3524251"/>
              <a:gd name="connsiteY10" fmla="*/ 1117862 h 1302356"/>
              <a:gd name="connsiteX11" fmla="*/ 0 w 3524251"/>
              <a:gd name="connsiteY11" fmla="*/ 1031362 h 1302356"/>
              <a:gd name="connsiteX12" fmla="*/ 0 w 3524251"/>
              <a:gd name="connsiteY12" fmla="*/ 0 h 1302356"/>
              <a:gd name="connsiteX0" fmla="*/ 0 w 3524251"/>
              <a:gd name="connsiteY0" fmla="*/ 0 h 1302334"/>
              <a:gd name="connsiteX1" fmla="*/ 3524251 w 3524251"/>
              <a:gd name="connsiteY1" fmla="*/ 0 h 1302334"/>
              <a:gd name="connsiteX2" fmla="*/ 3524251 w 3524251"/>
              <a:gd name="connsiteY2" fmla="*/ 1031362 h 1302334"/>
              <a:gd name="connsiteX3" fmla="*/ 2882901 w 3524251"/>
              <a:gd name="connsiteY3" fmla="*/ 1025231 h 1302334"/>
              <a:gd name="connsiteX4" fmla="*/ 2484389 w 3524251"/>
              <a:gd name="connsiteY4" fmla="*/ 911586 h 1302334"/>
              <a:gd name="connsiteX5" fmla="*/ 2384426 w 3524251"/>
              <a:gd name="connsiteY5" fmla="*/ 942681 h 1302334"/>
              <a:gd name="connsiteX6" fmla="*/ 2143126 w 3524251"/>
              <a:gd name="connsiteY6" fmla="*/ 1044279 h 1302334"/>
              <a:gd name="connsiteX7" fmla="*/ 1785398 w 3524251"/>
              <a:gd name="connsiteY7" fmla="*/ 1302111 h 1302334"/>
              <a:gd name="connsiteX8" fmla="*/ 1574801 w 3524251"/>
              <a:gd name="connsiteY8" fmla="*/ 1015706 h 1302334"/>
              <a:gd name="connsiteX9" fmla="*/ 1282701 w 3524251"/>
              <a:gd name="connsiteY9" fmla="*/ 1012530 h 1302334"/>
              <a:gd name="connsiteX10" fmla="*/ 966347 w 3524251"/>
              <a:gd name="connsiteY10" fmla="*/ 1117862 h 1302334"/>
              <a:gd name="connsiteX11" fmla="*/ 0 w 3524251"/>
              <a:gd name="connsiteY11" fmla="*/ 1031362 h 1302334"/>
              <a:gd name="connsiteX12" fmla="*/ 0 w 3524251"/>
              <a:gd name="connsiteY12" fmla="*/ 0 h 1302334"/>
              <a:gd name="connsiteX0" fmla="*/ 0 w 3524251"/>
              <a:gd name="connsiteY0" fmla="*/ 0 h 1302334"/>
              <a:gd name="connsiteX1" fmla="*/ 3524251 w 3524251"/>
              <a:gd name="connsiteY1" fmla="*/ 0 h 1302334"/>
              <a:gd name="connsiteX2" fmla="*/ 3524251 w 3524251"/>
              <a:gd name="connsiteY2" fmla="*/ 1031362 h 1302334"/>
              <a:gd name="connsiteX3" fmla="*/ 2882901 w 3524251"/>
              <a:gd name="connsiteY3" fmla="*/ 1025231 h 1302334"/>
              <a:gd name="connsiteX4" fmla="*/ 2589164 w 3524251"/>
              <a:gd name="connsiteY4" fmla="*/ 1098911 h 1302334"/>
              <a:gd name="connsiteX5" fmla="*/ 2384426 w 3524251"/>
              <a:gd name="connsiteY5" fmla="*/ 942681 h 1302334"/>
              <a:gd name="connsiteX6" fmla="*/ 2143126 w 3524251"/>
              <a:gd name="connsiteY6" fmla="*/ 1044279 h 1302334"/>
              <a:gd name="connsiteX7" fmla="*/ 1785398 w 3524251"/>
              <a:gd name="connsiteY7" fmla="*/ 1302111 h 1302334"/>
              <a:gd name="connsiteX8" fmla="*/ 1574801 w 3524251"/>
              <a:gd name="connsiteY8" fmla="*/ 1015706 h 1302334"/>
              <a:gd name="connsiteX9" fmla="*/ 1282701 w 3524251"/>
              <a:gd name="connsiteY9" fmla="*/ 1012530 h 1302334"/>
              <a:gd name="connsiteX10" fmla="*/ 966347 w 3524251"/>
              <a:gd name="connsiteY10" fmla="*/ 1117862 h 1302334"/>
              <a:gd name="connsiteX11" fmla="*/ 0 w 3524251"/>
              <a:gd name="connsiteY11" fmla="*/ 1031362 h 1302334"/>
              <a:gd name="connsiteX12" fmla="*/ 0 w 3524251"/>
              <a:gd name="connsiteY12" fmla="*/ 0 h 1302334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89164 w 3524251"/>
              <a:gd name="connsiteY4" fmla="*/ 1098911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74801 w 3524251"/>
              <a:gd name="connsiteY8" fmla="*/ 10157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74801 w 3524251"/>
              <a:gd name="connsiteY8" fmla="*/ 10157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81151 w 3524251"/>
              <a:gd name="connsiteY8" fmla="*/ 106015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9426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93951 w 3524251"/>
              <a:gd name="connsiteY5" fmla="*/ 9871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438401 w 3524251"/>
              <a:gd name="connsiteY5" fmla="*/ 99665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62201 w 3524251"/>
              <a:gd name="connsiteY5" fmla="*/ 100300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62201 w 3524251"/>
              <a:gd name="connsiteY5" fmla="*/ 1003006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33626 w 3524251"/>
              <a:gd name="connsiteY5" fmla="*/ 9998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59026 w 3524251"/>
              <a:gd name="connsiteY5" fmla="*/ 99983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827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4312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39951 w 3524251"/>
              <a:gd name="connsiteY6" fmla="*/ 10315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139951 w 3524251"/>
              <a:gd name="connsiteY6" fmla="*/ 10315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46326 w 3524251"/>
              <a:gd name="connsiteY5" fmla="*/ 10061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65276 w 3524251"/>
              <a:gd name="connsiteY8" fmla="*/ 106650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  <a:gd name="connsiteX0" fmla="*/ 0 w 3524251"/>
              <a:gd name="connsiteY0" fmla="*/ 0 h 1304631"/>
              <a:gd name="connsiteX1" fmla="*/ 3524251 w 3524251"/>
              <a:gd name="connsiteY1" fmla="*/ 0 h 1304631"/>
              <a:gd name="connsiteX2" fmla="*/ 3524251 w 3524251"/>
              <a:gd name="connsiteY2" fmla="*/ 1031362 h 1304631"/>
              <a:gd name="connsiteX3" fmla="*/ 2781301 w 3524251"/>
              <a:gd name="connsiteY3" fmla="*/ 1304631 h 1304631"/>
              <a:gd name="connsiteX4" fmla="*/ 2563764 w 3524251"/>
              <a:gd name="connsiteY4" fmla="*/ 1190986 h 1304631"/>
              <a:gd name="connsiteX5" fmla="*/ 2384426 w 3524251"/>
              <a:gd name="connsiteY5" fmla="*/ 1031581 h 1304631"/>
              <a:gd name="connsiteX6" fmla="*/ 2085976 w 3524251"/>
              <a:gd name="connsiteY6" fmla="*/ 1044279 h 1304631"/>
              <a:gd name="connsiteX7" fmla="*/ 1785398 w 3524251"/>
              <a:gd name="connsiteY7" fmla="*/ 1302111 h 1304631"/>
              <a:gd name="connsiteX8" fmla="*/ 1546226 w 3524251"/>
              <a:gd name="connsiteY8" fmla="*/ 1060156 h 1304631"/>
              <a:gd name="connsiteX9" fmla="*/ 1295401 w 3524251"/>
              <a:gd name="connsiteY9" fmla="*/ 1012530 h 1304631"/>
              <a:gd name="connsiteX10" fmla="*/ 966347 w 3524251"/>
              <a:gd name="connsiteY10" fmla="*/ 1117862 h 1304631"/>
              <a:gd name="connsiteX11" fmla="*/ 0 w 3524251"/>
              <a:gd name="connsiteY11" fmla="*/ 1031362 h 1304631"/>
              <a:gd name="connsiteX12" fmla="*/ 0 w 3524251"/>
              <a:gd name="connsiteY12" fmla="*/ 0 h 130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24251" h="1304631">
                <a:moveTo>
                  <a:pt x="0" y="0"/>
                </a:moveTo>
                <a:lnTo>
                  <a:pt x="3524251" y="0"/>
                </a:lnTo>
                <a:lnTo>
                  <a:pt x="3524251" y="1031362"/>
                </a:lnTo>
                <a:lnTo>
                  <a:pt x="2781301" y="1304631"/>
                </a:lnTo>
                <a:lnTo>
                  <a:pt x="2563764" y="1190986"/>
                </a:lnTo>
                <a:cubicBezTo>
                  <a:pt x="2499735" y="1107378"/>
                  <a:pt x="2522620" y="1143235"/>
                  <a:pt x="2384426" y="1031581"/>
                </a:cubicBezTo>
                <a:cubicBezTo>
                  <a:pt x="2289449" y="1015596"/>
                  <a:pt x="2265189" y="993899"/>
                  <a:pt x="2085976" y="1044279"/>
                </a:cubicBezTo>
                <a:cubicBezTo>
                  <a:pt x="2033763" y="1135934"/>
                  <a:pt x="1886469" y="1310048"/>
                  <a:pt x="1785398" y="1302111"/>
                </a:cubicBezTo>
                <a:cubicBezTo>
                  <a:pt x="1684327" y="1294174"/>
                  <a:pt x="1621013" y="1180386"/>
                  <a:pt x="1546226" y="1060156"/>
                </a:cubicBezTo>
                <a:cubicBezTo>
                  <a:pt x="1430164" y="987551"/>
                  <a:pt x="1455018" y="1001325"/>
                  <a:pt x="1295401" y="1012530"/>
                </a:cubicBezTo>
                <a:cubicBezTo>
                  <a:pt x="1177059" y="1109460"/>
                  <a:pt x="1132506" y="1116840"/>
                  <a:pt x="966347" y="1117862"/>
                </a:cubicBezTo>
                <a:lnTo>
                  <a:pt x="0" y="10313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4485C2-6EDC-414B-AAB2-DA63A78FB6DF}"/>
              </a:ext>
            </a:extLst>
          </p:cNvPr>
          <p:cNvSpPr/>
          <p:nvPr/>
        </p:nvSpPr>
        <p:spPr>
          <a:xfrm>
            <a:off x="5216892" y="5034013"/>
            <a:ext cx="1609344" cy="589703"/>
          </a:xfrm>
          <a:prstGeom prst="roundRect">
            <a:avLst>
              <a:gd name="adj" fmla="val 4115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08A1D-D732-4492-BDDA-28A2DC43473F}"/>
              </a:ext>
            </a:extLst>
          </p:cNvPr>
          <p:cNvSpPr/>
          <p:nvPr/>
        </p:nvSpPr>
        <p:spPr>
          <a:xfrm>
            <a:off x="3516516" y="5110371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83428B-7BF4-4501-900D-56CF5805AD97}"/>
              </a:ext>
            </a:extLst>
          </p:cNvPr>
          <p:cNvSpPr/>
          <p:nvPr/>
        </p:nvSpPr>
        <p:spPr>
          <a:xfrm>
            <a:off x="3489530" y="6035040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3907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 (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2600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consists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three main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components:</a:t>
            </a:r>
          </a:p>
          <a:p>
            <a:pPr marL="1257300" marR="0" lvl="1" indent="-342900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takes the input and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it into a latent space (or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reduced representation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1257300" lvl="1" indent="-342900"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 (bottleneck)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compact representation (</a:t>
            </a:r>
            <a:r>
              <a:rPr lang="en-US" sz="2200" b="1" i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knowledge-representation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57300" lvl="1" indent="-342900"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reconstruct the output from the code (</a:t>
            </a:r>
            <a:r>
              <a:rPr lang="en-US" sz="2200" b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representation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It is a similar  	          	        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 of the encoder</a:t>
            </a: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 dimension is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smaller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the input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8"/>
          <a:stretch/>
        </p:blipFill>
        <p:spPr>
          <a:xfrm>
            <a:off x="4427620" y="4223366"/>
            <a:ext cx="4665209" cy="2450812"/>
          </a:xfrm>
          <a:prstGeom prst="rect">
            <a:avLst/>
          </a:prstGeom>
          <a:ln w="44450"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4485C2-6EDC-414B-AAB2-DA63A78FB6DF}"/>
              </a:ext>
            </a:extLst>
          </p:cNvPr>
          <p:cNvSpPr/>
          <p:nvPr/>
        </p:nvSpPr>
        <p:spPr>
          <a:xfrm>
            <a:off x="5216893" y="5034013"/>
            <a:ext cx="1608113" cy="589703"/>
          </a:xfrm>
          <a:prstGeom prst="roundRect">
            <a:avLst>
              <a:gd name="adj" fmla="val 4115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6">
            <a:extLst>
              <a:ext uri="{FF2B5EF4-FFF2-40B4-BE49-F238E27FC236}">
                <a16:creationId xmlns:a16="http://schemas.microsoft.com/office/drawing/2014/main" id="{DCC07EB9-61AC-4A4C-BADB-E5B92EE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C6E0BF-A76D-47ED-8254-6DE7E49961E3}"/>
              </a:ext>
            </a:extLst>
          </p:cNvPr>
          <p:cNvSpPr/>
          <p:nvPr/>
        </p:nvSpPr>
        <p:spPr>
          <a:xfrm>
            <a:off x="3516516" y="5110371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40DB46-71D5-49EE-8BEA-BF64EAA86973}"/>
              </a:ext>
            </a:extLst>
          </p:cNvPr>
          <p:cNvSpPr/>
          <p:nvPr/>
        </p:nvSpPr>
        <p:spPr>
          <a:xfrm>
            <a:off x="3516516" y="4146491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5167B7-B076-4D33-92DA-5BC1A76EBA8F}"/>
              </a:ext>
            </a:extLst>
          </p:cNvPr>
          <p:cNvSpPr/>
          <p:nvPr/>
        </p:nvSpPr>
        <p:spPr>
          <a:xfrm>
            <a:off x="3489530" y="6035040"/>
            <a:ext cx="872998" cy="580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EE35543D-FE83-4BCF-A24F-A69B6E4BD8C7}"/>
              </a:ext>
            </a:extLst>
          </p:cNvPr>
          <p:cNvSpPr/>
          <p:nvPr/>
        </p:nvSpPr>
        <p:spPr>
          <a:xfrm rot="5400000">
            <a:off x="2158823" y="2673213"/>
            <a:ext cx="2017166" cy="3883843"/>
          </a:xfrm>
          <a:prstGeom prst="bentUpArrow">
            <a:avLst>
              <a:gd name="adj1" fmla="val 9359"/>
              <a:gd name="adj2" fmla="val 11034"/>
              <a:gd name="adj3" fmla="val 12590"/>
            </a:avLst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588AC-F83F-4220-986D-1C25F9291BE5}"/>
              </a:ext>
            </a:extLst>
          </p:cNvPr>
          <p:cNvSpPr txBox="1"/>
          <p:nvPr/>
        </p:nvSpPr>
        <p:spPr>
          <a:xfrm>
            <a:off x="7944078" y="3111275"/>
            <a:ext cx="3186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loss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8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 (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3185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consists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three main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components:</a:t>
            </a:r>
          </a:p>
          <a:p>
            <a:pPr marL="1257300" marR="0" lvl="1" indent="-342900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takes the input and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it into a latent space (or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reduced representation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</a:p>
          <a:p>
            <a:pPr marL="1257300" lvl="1" indent="-342900"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 (bottleneck)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compact representation (</a:t>
            </a:r>
            <a:r>
              <a:rPr lang="en-US" sz="2200" b="1" i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knowledge-representation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57300" lvl="1" indent="-342900"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Decoder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reconstruct the output from the code (</a:t>
            </a:r>
            <a:r>
              <a:rPr lang="en-US" sz="2200" b="1" dirty="0">
                <a:solidFill>
                  <a:srgbClr val="234C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representation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It is a similar  	          	        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 of the encoder</a:t>
            </a:r>
          </a:p>
          <a:p>
            <a:pPr marL="461963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 dimension is </a:t>
            </a: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smaller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the input ≡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loss 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information loss</a:t>
            </a:r>
          </a:p>
        </p:txBody>
      </p:sp>
      <p:sp>
        <p:nvSpPr>
          <p:cNvPr id="11" name="Slide Number Placeholder 16">
            <a:extLst>
              <a:ext uri="{FF2B5EF4-FFF2-40B4-BE49-F238E27FC236}">
                <a16:creationId xmlns:a16="http://schemas.microsoft.com/office/drawing/2014/main" id="{DCC07EB9-61AC-4A4C-BADB-E5B92EE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E2AFE-DE68-4B40-AD2D-7147EAB8C3F9}"/>
              </a:ext>
            </a:extLst>
          </p:cNvPr>
          <p:cNvSpPr txBox="1"/>
          <p:nvPr/>
        </p:nvSpPr>
        <p:spPr>
          <a:xfrm>
            <a:off x="932210" y="4303412"/>
            <a:ext cx="3186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useless structure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CFA4E0-7F59-4027-AFB4-AFAC60710C27}"/>
              </a:ext>
            </a:extLst>
          </p:cNvPr>
          <p:cNvSpPr txBox="1"/>
          <p:nvPr/>
        </p:nvSpPr>
        <p:spPr>
          <a:xfrm>
            <a:off x="220717" y="5064305"/>
            <a:ext cx="6193726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Tricks are added such that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bottleneck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prevents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from memorizing the input and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overfitting on the data</a:t>
            </a:r>
            <a:endParaRPr kumimoji="0" lang="en-US" sz="2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FC4618-F0B5-4D2E-B890-D516D15DCB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8"/>
          <a:stretch/>
        </p:blipFill>
        <p:spPr>
          <a:xfrm>
            <a:off x="7601141" y="4161195"/>
            <a:ext cx="4468303" cy="2347369"/>
          </a:xfrm>
          <a:prstGeom prst="rect">
            <a:avLst/>
          </a:prstGeom>
          <a:ln w="44450"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81CE938-0705-4AEF-935A-0A03852FF874}"/>
              </a:ext>
            </a:extLst>
          </p:cNvPr>
          <p:cNvGrpSpPr/>
          <p:nvPr/>
        </p:nvGrpSpPr>
        <p:grpSpPr>
          <a:xfrm>
            <a:off x="6571276" y="3621026"/>
            <a:ext cx="1029865" cy="3157879"/>
            <a:chOff x="6571276" y="3621026"/>
            <a:chExt cx="1029865" cy="315787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548EEF6-541D-4317-8878-2BABED57F4FF}"/>
                </a:ext>
              </a:extLst>
            </p:cNvPr>
            <p:cNvSpPr/>
            <p:nvPr/>
          </p:nvSpPr>
          <p:spPr>
            <a:xfrm>
              <a:off x="6872207" y="6563461"/>
              <a:ext cx="428002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550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Input</a:t>
              </a:r>
            </a:p>
          </p:txBody>
        </p:sp>
        <p:pic>
          <p:nvPicPr>
            <p:cNvPr id="21" name="Picture 20" descr="A person looking at the camera&#10;&#10;Description generated with very high confidence">
              <a:extLst>
                <a:ext uri="{FF2B5EF4-FFF2-40B4-BE49-F238E27FC236}">
                  <a16:creationId xmlns:a16="http://schemas.microsoft.com/office/drawing/2014/main" id="{471C8E82-AB3F-4360-8C42-CC022116F7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7" r="20865" b="4604"/>
            <a:stretch/>
          </p:blipFill>
          <p:spPr>
            <a:xfrm>
              <a:off x="6788484" y="5925710"/>
              <a:ext cx="595448" cy="687675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D42F35-792A-4446-A28D-12BDB3C9D3A3}"/>
                </a:ext>
              </a:extLst>
            </p:cNvPr>
            <p:cNvSpPr/>
            <p:nvPr/>
          </p:nvSpPr>
          <p:spPr>
            <a:xfrm>
              <a:off x="6808087" y="3621026"/>
              <a:ext cx="556243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550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C50903D-8529-48A3-BB13-F60CA4732965}"/>
                    </a:ext>
                  </a:extLst>
                </p:cNvPr>
                <p:cNvSpPr/>
                <p:nvPr/>
              </p:nvSpPr>
              <p:spPr>
                <a:xfrm>
                  <a:off x="6571276" y="4870621"/>
                  <a:ext cx="1029865" cy="692468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550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234CF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234CF9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4CF9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C50903D-8529-48A3-BB13-F60CA47329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1276" y="4870621"/>
                  <a:ext cx="1029865" cy="69246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EEE55676-1172-4D6B-A905-F9573054C013}"/>
                </a:ext>
              </a:extLst>
            </p:cNvPr>
            <p:cNvSpPr/>
            <p:nvPr/>
          </p:nvSpPr>
          <p:spPr>
            <a:xfrm rot="16200000">
              <a:off x="6935332" y="5623944"/>
              <a:ext cx="301752" cy="252940"/>
            </a:xfrm>
            <a:prstGeom prst="rightArrow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 descr="A person looking at the camera&#10;&#10;Description generated with very high confidence">
              <a:extLst>
                <a:ext uri="{FF2B5EF4-FFF2-40B4-BE49-F238E27FC236}">
                  <a16:creationId xmlns:a16="http://schemas.microsoft.com/office/drawing/2014/main" id="{9141AB4D-57E0-471E-80E4-1D1C9B13A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7" r="20865" b="4604"/>
            <a:stretch/>
          </p:blipFill>
          <p:spPr>
            <a:xfrm>
              <a:off x="6788484" y="3830208"/>
              <a:ext cx="595448" cy="687675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8A1C0DD7-65B8-4282-AF07-95C9896FC210}"/>
                </a:ext>
              </a:extLst>
            </p:cNvPr>
            <p:cNvSpPr/>
            <p:nvPr/>
          </p:nvSpPr>
          <p:spPr>
            <a:xfrm rot="16200000">
              <a:off x="6935332" y="4549286"/>
              <a:ext cx="301752" cy="252940"/>
            </a:xfrm>
            <a:prstGeom prst="rightArrow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0A91C14-31F1-4D4B-B7C3-A517784B5491}"/>
              </a:ext>
            </a:extLst>
          </p:cNvPr>
          <p:cNvSpPr/>
          <p:nvPr/>
        </p:nvSpPr>
        <p:spPr>
          <a:xfrm rot="633441">
            <a:off x="3929609" y="4652086"/>
            <a:ext cx="2613319" cy="262549"/>
          </a:xfrm>
          <a:prstGeom prst="rightArrow">
            <a:avLst/>
          </a:prstGeom>
          <a:solidFill>
            <a:srgbClr val="FA552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3EB31C-EE2A-40AA-8E85-00E841AFC3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4" r="77863" b="23037"/>
          <a:stretch/>
        </p:blipFill>
        <p:spPr>
          <a:xfrm>
            <a:off x="6788484" y="5928120"/>
            <a:ext cx="590250" cy="687674"/>
          </a:xfrm>
          <a:prstGeom prst="rect">
            <a:avLst/>
          </a:prstGeom>
          <a:ln w="4445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CEBA1F-44F9-4814-8949-7F7CA44804C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4" r="77863" b="23037"/>
          <a:stretch/>
        </p:blipFill>
        <p:spPr>
          <a:xfrm>
            <a:off x="6770500" y="3815566"/>
            <a:ext cx="590250" cy="687674"/>
          </a:xfrm>
          <a:prstGeom prst="rect">
            <a:avLst/>
          </a:prstGeom>
          <a:ln w="44450">
            <a:noFill/>
          </a:ln>
        </p:spPr>
      </p:pic>
    </p:spTree>
    <p:extLst>
      <p:ext uri="{BB962C8B-B14F-4D97-AF65-F5344CB8AC3E}">
        <p14:creationId xmlns:p14="http://schemas.microsoft.com/office/powerpoint/2010/main" val="34759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utoencoder Diagram. | Download Scientific Diagram">
            <a:extLst>
              <a:ext uri="{FF2B5EF4-FFF2-40B4-BE49-F238E27FC236}">
                <a16:creationId xmlns:a16="http://schemas.microsoft.com/office/drawing/2014/main" id="{219C1A42-A01C-41C4-A76A-F20130A50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83" y="1633955"/>
            <a:ext cx="4968181" cy="288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 (</a:t>
            </a:r>
            <a:r>
              <a:rPr lang="en-US" sz="4500" b="1" dirty="0">
                <a:solidFill>
                  <a:srgbClr val="FBF8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26" name="Picture 2" descr="Auto Encoders For Computer Vision | What are Auto Encoders">
            <a:extLst>
              <a:ext uri="{FF2B5EF4-FFF2-40B4-BE49-F238E27FC236}">
                <a16:creationId xmlns:a16="http://schemas.microsoft.com/office/drawing/2014/main" id="{760A0BFF-3BBC-4406-ADD3-48FA3A29E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861" y="1633955"/>
            <a:ext cx="5165725" cy="27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4EA938-88D6-48F5-B2AB-4B254D5598F2}"/>
              </a:ext>
            </a:extLst>
          </p:cNvPr>
          <p:cNvSpPr txBox="1"/>
          <p:nvPr/>
        </p:nvSpPr>
        <p:spPr>
          <a:xfrm>
            <a:off x="6704861" y="4512317"/>
            <a:ext cx="5165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https://www.analyticsvidhya.com/blog/2021/01/auto-encoders-for-computer-vision-an-endless-world-of-possibilities/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937CB-639F-4DA6-B7B9-681D1B52AEAB}"/>
              </a:ext>
            </a:extLst>
          </p:cNvPr>
          <p:cNvSpPr txBox="1"/>
          <p:nvPr/>
        </p:nvSpPr>
        <p:spPr>
          <a:xfrm>
            <a:off x="220718" y="4718186"/>
            <a:ext cx="54466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7">
              <a:defRPr/>
            </a:pPr>
            <a:r>
              <a:rPr lang="en-US" sz="11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</a:t>
            </a:r>
            <a:r>
              <a:rPr lang="en-US" sz="1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https://www.researchgate.net/publication/342298239_Comparison_between_Statistical_Models_and_Machine_Learning_Methods_on_Classification_for_Highly_Imbalanced_Multiclass_Kidney_Data/figures?lo=1&amp;utm_source=google&amp;utm_medium=organic</a:t>
            </a:r>
            <a:r>
              <a:rPr lang="en-US" sz="1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6CB72B-7A5B-45F4-9A2F-25F86EF54A6D}"/>
              </a:ext>
            </a:extLst>
          </p:cNvPr>
          <p:cNvGrpSpPr/>
          <p:nvPr/>
        </p:nvGrpSpPr>
        <p:grpSpPr>
          <a:xfrm>
            <a:off x="310146" y="1509414"/>
            <a:ext cx="5506455" cy="3026378"/>
            <a:chOff x="4878760" y="3728506"/>
            <a:chExt cx="5506455" cy="302637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D87E9AD-5B1B-4D06-AB1F-AC7B979A4857}"/>
                </a:ext>
              </a:extLst>
            </p:cNvPr>
            <p:cNvGrpSpPr/>
            <p:nvPr/>
          </p:nvGrpSpPr>
          <p:grpSpPr>
            <a:xfrm>
              <a:off x="4878760" y="3728506"/>
              <a:ext cx="5506455" cy="3026378"/>
              <a:chOff x="4878760" y="3728506"/>
              <a:chExt cx="5506455" cy="302637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F68ABF1-3F6C-4DEB-BADC-88DFF059F4F7}"/>
                  </a:ext>
                </a:extLst>
              </p:cNvPr>
              <p:cNvSpPr/>
              <p:nvPr/>
            </p:nvSpPr>
            <p:spPr>
              <a:xfrm>
                <a:off x="4878760" y="6533867"/>
                <a:ext cx="821745" cy="22101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0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1D4AE10-AC15-4AC9-8804-A445CA479B56}"/>
                  </a:ext>
                </a:extLst>
              </p:cNvPr>
              <p:cNvSpPr/>
              <p:nvPr/>
            </p:nvSpPr>
            <p:spPr>
              <a:xfrm>
                <a:off x="9449860" y="6488184"/>
                <a:ext cx="935355" cy="266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0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5E5FF7-9E30-4C3F-8763-0C0F397D06A8}"/>
                  </a:ext>
                </a:extLst>
              </p:cNvPr>
              <p:cNvSpPr/>
              <p:nvPr/>
            </p:nvSpPr>
            <p:spPr>
              <a:xfrm>
                <a:off x="6208401" y="3728506"/>
                <a:ext cx="1021080" cy="2490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0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08948D0-8E6B-49AC-B3B1-88E80301CE5D}"/>
                  </a:ext>
                </a:extLst>
              </p:cNvPr>
              <p:cNvSpPr/>
              <p:nvPr/>
            </p:nvSpPr>
            <p:spPr>
              <a:xfrm>
                <a:off x="7808179" y="3748196"/>
                <a:ext cx="1211995" cy="2490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0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Decoder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4D4B09-3346-49DA-9841-48C68924981B}"/>
                </a:ext>
              </a:extLst>
            </p:cNvPr>
            <p:cNvSpPr/>
            <p:nvPr/>
          </p:nvSpPr>
          <p:spPr>
            <a:xfrm>
              <a:off x="7325917" y="5490031"/>
              <a:ext cx="399148" cy="215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550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E4466-59E0-4F83-AFA8-600F6D8A9661}"/>
              </a:ext>
            </a:extLst>
          </p:cNvPr>
          <p:cNvSpPr/>
          <p:nvPr/>
        </p:nvSpPr>
        <p:spPr>
          <a:xfrm>
            <a:off x="2079951" y="4237403"/>
            <a:ext cx="1913035" cy="114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D7D41DE8-DFCE-4E33-9E04-56D59434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8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AE Architecture: </a:t>
            </a:r>
            <a:r>
              <a:rPr lang="en-US" sz="4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1" y="1005840"/>
            <a:ext cx="11868580" cy="3554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lvl="0" indent="-461963">
              <a:spcAft>
                <a:spcPts val="12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914400" marR="0" lvl="0" indent="-341313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Training process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system learns to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input and reconstruct it back 	                                       	                            to its original form</a:t>
            </a:r>
          </a:p>
          <a:p>
            <a:pPr marL="3657600" lvl="6" indent="-341313">
              <a:spcAft>
                <a:spcPts val="600"/>
              </a:spcAft>
              <a:buClr>
                <a:srgbClr val="0000FF"/>
              </a:buClr>
              <a:buSzPct val="85000"/>
              <a:buFont typeface="Courier New" panose="02070309020205020404" pitchFamily="49" charset="0"/>
              <a:buChar char="o"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objective is to minimize the reconstruction error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marR="0" lvl="0" indent="-341313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Testing process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output may be the reduced code (encoder output or the latent space)</a:t>
            </a:r>
          </a:p>
          <a:p>
            <a:pPr marL="914400" marR="0" lvl="0" indent="-341313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are data-specific (don’t expect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trained on handwritten to compress Monalisa)</a:t>
            </a:r>
          </a:p>
          <a:p>
            <a:pPr marL="914400" marR="0" lvl="0" indent="-341313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are lossy, the output will not be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exactly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same as the input</a:t>
            </a:r>
          </a:p>
          <a:p>
            <a:pPr marL="573087" marR="0" lvl="0" indent="0" algn="l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842892-10EB-4076-A7B8-629D695FA2F7}"/>
              </a:ext>
            </a:extLst>
          </p:cNvPr>
          <p:cNvSpPr txBox="1"/>
          <p:nvPr/>
        </p:nvSpPr>
        <p:spPr>
          <a:xfrm>
            <a:off x="1410954" y="6467957"/>
            <a:ext cx="45150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7"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</a:t>
            </a:r>
            <a:r>
              <a:rPr kumimoji="0" lang="en-US" sz="11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https://helloml.org/applications-of-autoencoders//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437" y="4330217"/>
            <a:ext cx="3877861" cy="2020439"/>
          </a:xfrm>
          <a:prstGeom prst="rect">
            <a:avLst/>
          </a:prstGeom>
          <a:ln w="44450">
            <a:solidFill>
              <a:srgbClr val="C0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05" y="4558556"/>
            <a:ext cx="4515035" cy="1419011"/>
          </a:xfrm>
          <a:prstGeom prst="rect">
            <a:avLst/>
          </a:prstGeom>
          <a:ln w="44450">
            <a:solidFill>
              <a:srgbClr val="C00000"/>
            </a:solidFill>
          </a:ln>
        </p:spPr>
      </p:pic>
      <p:sp>
        <p:nvSpPr>
          <p:cNvPr id="9" name="Slide Number Placeholder 16">
            <a:extLst>
              <a:ext uri="{FF2B5EF4-FFF2-40B4-BE49-F238E27FC236}">
                <a16:creationId xmlns:a16="http://schemas.microsoft.com/office/drawing/2014/main" id="{C97017B2-6F11-446D-93C8-647B6E96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10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ABB83-7B8D-440B-A7FD-65BFAD059BF9}"/>
              </a:ext>
            </a:extLst>
          </p:cNvPr>
          <p:cNvSpPr txBox="1"/>
          <p:nvPr/>
        </p:nvSpPr>
        <p:spPr>
          <a:xfrm>
            <a:off x="6279190" y="6046650"/>
            <a:ext cx="46464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</a:t>
            </a:r>
            <a:r>
              <a:rPr kumimoji="0" lang="en-US" sz="12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https://blog.keras.io/building-autoencoders-in-keras.html</a:t>
            </a:r>
          </a:p>
        </p:txBody>
      </p:sp>
    </p:spTree>
    <p:extLst>
      <p:ext uri="{BB962C8B-B14F-4D97-AF65-F5344CB8AC3E}">
        <p14:creationId xmlns:p14="http://schemas.microsoft.com/office/powerpoint/2010/main" val="51925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Autoencoders: </a:t>
            </a:r>
            <a:r>
              <a:rPr lang="en-US" sz="4500" b="1" dirty="0">
                <a:solidFill>
                  <a:srgbClr val="FBF8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5001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 size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umber of nodes in the middle layer, the smaller the code, the more 					    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compression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dimensionality reduction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 of layers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Can be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4CF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shallow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like</a:t>
            </a:r>
          </a:p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 of nodes per layer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</a:p>
          <a:p>
            <a:pPr marL="914400" marR="0" lvl="0" indent="-457200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stacked autoencoders, the number of nodes per layer decreases with each subsequent layer of the </a:t>
            </a: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encoder and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increases back in the </a:t>
            </a: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decoder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A552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are symmetric architecture)</a:t>
            </a:r>
          </a:p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Loss function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914400" marR="0" lvl="0" indent="-457200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Binary cross entropy 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(if the input values are in the range [0,1]) </a:t>
            </a:r>
          </a:p>
          <a:p>
            <a:pPr marL="914400" marR="0" lvl="0" indent="-457200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Mean squared error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), otherwise</a:t>
            </a:r>
          </a:p>
          <a:p>
            <a:pPr marL="461963" marR="0" lvl="0" indent="-461963" algn="just" defTabSz="550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A552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are trained the same way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via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backpropagation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11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Autoencoders: </a:t>
            </a:r>
            <a:r>
              <a:rPr lang="en-US" sz="4500" b="1" dirty="0">
                <a:solidFill>
                  <a:srgbClr val="FBF8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E03666-A121-4EAD-9864-E75AE359233D}"/>
                  </a:ext>
                </a:extLst>
              </p:cNvPr>
              <p:cNvSpPr txBox="1"/>
              <p:nvPr/>
            </p:nvSpPr>
            <p:spPr>
              <a:xfrm>
                <a:off x="182880" y="1005840"/>
                <a:ext cx="11868580" cy="419140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461963" lvl="0" indent="-461963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Basic autoencoder, often uses a reconstruction loss.</a:t>
                </a:r>
              </a:p>
              <a:p>
                <a:pPr marL="461963" lvl="0" indent="-461963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lang="en-US" dirty="0"/>
                  <a:t>Reconstruction loss measures the difference between the input data and the output of the autoencoder, which is meant to be a reconstruction of the input. 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61963" lvl="0" indent="-461963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lang="en-US" dirty="0"/>
                  <a:t>The choice of reconstruction loss depends on the nature of the input data. For real-valued data, the mean squared error (MSE) loss is often used:</a:t>
                </a:r>
              </a:p>
              <a:p>
                <a:pPr marL="461963" lvl="0" indent="-461963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endParaRPr lang="en-US" dirty="0"/>
              </a:p>
              <a:p>
                <a:pPr lvl="0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defRPr/>
                </a:pPr>
                <a:endParaRPr lang="en-US" dirty="0"/>
              </a:p>
              <a:p>
                <a:pPr marL="461963" lvl="0" indent="-461963" algn="just">
                  <a:spcAft>
                    <a:spcPts val="1800"/>
                  </a:spcAft>
                  <a:buClr>
                    <a:srgbClr val="0000FF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lang="en-US" dirty="0"/>
                  <a:t>Where x</a:t>
                </a:r>
                <a:r>
                  <a:rPr lang="en-US" baseline="-25000" dirty="0"/>
                  <a:t>i</a:t>
                </a:r>
                <a:r>
                  <a:rPr lang="en-US" dirty="0"/>
                  <a:t> represents the input data,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​ represents the output of the autoencoder, and </a:t>
                </a:r>
                <a:r>
                  <a:rPr lang="en-US" i="1" dirty="0"/>
                  <a:t>n</a:t>
                </a:r>
                <a:r>
                  <a:rPr lang="en-US" dirty="0"/>
                  <a:t> is the number of data points.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E03666-A121-4EAD-9864-E75AE3592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005840"/>
                <a:ext cx="11868580" cy="4191404"/>
              </a:xfrm>
              <a:prstGeom prst="rect">
                <a:avLst/>
              </a:prstGeom>
              <a:blipFill>
                <a:blip r:embed="rId2"/>
                <a:stretch>
                  <a:fillRect l="-1233" t="-1163" r="-1387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991EC-B3AC-E5A5-B21E-FB786283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09" y="3405882"/>
            <a:ext cx="3798874" cy="61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0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Autoencoders: </a:t>
            </a:r>
            <a:r>
              <a:rPr lang="en-US" sz="4500" b="1" dirty="0">
                <a:solidFill>
                  <a:srgbClr val="FBF8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</a:t>
            </a: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2693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dirty="0"/>
              <a:t>Binary cross-entropy loss, also known as log loss, is commonly used in binary classification problems. </a:t>
            </a:r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dirty="0"/>
              <a:t>It measures the difference between the actual binary labels and the predicted probabilities of a model. In the context of autoencoders, it is often employed as a reconstruction loss when dealing with binary data, such as binarized images.</a:t>
            </a:r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13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D1C8C-4C31-5D44-14FA-25CDC4764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03" y="2537717"/>
            <a:ext cx="7372736" cy="43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6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22440</TotalTime>
  <Words>1373</Words>
  <Application>Microsoft Office PowerPoint</Application>
  <PresentationFormat>Custom</PresentationFormat>
  <Paragraphs>143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Candara</vt:lpstr>
      <vt:lpstr>Courier New</vt:lpstr>
      <vt:lpstr>Georgia</vt:lpstr>
      <vt:lpstr>Times New Roman</vt:lpstr>
      <vt:lpstr>Wingdings</vt:lpstr>
      <vt:lpstr>Office Theme</vt:lpstr>
      <vt:lpstr>1_Office Theme</vt:lpstr>
      <vt:lpstr>PowerPoint Presentation</vt:lpstr>
      <vt:lpstr>Autoencoders</vt:lpstr>
      <vt:lpstr>Autoencoders (cont’d)</vt:lpstr>
      <vt:lpstr>Autoencoders (cont’d)</vt:lpstr>
      <vt:lpstr>AE Architecture</vt:lpstr>
      <vt:lpstr>AE Architecture (cont’d)</vt:lpstr>
      <vt:lpstr>AE Architecture (cont’d)</vt:lpstr>
      <vt:lpstr>AE Architecture (cont’d)</vt:lpstr>
      <vt:lpstr>AE Architecture (cont’d)</vt:lpstr>
      <vt:lpstr>AE Architecture: Training and Testing</vt:lpstr>
      <vt:lpstr>Autoencoders: Hyperparameters </vt:lpstr>
      <vt:lpstr>Autoencoders: Loss Function </vt:lpstr>
      <vt:lpstr>Autoencoders: Loss Function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Shalaby</dc:creator>
  <cp:lastModifiedBy>Abdeltawab, Hisham</cp:lastModifiedBy>
  <cp:revision>943</cp:revision>
  <dcterms:created xsi:type="dcterms:W3CDTF">2018-12-20T16:44:09Z</dcterms:created>
  <dcterms:modified xsi:type="dcterms:W3CDTF">2024-03-04T14:01:59Z</dcterms:modified>
</cp:coreProperties>
</file>